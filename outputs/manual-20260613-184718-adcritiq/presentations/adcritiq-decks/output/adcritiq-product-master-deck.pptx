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a1a99fd9b4a0b" /><Relationship Type="http://schemas.openxmlformats.org/officeDocument/2006/relationships/extended-properties" Target="/docProps/app.xml" Id="R309f93a1ef854a0f" /><Relationship Type="http://schemas.openxmlformats.org/officeDocument/2006/relationships/officeDocument" Target="/ppt/presentation.xml" Id="R61c209a0909c43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ce11d68524b12"/>
  </p:sldMasterIdLst>
  <p:notesMasterIdLst>
    <p:notesMasterId xmlns:r="http://schemas.openxmlformats.org/officeDocument/2006/relationships" r:id="Reb0a1b7fb7ee4c75"/>
  </p:notesMasterIdLst>
  <p:sldIdLst>
    <p:sldId xmlns:r="http://schemas.openxmlformats.org/officeDocument/2006/relationships" id="256" r:id="Rd636a4cd178f43a3"/>
    <p:sldId xmlns:r="http://schemas.openxmlformats.org/officeDocument/2006/relationships" id="257" r:id="R5555858beece4971"/>
    <p:sldId xmlns:r="http://schemas.openxmlformats.org/officeDocument/2006/relationships" id="258" r:id="R66385b2ee7ec40c2"/>
    <p:sldId xmlns:r="http://schemas.openxmlformats.org/officeDocument/2006/relationships" id="259" r:id="R5d68b6fdb14a4fcc"/>
    <p:sldId xmlns:r="http://schemas.openxmlformats.org/officeDocument/2006/relationships" id="260" r:id="R819d377e929f4fc6"/>
    <p:sldId xmlns:r="http://schemas.openxmlformats.org/officeDocument/2006/relationships" id="261" r:id="R212a30bbcbdd46ed"/>
    <p:sldId xmlns:r="http://schemas.openxmlformats.org/officeDocument/2006/relationships" id="262" r:id="R8971a92222d04ec0"/>
    <p:sldId xmlns:r="http://schemas.openxmlformats.org/officeDocument/2006/relationships" id="263" r:id="Rc1628bb527994a79"/>
    <p:sldId xmlns:r="http://schemas.openxmlformats.org/officeDocument/2006/relationships" id="264" r:id="R9f54923fcf2247f7"/>
    <p:sldId xmlns:r="http://schemas.openxmlformats.org/officeDocument/2006/relationships" id="265" r:id="R00576cb0df5742b2"/>
    <p:sldId xmlns:r="http://schemas.openxmlformats.org/officeDocument/2006/relationships" id="266" r:id="R4446772a5a1a44f0"/>
    <p:sldId xmlns:r="http://schemas.openxmlformats.org/officeDocument/2006/relationships" id="267" r:id="R5fe1b95df3ed4629"/>
    <p:sldId xmlns:r="http://schemas.openxmlformats.org/officeDocument/2006/relationships" id="268" r:id="R82b2db91e71f4bf7"/>
    <p:sldId xmlns:r="http://schemas.openxmlformats.org/officeDocument/2006/relationships" id="269" r:id="R4e8945e647a640d0"/>
    <p:sldId xmlns:r="http://schemas.openxmlformats.org/officeDocument/2006/relationships" id="270" r:id="R11bd0da0d28f42dc"/>
    <p:sldId xmlns:r="http://schemas.openxmlformats.org/officeDocument/2006/relationships" id="271" r:id="R739580868cd94579"/>
    <p:sldId xmlns:r="http://schemas.openxmlformats.org/officeDocument/2006/relationships" id="272" r:id="R25f702096b66435f"/>
    <p:sldId xmlns:r="http://schemas.openxmlformats.org/officeDocument/2006/relationships" id="273" r:id="R271eb2698eb44eed"/>
    <p:sldId xmlns:r="http://schemas.openxmlformats.org/officeDocument/2006/relationships" id="274" r:id="R23dbcda8c33c4424"/>
    <p:sldId xmlns:r="http://schemas.openxmlformats.org/officeDocument/2006/relationships" id="275" r:id="R2722c0433f4a4446"/>
    <p:sldId xmlns:r="http://schemas.openxmlformats.org/officeDocument/2006/relationships" id="276" r:id="Rd87bdb813024490b"/>
    <p:sldId xmlns:r="http://schemas.openxmlformats.org/officeDocument/2006/relationships" id="277" r:id="R132cf71a7bde4951"/>
    <p:sldId xmlns:r="http://schemas.openxmlformats.org/officeDocument/2006/relationships" id="278" r:id="R49ee851ad496420e"/>
    <p:sldId xmlns:r="http://schemas.openxmlformats.org/officeDocument/2006/relationships" id="279" r:id="Rc19bd14c9bb14c83"/>
    <p:sldId xmlns:r="http://schemas.openxmlformats.org/officeDocument/2006/relationships" id="280" r:id="R1e5fd07944b24cb5"/>
    <p:sldId xmlns:r="http://schemas.openxmlformats.org/officeDocument/2006/relationships" id="281" r:id="Rf361ddab793147c3"/>
    <p:sldId xmlns:r="http://schemas.openxmlformats.org/officeDocument/2006/relationships" id="282" r:id="R79bea647f5e24051"/>
    <p:sldId xmlns:r="http://schemas.openxmlformats.org/officeDocument/2006/relationships" id="283" r:id="R903e16c196604026"/>
    <p:sldId xmlns:r="http://schemas.openxmlformats.org/officeDocument/2006/relationships" id="284" r:id="R0757e86c2bfb41cc"/>
    <p:sldId xmlns:r="http://schemas.openxmlformats.org/officeDocument/2006/relationships" id="285" r:id="R7b744844640146dc"/>
    <p:sldId xmlns:r="http://schemas.openxmlformats.org/officeDocument/2006/relationships" id="286" r:id="R981839595a254c9d"/>
    <p:sldId xmlns:r="http://schemas.openxmlformats.org/officeDocument/2006/relationships" id="287" r:id="R9019e3f8c08d4bac"/>
    <p:sldId xmlns:r="http://schemas.openxmlformats.org/officeDocument/2006/relationships" id="288" r:id="R9bc2c01e010543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0479ea75b4523" /><Relationship Type="http://schemas.openxmlformats.org/officeDocument/2006/relationships/slideMaster" Target="/ppt/slideMasters/slideMaster1.xml" Id="Rcd7ce11d68524b12" /><Relationship Type="http://schemas.openxmlformats.org/officeDocument/2006/relationships/notesMaster" Target="/ppt/notesMasters/notesMaster1.xml" Id="Reb0a1b7fb7ee4c75" /><Relationship Type="http://schemas.openxmlformats.org/officeDocument/2006/relationships/presProps" Target="/ppt/presProps.xml" Id="R8a407f96515c478b" /><Relationship Type="http://schemas.openxmlformats.org/officeDocument/2006/relationships/viewProps" Target="/ppt/viewProps.xml" Id="R534a7be7dac44e1a" /><Relationship Type="http://schemas.openxmlformats.org/officeDocument/2006/relationships/tableStyles" Target="/ppt/tableStyles.xml" Id="Rb174b67dde644b83" /><Relationship Type="http://schemas.openxmlformats.org/officeDocument/2006/relationships/slide" Target="/ppt/slides/slide1.xml" Id="Rd636a4cd178f43a3" /><Relationship Type="http://schemas.openxmlformats.org/officeDocument/2006/relationships/slide" Target="/ppt/slides/slide2.xml" Id="R5555858beece4971" /><Relationship Type="http://schemas.openxmlformats.org/officeDocument/2006/relationships/slide" Target="/ppt/slides/slide3.xml" Id="R66385b2ee7ec40c2" /><Relationship Type="http://schemas.openxmlformats.org/officeDocument/2006/relationships/slide" Target="/ppt/slides/slide4.xml" Id="R5d68b6fdb14a4fcc" /><Relationship Type="http://schemas.openxmlformats.org/officeDocument/2006/relationships/slide" Target="/ppt/slides/slide5.xml" Id="R819d377e929f4fc6" /><Relationship Type="http://schemas.openxmlformats.org/officeDocument/2006/relationships/slide" Target="/ppt/slides/slide6.xml" Id="R212a30bbcbdd46ed" /><Relationship Type="http://schemas.openxmlformats.org/officeDocument/2006/relationships/slide" Target="/ppt/slides/slide7.xml" Id="R8971a92222d04ec0" /><Relationship Type="http://schemas.openxmlformats.org/officeDocument/2006/relationships/slide" Target="/ppt/slides/slide8.xml" Id="Rc1628bb527994a79" /><Relationship Type="http://schemas.openxmlformats.org/officeDocument/2006/relationships/slide" Target="/ppt/slides/slide9.xml" Id="R9f54923fcf2247f7" /><Relationship Type="http://schemas.openxmlformats.org/officeDocument/2006/relationships/slide" Target="/ppt/slides/slide10.xml" Id="R00576cb0df5742b2" /><Relationship Type="http://schemas.openxmlformats.org/officeDocument/2006/relationships/slide" Target="/ppt/slides/slide11.xml" Id="R4446772a5a1a44f0" /><Relationship Type="http://schemas.openxmlformats.org/officeDocument/2006/relationships/slide" Target="/ppt/slides/slide12.xml" Id="R5fe1b95df3ed4629" /><Relationship Type="http://schemas.openxmlformats.org/officeDocument/2006/relationships/slide" Target="/ppt/slides/slide13.xml" Id="R82b2db91e71f4bf7" /><Relationship Type="http://schemas.openxmlformats.org/officeDocument/2006/relationships/slide" Target="/ppt/slides/slide14.xml" Id="R4e8945e647a640d0" /><Relationship Type="http://schemas.openxmlformats.org/officeDocument/2006/relationships/slide" Target="/ppt/slides/slide15.xml" Id="R11bd0da0d28f42dc" /><Relationship Type="http://schemas.openxmlformats.org/officeDocument/2006/relationships/slide" Target="/ppt/slides/slide16.xml" Id="R739580868cd94579" /><Relationship Type="http://schemas.openxmlformats.org/officeDocument/2006/relationships/slide" Target="/ppt/slides/slide17.xml" Id="R25f702096b66435f" /><Relationship Type="http://schemas.openxmlformats.org/officeDocument/2006/relationships/slide" Target="/ppt/slides/slide18.xml" Id="R271eb2698eb44eed" /><Relationship Type="http://schemas.openxmlformats.org/officeDocument/2006/relationships/slide" Target="/ppt/slides/slide19.xml" Id="R23dbcda8c33c4424" /><Relationship Type="http://schemas.openxmlformats.org/officeDocument/2006/relationships/slide" Target="/ppt/slides/slide20.xml" Id="R2722c0433f4a4446" /><Relationship Type="http://schemas.openxmlformats.org/officeDocument/2006/relationships/slide" Target="/ppt/slides/slide21.xml" Id="Rd87bdb813024490b" /><Relationship Type="http://schemas.openxmlformats.org/officeDocument/2006/relationships/slide" Target="/ppt/slides/slide22.xml" Id="R132cf71a7bde4951" /><Relationship Type="http://schemas.openxmlformats.org/officeDocument/2006/relationships/slide" Target="/ppt/slides/slide23.xml" Id="R49ee851ad496420e" /><Relationship Type="http://schemas.openxmlformats.org/officeDocument/2006/relationships/slide" Target="/ppt/slides/slide24.xml" Id="Rc19bd14c9bb14c83" /><Relationship Type="http://schemas.openxmlformats.org/officeDocument/2006/relationships/slide" Target="/ppt/slides/slide25.xml" Id="R1e5fd07944b24cb5" /><Relationship Type="http://schemas.openxmlformats.org/officeDocument/2006/relationships/slide" Target="/ppt/slides/slide26.xml" Id="Rf361ddab793147c3" /><Relationship Type="http://schemas.openxmlformats.org/officeDocument/2006/relationships/slide" Target="/ppt/slides/slide27.xml" Id="R79bea647f5e24051" /><Relationship Type="http://schemas.openxmlformats.org/officeDocument/2006/relationships/slide" Target="/ppt/slides/slide28.xml" Id="R903e16c196604026" /><Relationship Type="http://schemas.openxmlformats.org/officeDocument/2006/relationships/slide" Target="/ppt/slides/slide29.xml" Id="R0757e86c2bfb41cc" /><Relationship Type="http://schemas.openxmlformats.org/officeDocument/2006/relationships/slide" Target="/ppt/slides/slide30.xml" Id="R7b744844640146dc" /><Relationship Type="http://schemas.openxmlformats.org/officeDocument/2006/relationships/slide" Target="/ppt/slides/slide31.xml" Id="R981839595a254c9d" /><Relationship Type="http://schemas.openxmlformats.org/officeDocument/2006/relationships/slide" Target="/ppt/slides/slide32.xml" Id="R9019e3f8c08d4bac" /><Relationship Type="http://schemas.openxmlformats.org/officeDocument/2006/relationships/slide" Target="/ppt/slides/slide33.xml" Id="R9bc2c01e0105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57ace2e5c9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75b2aeee484eb2" /><Relationship Type="http://schemas.openxmlformats.org/officeDocument/2006/relationships/notesMaster" Target="/ppt/notesMasters/notesMaster1.xml" Id="R2838e74ea6ce47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2e847287884f98" /><Relationship Type="http://schemas.openxmlformats.org/officeDocument/2006/relationships/notesMaster" Target="/ppt/notesMasters/notesMaster1.xml" Id="R54c3c9fb1855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9d18902ed2485a" /><Relationship Type="http://schemas.openxmlformats.org/officeDocument/2006/relationships/notesMaster" Target="/ppt/notesMasters/notesMaster1.xml" Id="R2a8ca782100e4b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63330414b48c3" /><Relationship Type="http://schemas.openxmlformats.org/officeDocument/2006/relationships/notesMaster" Target="/ppt/notesMasters/notesMaster1.xml" Id="Rd9ef60b69699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3cfc43fb2453d" /><Relationship Type="http://schemas.openxmlformats.org/officeDocument/2006/relationships/notesMaster" Target="/ppt/notesMasters/notesMaster1.xml" Id="R87f32e4c127842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d2eb942db645da" /><Relationship Type="http://schemas.openxmlformats.org/officeDocument/2006/relationships/notesMaster" Target="/ppt/notesMasters/notesMaster1.xml" Id="R005737f3f2df49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2f95448ae8403f" /><Relationship Type="http://schemas.openxmlformats.org/officeDocument/2006/relationships/notesMaster" Target="/ppt/notesMasters/notesMaster1.xml" Id="R73550c6ad7e443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12803db15f4241" /><Relationship Type="http://schemas.openxmlformats.org/officeDocument/2006/relationships/notesMaster" Target="/ppt/notesMasters/notesMaster1.xml" Id="R802f40ff1ecb45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50f3fb37e344e2" /><Relationship Type="http://schemas.openxmlformats.org/officeDocument/2006/relationships/notesMaster" Target="/ppt/notesMasters/notesMaster1.xml" Id="Rff2f15784a2249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3aab1709a74328" /><Relationship Type="http://schemas.openxmlformats.org/officeDocument/2006/relationships/notesMaster" Target="/ppt/notesMasters/notesMaster1.xml" Id="Rb694178086cc41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7b0e6745924f2a" /><Relationship Type="http://schemas.openxmlformats.org/officeDocument/2006/relationships/notesMaster" Target="/ppt/notesMasters/notesMaster1.xml" Id="R6726d6c2d3f448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893d0cc6f24ac4" /><Relationship Type="http://schemas.openxmlformats.org/officeDocument/2006/relationships/notesMaster" Target="/ppt/notesMasters/notesMaster1.xml" Id="R9cd2f626520b4c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fdc6eb579941a6" /><Relationship Type="http://schemas.openxmlformats.org/officeDocument/2006/relationships/notesMaster" Target="/ppt/notesMasters/notesMaster1.xml" Id="R5582a09060264b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774f54d1034209" /><Relationship Type="http://schemas.openxmlformats.org/officeDocument/2006/relationships/notesMaster" Target="/ppt/notesMasters/notesMaster1.xml" Id="R40efb73ee05a4d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7a381101a343c7" /><Relationship Type="http://schemas.openxmlformats.org/officeDocument/2006/relationships/notesMaster" Target="/ppt/notesMasters/notesMaster1.xml" Id="Rd702b40057b04a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f61733f0f643b0" /><Relationship Type="http://schemas.openxmlformats.org/officeDocument/2006/relationships/notesMaster" Target="/ppt/notesMasters/notesMaster1.xml" Id="R99fa7dcd702940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1beab9e5e443d3" /><Relationship Type="http://schemas.openxmlformats.org/officeDocument/2006/relationships/notesMaster" Target="/ppt/notesMasters/notesMaster1.xml" Id="Rf7e4e66ef9a44a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fc05b6cdde40b6" /><Relationship Type="http://schemas.openxmlformats.org/officeDocument/2006/relationships/notesMaster" Target="/ppt/notesMasters/notesMaster1.xml" Id="Rf8a13f1f62fe4d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cd88e65ac846da" /><Relationship Type="http://schemas.openxmlformats.org/officeDocument/2006/relationships/notesMaster" Target="/ppt/notesMasters/notesMaster1.xml" Id="Rac0e0261890b4d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c1bb487e0a49ee" /><Relationship Type="http://schemas.openxmlformats.org/officeDocument/2006/relationships/notesMaster" Target="/ppt/notesMasters/notesMaster1.xml" Id="R9d189cd4cc0d45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ae31f4244343b5" /><Relationship Type="http://schemas.openxmlformats.org/officeDocument/2006/relationships/notesMaster" Target="/ppt/notesMasters/notesMaster1.xml" Id="Rd06325e62cdb47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9bd671e9184ed2" /><Relationship Type="http://schemas.openxmlformats.org/officeDocument/2006/relationships/notesMaster" Target="/ppt/notesMasters/notesMaster1.xml" Id="Rfba47b9923e24c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074b6c7f53458f" /><Relationship Type="http://schemas.openxmlformats.org/officeDocument/2006/relationships/notesMaster" Target="/ppt/notesMasters/notesMaster1.xml" Id="Rc08d582575064ba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aa9b89fc0a471d" /><Relationship Type="http://schemas.openxmlformats.org/officeDocument/2006/relationships/notesMaster" Target="/ppt/notesMasters/notesMaster1.xml" Id="Rcf7b8a27f0b644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158459cb45400b" /><Relationship Type="http://schemas.openxmlformats.org/officeDocument/2006/relationships/notesMaster" Target="/ppt/notesMasters/notesMaster1.xml" Id="R6e198bbc63244f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6bc31bfd65f4ad2" /><Relationship Type="http://schemas.openxmlformats.org/officeDocument/2006/relationships/notesMaster" Target="/ppt/notesMasters/notesMaster1.xml" Id="Rc8a2158705844c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8fbea6ed81e4e25" /><Relationship Type="http://schemas.openxmlformats.org/officeDocument/2006/relationships/notesMaster" Target="/ppt/notesMasters/notesMaster1.xml" Id="Rb1780d188cac42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0db8b4d3d00432e" /><Relationship Type="http://schemas.openxmlformats.org/officeDocument/2006/relationships/notesMaster" Target="/ppt/notesMasters/notesMaster1.xml" Id="Rd3703a644fe44a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8c26b99a174b07" /><Relationship Type="http://schemas.openxmlformats.org/officeDocument/2006/relationships/notesMaster" Target="/ppt/notesMasters/notesMaster1.xml" Id="Rc0481879d644454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9f4ca4fa124880" /><Relationship Type="http://schemas.openxmlformats.org/officeDocument/2006/relationships/notesMaster" Target="/ppt/notesMasters/notesMaster1.xml" Id="R695d22d2a65140c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4aa66b526b748a8" /><Relationship Type="http://schemas.openxmlformats.org/officeDocument/2006/relationships/notesMaster" Target="/ppt/notesMasters/notesMaster1.xml" Id="Rd38cdbcaca0344a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d5d630bee40406c" /><Relationship Type="http://schemas.openxmlformats.org/officeDocument/2006/relationships/notesMaster" Target="/ppt/notesMasters/notesMaster1.xml" Id="R318884ed1628497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02e79643912427e" /><Relationship Type="http://schemas.openxmlformats.org/officeDocument/2006/relationships/notesMaster" Target="/ppt/notesMasters/notesMaster1.xml" Id="Ra85d747413be41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304035465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3eeee7c814bbf" /><Relationship Type="http://schemas.openxmlformats.org/officeDocument/2006/relationships/slideLayout" Target="/ppt/slideLayouts/slideLayout1.xml" Id="Rc964ed5c97e642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4ed5c97e642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fb3d1161648ec" /><Relationship Type="http://schemas.openxmlformats.org/officeDocument/2006/relationships/image" Target="/ppt/media/image.png" Id="R1cb26c83dc864143" /><Relationship Type="http://schemas.openxmlformats.org/officeDocument/2006/relationships/notesSlide" Target="/ppt/notesSlides/notesSlide1.xml" Id="R4d9fccb5d6d0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7e0cb8ddd4c8f" /><Relationship Type="http://schemas.openxmlformats.org/officeDocument/2006/relationships/notesSlide" Target="/ppt/notesSlides/notesSlide2.xml" Id="R516abb24ddcd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e18de6edb4d56" /><Relationship Type="http://schemas.openxmlformats.org/officeDocument/2006/relationships/notesSlide" Target="/ppt/notesSlides/notesSlide3.xml" Id="R4f6f20d1e8e344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d683c3211478e" /><Relationship Type="http://schemas.openxmlformats.org/officeDocument/2006/relationships/notesSlide" Target="/ppt/notesSlides/notesSlide4.xml" Id="R7e02cf9eef59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213627dfd4455" /><Relationship Type="http://schemas.openxmlformats.org/officeDocument/2006/relationships/notesSlide" Target="/ppt/notesSlides/notesSlide5.xml" Id="Rdaf9f09a16974c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cd34d4ba94a17" /><Relationship Type="http://schemas.openxmlformats.org/officeDocument/2006/relationships/notesSlide" Target="/ppt/notesSlides/notesSlide6.xml" Id="R9d1133311e714c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1ed6884d14da5" /><Relationship Type="http://schemas.openxmlformats.org/officeDocument/2006/relationships/notesSlide" Target="/ppt/notesSlides/notesSlide7.xml" Id="R9057cfee064943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51a8ae00940d9" /><Relationship Type="http://schemas.openxmlformats.org/officeDocument/2006/relationships/notesSlide" Target="/ppt/notesSlides/notesSlide8.xml" Id="Rd250efe2e4424c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2619759664be8" /><Relationship Type="http://schemas.openxmlformats.org/officeDocument/2006/relationships/notesSlide" Target="/ppt/notesSlides/notesSlide9.xml" Id="Rca80553c7d584b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a091e3dff40ab" /><Relationship Type="http://schemas.openxmlformats.org/officeDocument/2006/relationships/notesSlide" Target="/ppt/notesSlides/notesSlide10.xml" Id="R20187a40eee743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427f2db16495a" /><Relationship Type="http://schemas.openxmlformats.org/officeDocument/2006/relationships/notesSlide" Target="/ppt/notesSlides/notesSlide11.xml" Id="R30883e9c466a4f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d1d40b4df4e57" /><Relationship Type="http://schemas.openxmlformats.org/officeDocument/2006/relationships/notesSlide" Target="/ppt/notesSlides/notesSlide12.xml" Id="Rb804d5f867c841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bc2c5959440d5" /><Relationship Type="http://schemas.openxmlformats.org/officeDocument/2006/relationships/notesSlide" Target="/ppt/notesSlides/notesSlide13.xml" Id="R9f59fc97a0e644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5b2e250df4620" /><Relationship Type="http://schemas.openxmlformats.org/officeDocument/2006/relationships/notesSlide" Target="/ppt/notesSlides/notesSlide14.xml" Id="R386f7b534c314c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8ee597c574fab" /><Relationship Type="http://schemas.openxmlformats.org/officeDocument/2006/relationships/notesSlide" Target="/ppt/notesSlides/notesSlide15.xml" Id="Rea62969646d040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6021ba3074783" /><Relationship Type="http://schemas.openxmlformats.org/officeDocument/2006/relationships/notesSlide" Target="/ppt/notesSlides/notesSlide16.xml" Id="Rd1de0d007c734a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e16487fab471c" /><Relationship Type="http://schemas.openxmlformats.org/officeDocument/2006/relationships/notesSlide" Target="/ppt/notesSlides/notesSlide17.xml" Id="R7b1e48ec566c4d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778af766d4bb1" /><Relationship Type="http://schemas.openxmlformats.org/officeDocument/2006/relationships/notesSlide" Target="/ppt/notesSlides/notesSlide18.xml" Id="Re52ede8b033849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dcb5a2ca44b0e" /><Relationship Type="http://schemas.openxmlformats.org/officeDocument/2006/relationships/notesSlide" Target="/ppt/notesSlides/notesSlide19.xml" Id="Ra36a04e632bd45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b4ad7d5dc4f4c" /><Relationship Type="http://schemas.openxmlformats.org/officeDocument/2006/relationships/notesSlide" Target="/ppt/notesSlides/notesSlide20.xml" Id="R97ad3b8d60b44e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2cb0a0ea94d18" /><Relationship Type="http://schemas.openxmlformats.org/officeDocument/2006/relationships/notesSlide" Target="/ppt/notesSlides/notesSlide21.xml" Id="R9d13f5f7af854c9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d258268c64528" /><Relationship Type="http://schemas.openxmlformats.org/officeDocument/2006/relationships/notesSlide" Target="/ppt/notesSlides/notesSlide22.xml" Id="Rf2845caaf7bf4f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a6ff2dab047b8" /><Relationship Type="http://schemas.openxmlformats.org/officeDocument/2006/relationships/notesSlide" Target="/ppt/notesSlides/notesSlide23.xml" Id="Rcce86aad8ce449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5b61e6ae84b1f" /><Relationship Type="http://schemas.openxmlformats.org/officeDocument/2006/relationships/notesSlide" Target="/ppt/notesSlides/notesSlide24.xml" Id="Rbf02992e2f7f4a6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02c8e9d824b0d" /><Relationship Type="http://schemas.openxmlformats.org/officeDocument/2006/relationships/notesSlide" Target="/ppt/notesSlides/notesSlide25.xml" Id="Rd7ea4e08b11845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b67575db54d5f" /><Relationship Type="http://schemas.openxmlformats.org/officeDocument/2006/relationships/notesSlide" Target="/ppt/notesSlides/notesSlide26.xml" Id="Rdedfb865975643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c0495f13f495e" /><Relationship Type="http://schemas.openxmlformats.org/officeDocument/2006/relationships/notesSlide" Target="/ppt/notesSlides/notesSlide27.xml" Id="R2f307400f3ec440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919409ffb471c" /><Relationship Type="http://schemas.openxmlformats.org/officeDocument/2006/relationships/notesSlide" Target="/ppt/notesSlides/notesSlide28.xml" Id="Rd2fc41a9063041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775c1728b4ae7" /><Relationship Type="http://schemas.openxmlformats.org/officeDocument/2006/relationships/notesSlide" Target="/ppt/notesSlides/notesSlide29.xml" Id="Rfbccb34508a2420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c8c05d4ac4330" /><Relationship Type="http://schemas.openxmlformats.org/officeDocument/2006/relationships/notesSlide" Target="/ppt/notesSlides/notesSlide30.xml" Id="R807b282ef7ce49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8acca61c2490a" /><Relationship Type="http://schemas.openxmlformats.org/officeDocument/2006/relationships/notesSlide" Target="/ppt/notesSlides/notesSlide31.xml" Id="Rfa927c825dff4d5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ec3e7978e4d35" /><Relationship Type="http://schemas.openxmlformats.org/officeDocument/2006/relationships/notesSlide" Target="/ppt/notesSlides/notesSlide32.xml" Id="R70404a6a384a49b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f272fb2aa4078" /><Relationship Type="http://schemas.openxmlformats.org/officeDocument/2006/relationships/notesSlide" Target="/ppt/notesSlides/notesSlide33.xml" Id="R920a58f9f12643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FFA410-881C-4B65-973D-C4AFF597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3DA4A-10CC-46E8-8F19-AA316304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61B73-E41B-4ABD-BA03-E982792D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B0C48-82A2-44AA-A481-1B52F427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26c83dc864143"/>
          <a:stretch xmlns:a="http://schemas.openxmlformats.org/drawingml/2006/main"/>
        </p:blipFill>
        <p:spPr>
          <a:xfrm xmlns:a="http://schemas.openxmlformats.org/drawingml/2006/main">
            <a:off x="689967" y="514350"/>
            <a:ext cx="2325291" cy="72342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26FB5-1661-473B-883D-0579FDB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PRODUCT MASTER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AFA52-D9FC-4633-A92D-FCFBE599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creative intelligence system for enterprise advertisers.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0CC0E-E761-4B5F-92EF-A8D68647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85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detailed client-ready presentation for CMOs, brand teams, media teams, insights leaders and agency partners.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95875-250B-4FED-BE28-4D339448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D7B762">
                <a:alpha val="2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5CF9A-490E-4A65-B2F8-80771F23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F2DDC-F679-4F56-BE3E-C94910A4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Client promise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A6BC0-8537-4E92-BD07-0F0E7E48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Diagnose creative before spend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Forecast business-facing outcomes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Build a learning repository</a:t>
            </a:r>
          </a:p>
          <a:p xmlns:a="http://schemas.openxmlformats.org/drawingml/2006/main">
            <a:pPr algn="l">
              <a:defRPr sz="11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• Separate creative risk from media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AF70A-8F27-43DD-BE8F-C01B96F7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June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75FCA-DF8F-4B5C-9D4A-A525BF1F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10317-178F-4292-8D27-160767E0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38644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CB06F-816B-4FDA-8B05-0F8528E8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DE448-FC04-49E1-9994-8B96AF53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2FB79-6D36-4F5A-ADB8-4317AAAA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17078-E463-441B-AAF2-4507AC0E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6A939-715A-4716-A933-021005B1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SECTION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450B3-CECC-448B-9D16-C20522C7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Industry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30C7C-797C-4ACD-AEB2-A81755FC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Creative quality still decides whether media exposure creates memory, preference, response or waste. AI has made production faster, but decision quality has not kept pace.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A4180-433D-4A4D-B47C-7EF498BF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70485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B762"/>
              </a:gs>
              <a:gs pos="54000">
                <a:srgbClr val="23C7D9"/>
              </a:gs>
              <a:gs pos="100000">
                <a:srgbClr val="A78BFA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033BC-9753-4DE8-B3C6-F3E42B36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DC0D-8505-4AF0-9AF8-E2011924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80218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51A00-328B-4F80-85A4-B5530476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77772-FB10-4FF8-93DA-5D1B4F7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DDA89-0932-430D-A909-6D584691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573C9-F6A2-472D-B3BA-83CFA9D9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ADC66-E89A-43E3-A1D4-ED412BFA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7726F-45A9-4D05-AE33-B1C4ABD8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HOW DECISIONS WORK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AF3CC-092A-4CED-AE9B-C6B8A111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Creative review still depends too much on taste, hierarchy and timing.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E8065-8DF2-4113-9ABF-292DDD5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Most enterprise creative reviews happen through meetings, subjective debate, agency rationale and fragmented research. The result is slow decisioning and inconsistent standards across brands, markets and formats.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764CB-3B27-4682-8387-D7DE7324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924A9-9C4D-42E9-B197-02F9E96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04813-2059-4812-845E-0E65819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rPr>
              <a:t>Slow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18621-3A04-4B32-81DF-E0EC1B0A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Feedback cycles arrive after production pressure has already built.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EBEE6-1AEE-4AB6-97DE-99FF0C74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08226-567E-4BA7-BC93-0B893FC1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2EF2D-FBCC-465E-8C8C-15CC6117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93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0A93A"/>
                </a:solidFill>
                <a:latin typeface="Aptos Mono"/>
                <a:ea typeface="Aptos Mono"/>
                <a:cs typeface="Aptos Mono"/>
              </a:rPr>
              <a:t>Subjective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777A3-5930-4D3C-A0FD-6FB307EF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Teams debate preference rather than measurable creative response.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680F6-1EBB-4D9C-9529-8B38985B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7096F-3234-40FB-A186-577B31D5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9C48A-1BD5-422F-B73E-4BDAF24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Fragmented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DEA9A-1715-409A-A3B0-E79B4506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Learnings do not compound across markets and campaigns.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1D182-3F16-4213-B8D3-E56197E1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3AB2E-B330-4D4A-860E-EEDD71A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74961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10A71-0CD6-42A4-BF8E-B5C2FAEC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7E38F-A491-4C1E-8336-5A3FFC4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A6A13-35C9-4439-903E-8BF8393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35BF7-F01B-427F-86AE-F0286F4C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1E140-C2A0-4EA2-957D-01EA6E4C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BE1DF-8DFA-4524-A39F-2137CC8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WHY CREATIVE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A3720-8A30-4C06-BD1C-59147F22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Media buys exposure. Creative decides what exposure becomes.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966FF-ABB1-4D74-8522-4284A3A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media plan can deliver reach and frequency. The creative determines whether that delivery becomes attention, memory, brand linkage, consideration, purchase intent, response or waste.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D9ADE-320F-4B61-8F31-FDAD27F1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215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83705-3B47-4B51-B031-7C23DC1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0175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Creative 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EFE61-6DEB-4589-B943-11690D4C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3AFB4-D55C-40B4-8FBA-2FCBE79C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0502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CB8D3-1D46-4B8F-AD35-75CDE3F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0A502-98AB-4DE8-98BA-44A657D2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3712E-CB92-4953-AAEC-E931B7DB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9324D-FC45-4E98-AD09-A9BA809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Preference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B5BF1-E745-4B10-B386-9628DEB3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A4FE5-6F84-454C-8DAB-BEFB637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Action or waste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BC9FA-8A7B-4772-BFE1-2464584A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0114B-CA54-4566-8C2A-85570417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35713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60038D-6EF8-47D8-ACFA-3C00FA0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F7FB9-35B2-4B1C-8065-1919748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50D1A-EB4F-474A-B649-C9B2771A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C3DF5-7D30-4A6A-B369-44007384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88119-5F38-48E4-BDB5-41B9C56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01C8B-8BAC-419D-AB79-4F85DFB6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AI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8EE93-EFED-4200-87B4-6D654C8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AdCritIQ uses AI as decision support, not a replacement for creative judgment.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B5092-F2D7-4A5A-B460-98D1351C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product gives marketers and agencies a structured signal. Human teams still decide the brand strategy, creative idea, channel role, legal interpretation and final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26403-9A63-4025-A563-97DB60BA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69011-19D8-4CB9-85B0-7D18BB6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357D6-C1DF-4C16-8F2B-E612B391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Predictive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56AF4-A2D3-4F37-A88B-C398B300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Estimates creative response probability.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99594-9499-4ACB-A04A-5A86782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F00CD-E879-4299-8A93-D4C98F5D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E8800-518F-4DB6-9A9A-B6EB02B4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Not biometric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75AAE-0972-4FF6-8CC5-AB9B184A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Does not claim live brain measurement.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DE54A-3434-4EF6-A3F0-F23F354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D4416-68B3-4752-ACA8-6A07B7F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DEFF0-330B-4FCA-A7BB-703697A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Human-led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F5D06-26FA-4902-9177-4BA238EF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Designed for better judgment, not automated taste.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D78E4-EC32-463E-9F7C-7D6D83A7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D4E74-8826-43C3-AB89-78665F90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94478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3E16E-930B-4F2A-A396-2E911C83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74454-A288-4236-AE54-7F493FA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D13A5-40F3-4FF6-8670-35381168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E0D52-4367-49AD-81DE-CDC56001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F012E-3E25-43AE-86AD-5728D4A0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SECTION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1E3CD-0FA6-4026-8DFA-A7731E70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problem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02B7B-4169-4475-9A21-58F0A274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Brand, agency and media teams all experience the same missing layer from different angles: they need a shared way to diagnose creative risk before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D0990-F74A-4145-81D9-0BF68684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70485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B762"/>
              </a:gs>
              <a:gs pos="54000">
                <a:srgbClr val="23C7D9"/>
              </a:gs>
              <a:gs pos="100000">
                <a:srgbClr val="A78BFA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4FBA-A425-42AA-B839-D0B72ADC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A55B9-FEAC-449D-BF9D-788DBC8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45175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9F292-5BC9-4432-8C21-58473E84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48C10-E5D2-4FB1-A20E-517070C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556D7-7E74-4FAB-97E6-CDC6AC82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C1C89-148C-4B34-BFE5-27810051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7E2A5-1609-494D-A359-B2ABB59C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84697-563B-4ED9-A041-0225C1EC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BRAND TEAM 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F865D-EDD1-428B-9AD6-07B5C1FF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Brand teams need confidence before media, not excuses after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C2A02-16C6-4D49-AECE-E7CDD7B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They need to know whether the creative has enough brand presence, message clarity, memory encoding, emotional fit and platform readiness to justify production and media investment.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6487D-2895-41F0-AF46-E06B6D4E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99E81-A651-45D8-9F10-37CADC02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A112A-1D83-4A11-AF07-DEEB0505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6F50B-8448-4FF4-BEC7-B8E2CB1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Weak brand linkage lowers memory even when attention is high.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5AE26-2096-469F-B2CD-04AF18B8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45878-493F-48ED-9852-5A5125C4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05AC5-A82B-4142-8F94-7E8CEFF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A93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0A93A"/>
                </a:solidFill>
                <a:latin typeface="Aptos Mono"/>
                <a:ea typeface="Aptos Mono"/>
                <a:cs typeface="Aptos Mono"/>
              </a:rPr>
              <a:t>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D1228-BB91-413F-A994-5087A7F5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Late fixes create reshoots, re-edits and wasted media.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6225D-9709-47EB-8CE0-8F59BC91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4B6E4-DB9E-4873-BC21-74ECF84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F8D5A-8438-4D1A-B67B-56973BB5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Governance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38D44-996E-4DD0-833E-1C8EA3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Global-local adaptations can drift from brand DNA.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A2F89-0D08-4DCD-B332-F1350004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87E77-C600-448B-B15E-92AD181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82215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E61FC-35E1-47C4-AA0D-CF2E9FB9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13D0A-C72E-45B8-98F5-274A1572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D34BF-049B-4313-8298-A2A34D32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938DC-A0C5-47F7-AD2E-C5E7E0BD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D1282-8820-4EC6-9FDD-96308C90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B27E-E0A6-4382-AC52-ABF111CF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AGENCY AND MEDIA 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8868E-83BB-41F8-ACB3-F7FC9CF4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Agencies need proof; media teams need protection from creative-led underperformance.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7C675-49E1-4D53-BA52-EAFB25F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gives both sides a neutral decision language. It shows which issues are creative-led, which are media-dependent and which are format or platform-fit problems.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46135-BF5E-409A-BC93-14D585E2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0B52D-890C-49F4-B180-354B36F0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28866-E612-49B6-9FB7-DDB2AAF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668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EE500-CB7B-43D5-B56F-320E37DB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Creative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86A41-5DF6-4A58-BD84-DAC9C30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brand, market, format, production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558B1-8679-42A4-8DA8-33AAAE65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9E814-BEB5-49A1-8EE1-8F772386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1C8D3-04D7-4C86-AB37-0637B62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9F7C8-EEA3-469D-AC46-9F8AF7F8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Signal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57B3A-E9A9-471E-B0A3-E51064D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attention, memory, emotion, compliance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4F0AD-1C34-4792-9A00-38CB288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2B46E-6D79-448A-B22E-C08AA8D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DB529-4E71-4E76-B45B-D2FC0222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194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9F0AF-C244-4CC0-B01C-3E3A7397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A67FB-0187-4D75-BC27-91FAFD4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awareness, intent, response, waste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2FDD8-6355-4A10-BE02-DDF59D86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523CA-E424-4170-911A-B908D19A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B4525-B3F8-4824-ADCC-6397F462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957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A7DCB-0985-415E-AE64-BE48DA1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24FBEC-89D4-4CBF-9269-FFDAE285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fix, scale, certify, or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2C43D0-2AAB-4D91-A8FE-B2997DE3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C203F1-9EF9-4A61-8EBD-1EA8EF5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05320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C8E35-81D1-42D3-904A-67CA0F69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4C52E-A7D2-4998-BF9F-1361ED13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10317-8AEA-441E-A26F-B8C2A188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0BC45-88EC-47FC-9143-B2054778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3D894-9D7B-4D7A-8003-CD6AE36E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SECTION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5A205-C4FC-4E4A-8309-7C28EDD5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Product 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A09DC-A268-4BB9-ADCF-8EDFD255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is a creative-to-media outcome intelligence platform built to improve decisions before production, launch and media scale.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C95AA-4D25-4D46-BC45-60136C19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70485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B762"/>
              </a:gs>
              <a:gs pos="54000">
                <a:srgbClr val="23C7D9"/>
              </a:gs>
              <a:gs pos="100000">
                <a:srgbClr val="A78BFA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18958-F4E2-4C62-97C0-C714F5A2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943CF-4424-4C8C-8286-64D4B3C8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71424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381EA-C353-4D17-891E-22477E73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C1F64-679D-4906-B2AF-471CABE5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29AE3-42F9-441A-9DE6-40B9504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7DD2B-5B5E-4B13-BB4C-E5DF6503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6DBBB-3D6C-476C-8BA9-E80E2E1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F4697-E62A-4BD0-9696-A4AC04DD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WHAT IT 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2143D-3572-48C5-928C-46EA2864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 pre-spend signal engine for creative effectiveness.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048D0-B360-4814-A012-5B35164D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Users upload a creative or pre-production asset, add campaign context, and receive a structured readout covering neural diagnostics, platform fit, outcome probability, recommendations and repository learning.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D3B9B-163D-4A86-BF15-1C17ECDF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9412"/>
            </a:srgbClr>
          </a:solidFill>
          <a:ln xmlns:a="http://schemas.openxmlformats.org/drawingml/2006/main" w="9525">
            <a:solidFill>
              <a:srgbClr val="D7B762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6CEF5-C1E7-429E-91E6-B60017B9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13CB0-6EAB-48E5-A0F9-19E47B2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9412"/>
            </a:srgbClr>
          </a:solidFill>
          <a:ln xmlns:a="http://schemas.openxmlformats.org/drawingml/2006/main" w="9525">
            <a:solidFill>
              <a:srgbClr val="23C7D9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EE63C-25B3-44D3-B1A3-1C63CC8C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Neural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9E688-1571-4112-8F78-9E1A36F0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0477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9412"/>
            </a:srgbClr>
          </a:solidFill>
          <a:ln xmlns:a="http://schemas.openxmlformats.org/drawingml/2006/main" w="9525">
            <a:solidFill>
              <a:srgbClr val="63D394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D7818-C4C7-4036-A904-7CF82FF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12382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77AEC-6C20-4AA1-9EC8-8CBAF16A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9412"/>
            </a:srgbClr>
          </a:solidFill>
          <a:ln xmlns:a="http://schemas.openxmlformats.org/drawingml/2006/main"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67073-0DF8-459A-B333-3B95F95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Emotion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03AF4-78EB-4C46-8C23-B4AAD661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FA7">
              <a:alpha val="9412"/>
            </a:srgbClr>
          </a:solidFill>
          <a:ln xmlns:a="http://schemas.openxmlformats.org/drawingml/2006/main" w="9525">
            <a:solidFill>
              <a:srgbClr val="35BFA7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276EE-48EF-4FBC-8A49-E370CDF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Platform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A4520-2C3A-4ED0-B7BD-A38D50C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8478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93A">
              <a:alpha val="9412"/>
            </a:srgbClr>
          </a:solidFill>
          <a:ln xmlns:a="http://schemas.openxmlformats.org/drawingml/2006/main" w="9525">
            <a:solidFill>
              <a:srgbClr val="F0A93A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9DEA8-04BF-4398-A296-3779F6C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20383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DAD39-D436-45B7-8BB2-43313D70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9412"/>
            </a:srgbClr>
          </a:solidFill>
          <a:ln xmlns:a="http://schemas.openxmlformats.org/drawingml/2006/main" w="9525">
            <a:solidFill>
              <a:srgbClr val="D7B762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3E525-7194-4471-B009-63EFDAFC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81E53-7409-4A2F-AA67-FC14E5C5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1CE">
              <a:alpha val="9412"/>
            </a:srgbClr>
          </a:solidFill>
          <a:ln xmlns:a="http://schemas.openxmlformats.org/drawingml/2006/main" w="9525">
            <a:solidFill>
              <a:srgbClr val="B6B1CE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1C27C-1794-4917-9BD5-1CC33872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4B87D-C1D0-47EF-81C7-B232577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26479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26D82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80B575-93ED-4AFD-9BE2-E7652325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28384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Competitive Intel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1F517B-9FF9-4E80-BD3D-C3EBA7BA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9412"/>
            </a:srgbClr>
          </a:solidFill>
          <a:ln xmlns:a="http://schemas.openxmlformats.org/drawingml/2006/main" w="9525">
            <a:solidFill>
              <a:srgbClr val="23C7D9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AF9B85-7B8D-441F-B503-5C72ED25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Brand DNA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5DC70-8AC6-4D08-97C9-F428E0CB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9412"/>
            </a:srgbClr>
          </a:solidFill>
          <a:ln xmlns:a="http://schemas.openxmlformats.org/drawingml/2006/main" w="9525">
            <a:solidFill>
              <a:srgbClr val="63D394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016DB7-BF21-4DBD-BB86-A72612CE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42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Certification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BD68CF-F71A-4053-9071-53C29222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3448050"/>
            <a:ext cx="135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9412"/>
            </a:srgbClr>
          </a:solidFill>
          <a:ln xmlns:a="http://schemas.openxmlformats.org/drawingml/2006/main" w="9525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04E89-C899-49D8-A9A5-279E1C83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675" y="3638550"/>
            <a:ext cx="113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NeurIQ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5072A-4789-42EA-B3BD-98F7B92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E53A9A-E86A-46DB-82C2-8DFF5A7C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38023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F1A0A5-6A1F-4965-8033-60D6D87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313F1-4A0B-4F9E-8930-684C59FC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345C8-45CD-4989-8A0D-FBDA257F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074B8-A31F-47D8-B86E-B5293349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C4629-2F13-4F71-86D0-189115C5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0666B-0573-49D5-9DB2-9B2300AD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USER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680A9-029F-494D-B17C-8105A07B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From upload to CMO decision in one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44C16-2C7D-4F03-9A32-3BA5218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product begins with context and asset intake, adapts its analysis to format and production stage, produces executive-grade outputs, and saves results into a repository for future benchmarking.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5943B-4604-4681-877F-23EDB49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EA0DB-AFB1-42AE-B170-A1538B3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3A518-A838-40E9-94AC-95631971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668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E7E00-8DEE-45AE-BF6A-26841E49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Creative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6CA5E-B235-4425-8CE2-BD8ADD24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brand, market, format, production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7C7B1-4B55-4E4D-B10F-FF516076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E9BB8-F5AA-45FC-BD0F-07BBA59A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26322-328E-48C3-908A-D9C2BF23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2A607-8DB7-4B1E-87D3-2B0FD84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Signal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597CD-CB89-45D9-88A2-A745463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attention, memory, emotion, compliance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874CC-53F5-4C36-B0C0-3D03D253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E6AE0-6176-43BA-BC2E-FAE339B9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4EAB1-7398-4153-9075-CC5112DB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194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70C79-CECB-48CD-BE4A-20E743E1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Outcome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80737-5339-4CCB-8586-9786A7A1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awareness, intent, response, waste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37CAF-2024-431F-ADC0-205D45F2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28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41E26-111D-44B9-9EF3-953BA143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089E3-9CCA-4733-8ED4-F350C755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957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9C44AD-098D-44E5-B1CA-A2E18CDD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3A9EA-6AFD-45A8-9410-0F31F11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fix, scale, certify, or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6E37C-5D41-48BF-91B4-E2E7C1F9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F4634A-7089-42AD-B5D5-1C81BC9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16138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EA39E-53EF-45B1-BDF3-50BB2CA2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5E7A6-A951-4870-9ED7-2A8A7AA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1BC53-9579-42B9-B101-188780B6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5D181-528D-415D-A434-6EBAAA0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2FF78-819F-4E01-8C45-F27133C3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SECTION 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72031-2A6B-4F56-953E-BF1BA6BF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Feature-by-feature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598AA-3E18-4303-B832-F8B8FA5A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Each module is designed to answer a specific enterprise decision: fix, scale, localize, benchmark, certify or learn.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E8DE4-B9DD-4BB3-B335-5E397C1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70485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B762"/>
              </a:gs>
              <a:gs pos="54000">
                <a:srgbClr val="23C7D9"/>
              </a:gs>
              <a:gs pos="100000">
                <a:srgbClr val="A78BFA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D6675-88D7-41A8-A3A0-980C78CA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71381-E373-4036-A95A-16502FB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63967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D5084-2E80-4F99-8367-EAC9C7F6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E105F-852B-4C8D-9195-B9E8EA1A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A0656-077E-4F0B-8454-01D23C2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F960F-2543-42E0-A998-D1EA7097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48AAC-A891-4627-A96E-C825F38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07E72-22D6-42F6-8DDA-FF8C904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CREATIVE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29372-E222-4C54-9061-B4C645CB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Capture the business context before analysis starts.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AC9F7-D09A-4771-8A4E-0AB72745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intake screen collects brand, market, industry, audience, production stage, creative type, notes, asset and token. This allows the analysis to interpret the creative as a business asset, not a generic file.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0C9D7-E33C-4882-BF80-00DC1979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49674-C628-4036-98D9-AFE7F4C9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EAD1C-A8ED-4827-A886-3AA96453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Who uses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F667E-AD0E-4A33-B56F-15A910B3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managers, agency planners and insights teams.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19166-6869-45B0-87FE-8BBB1992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7D6FA-AF1C-4397-A8A6-2A04535E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300AD-0E5E-4959-97AB-42245555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C693A-B5FA-46B2-9AA2-C6DC6CD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Context changes the meaning of scores and recommendations.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34F16-0AC0-45A8-B931-CCC4056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EF9E6-BBE6-46C1-8A1C-250025BB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5A87F-3B20-4AE8-8A28-AFE08A71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2085C-7C24-4274-8117-4F47EC12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structured payload for format-aware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65267-9FEB-463D-AFFB-101FC38C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F1999-BE5B-4D83-BAD8-D1509ECD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62679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8A22E-4E67-4CAA-A457-A53D9664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7E481-1AB1-41FA-915E-4E16684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F583A-F34E-4DBC-A942-F33D9F4A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80EFB-8FCF-4A8B-AB4E-39D5734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4F71F-F350-49C3-BCFE-F9192489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E3A6C-CFC6-49C4-AA28-7DA8D27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PRODUCTION STAGES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4952E-0014-43D4-A008-A8F641F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Test before the cost curve becomes expensive.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84E83-2E07-4150-8752-33E53DB3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supports concept/script, storyboard, rough cut and final creative. The earlier the signal is surfaced, the cheaper the fix.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E7F03-7A2F-4E6D-8FC9-DD14A6F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9603F-91A3-4666-BED1-488B6FD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756EF-791A-49F9-86DC-32EB9D97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4698C-B585-4390-A18C-2E28C2C7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Test the idea before production spend.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4D484-B0FA-47D5-B5DB-3F70332A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104BB-459C-4892-8AF5-82B3DAD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783B9-0F09-438A-B147-5E2B13A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Storyboard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A0479-1FB6-4FCF-8310-118BB52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Check sequence and message before shoot.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C3A11-B055-4B1B-8E6D-2BB038EA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BD532-EF6E-48C4-A72F-42E8149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71759-4901-4CF9-A628-94B843E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Rough cut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9D03E-6A76-4AEC-B0ED-D4E8610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Edit-level fixes before finishing.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90165-CFAE-4A73-AB8E-933E94D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D2ACD-20CA-4870-8096-EC36F234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71260-DC4F-409A-93BF-5A0A329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C39B1-5AA5-441A-B8B8-C9ADDF2A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Pre-flight check before media budget commits.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2D1DE6-3275-4CD9-BF1D-5A101D16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7B6F8-0230-4AA7-9BEA-79CD51AC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014819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8DDF19-8814-48AD-99AB-AE22FAEF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8FC1B-31EE-4D29-A3A4-CF73E54D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0C671-AEF2-43EB-BEC8-E70963F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0FA36-5108-47D1-9AF8-9C6B969D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6D95D-7C4D-4C42-B9E0-777D80AB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A330A-62C5-49B7-9953-82FF2B5D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FORMAT-AWARE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7070F-742C-414D-963A-1D69E7A8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product does not force every creative into a video metric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B4917-F43E-428B-A6BC-44D4D4B8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Static images, motion assets, video, audio/script and text/script require different diagnostic logic. AdCritIQ adapts labels, attention views and outcome language to the creative format.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92AA2-F991-4E37-91C2-254EC4D4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FDABB-91D1-46D5-BA7E-948A2BEA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Format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9904E-5F70-45B1-A79B-8E40F3BC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Primary diagnostic lens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76E81-7E53-4DEE-AFE2-49058FB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37BC8-89D6-414D-BAB2-DA1E9808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E814D-F9A4-43F7-8E00-A4215E8D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Hook, hold, pacing, completion, sound, platform cutdowns.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C7A92-9DAD-4466-AF16-F6D3A783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5E4CC-C146-4B26-BCB9-B5A2E101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Static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56712-A35B-40E1-AF89-5618B9EF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Stopping power, visual hierarchy, brand prominence, CTA clarity.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111D2-B01E-45C2-86D8-4E3E77E7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CDF3F-CBF5-47B0-B385-2820D1CA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Motion / GIF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162C8-72ED-42C9-B274-35CD9B22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First frame, loop clarity, motion salience, loop fatigue.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A0CAD-CBFC-4F75-B766-E6088415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9A183-DD21-487D-9330-6828057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Audio /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D52D7-2826-4E52-A56F-40C29F2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Sonic or language clarity, memorability, persuasion and claim risk.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14F78-6BB7-408C-97CD-36350CE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28F36-735A-4957-BAFD-FF8E0E12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12134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AD7D8-12EE-48FF-997E-B40C3FF4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B2867-089A-42E0-8B47-C03ED43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EFD87-F4B4-4BC3-84C6-6B3D02E9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31299-2D67-45FC-AEB0-DEE7CCCF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A0B4C-6D2C-4CD9-A484-2EF0471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AABDC-9BF3-488D-A8D7-5236C37C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EXECUTIVE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06E52-DEFA-45CD-A215-49549480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 boardroom readout for creative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029C5-8149-45A4-9456-BC0DEB9B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summary consolidates the grade, verdict, headline risks, top metrics and confidence signals. For brands with enough saved data, it can also show Brand DNA match.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D5B57-CC88-43BB-A31F-BF15DB4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C0CF6-5A3E-4963-A922-578C23C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00B41-A2DF-4E3B-81C5-417F01FA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Business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FFE6E-7D3B-44DC-ABEF-ED49C32A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Is this asset ready to scale?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02AEE-D9ED-40CC-9CDE-E59D86BC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4707A-93BF-4932-8175-D3850E2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D2BD5-A242-45BC-B37E-520F04B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BD4D1-DFCE-4A83-9B5B-2CA1BFDC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Grade, verdict, key signals and decision direction.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D65F7-A9BB-46EE-B0BC-64409157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82D27-E6B2-4762-A5B6-60F08D0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84F6C-5C82-4A89-8F71-BDC40E88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763E8-3B01-4C75-B724-65279D5C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CMO, Brand Director, Agency Lead.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14ADC-6E85-4E67-9F90-50FCAE9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AAC63-981A-4A95-95F8-1F47347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29870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F2BC5D-EEF0-4CA1-93DF-680EC10F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A9A24-96C3-4EBA-8D4B-61465F64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6A75F-89D0-4410-8ADD-1EAA12E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6F774-D38B-4E39-AFD5-9B1A2BB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F42C5-6091-4645-9D77-EA432CBB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F452A-65CE-4073-9092-6692A70F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NEURAL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66C5E-6449-4513-9878-3AEA4223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 neuroscience-informed explanation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E2F06-0EF3-4DE6-A9C9-4633C93D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Neural Map organizes predicted creative response around brain-region-inspired markers and TRIBE v2-informed calibration language. It is a communication framework, not a live biometric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09303-D1A8-403E-8578-54A680B4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AABE3-5E9F-4ACE-B269-BC47AFF5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EB172-5C1B-4ACA-A621-432EFCD4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Attention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FE5C9-D953-42F9-BA54-EC534EF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Visual cortex and attention control cues.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B8B7F-8C31-48F9-A7F0-6D06D85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EBAF1-552A-4B4F-B670-45A16C6B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916A8-7888-4E92-B231-679BE69F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rPr>
              <a:t>Emotion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6D4E1-40B5-477C-8A92-BC111229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Amygdala, mirror neuron and reward cues.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0D2A1-67DF-4B24-9813-E58B70D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BF479-8788-4D09-818F-4E293AF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8C5E6-6290-42A0-B5B6-1D70F05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2E9AA-5AD1-4E75-BECD-2C5AF1BD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Hippocampus and brand encoding cues.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7A12F-871C-41C2-90CF-B80F48B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5D7F5-C658-4788-B095-B0052DA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119659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06300-7804-4006-A9E0-DD9399F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86DA5-1929-4CAC-9EE6-AD2E26E3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62C02-BC33-4AB3-BACD-D9D932C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A8732-8959-4543-8EBA-E13B9DF0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B36E3-704D-44AD-A5D0-F1A487F8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D7E1-435B-4E89-AE63-5CF77063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ATTENTION DIAGNOSTICS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2E1EC-20EE-49A1-A980-B01A2C5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Show whether the asset gets noticed in the way the format requires.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C0210-A104-43F4-9305-9EBC8E8C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For video and motion, the view can show timeline-style attention and recovery. For static image, it shifts to visual hierarchy, stopping power, brand prominence, CTA clarity and clutter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59E80-B9D4-4486-BCD6-B285543D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D15DA-23CD-4D0E-B9A6-0B54678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12AAA-D5F6-4176-83D2-77D30C1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Video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46B5F-999D-40C0-AE58-3ABF05AD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Hook capture, hold rate, drop risk and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1C761-A6E8-4A02-8FF8-185C9796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B0D63-B3FD-45A2-9173-FE4A58E6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51826-A401-4EB4-A5F2-51CB5280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Static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60072-97FC-467B-B11F-0FFA1C3E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First-glance signal and scan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F4274-5DAD-40CB-93E2-57FE1D69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D69F8-DFAF-4612-8F4E-E83DD60C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E65FE-6D25-4D4B-9420-BB7598C0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Business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0046C-2780-495D-8858-D25F7F4E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Predicts whether exposure becomes actual attention.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E2368-67BA-4D09-B7E0-F34BC9C4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5791C-61FA-4092-B0AF-C4FFAF49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197071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611D7B-38F8-4450-83CF-315F34F3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9C15D-6577-4DC5-802B-A6B14961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2840C-199E-4BF0-B3F9-FC43A4D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1772C-65A8-4B35-A586-5924F40F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E882D-639D-4DF0-973F-54D1D176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43636-394D-4999-B671-63C98BC6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EMOTIONAL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A8E38-520E-4E24-B051-2F3655C2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Diagnose whether emotion supports the brand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DCB64-B7B1-4AF9-995E-D308E0B0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module evaluates emotional peak, arc type, coherence, contagion and peak-end memory logic. It helps teams distinguish emotional intensity from useful brand emotion.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0F045-AF7D-4139-A707-D0B91D4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24029-7750-47CF-840C-5C9F0948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C8013-28E2-4E31-8003-D723185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Arc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5D304-B3D1-4848-B3A8-B83359B0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Flat, ascent, wave, cliff or resolution.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3AAB9-B573-452F-ABD1-FB149CB1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E176D-E7AC-4B12-A019-11258716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DDE22-935F-41D8-9D17-33B6238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CE012-B215-4E92-9D19-C095D3DD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Whether emotion matches category and brand codes.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00492-7275-44E2-AC21-86A01DA3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C7DBF-0AF7-4C0B-935B-11165251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57969-717E-4181-B897-2B16D803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0193F-EEE5-4A92-B6B1-17D9161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Shows where emotional design should change.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5D143-B077-47CA-AE0F-A580366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56FB9-D368-4CEB-ADBB-E969D090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2902463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C902C8-3666-48F0-BDC7-E0195241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A3509-9B39-47B4-B822-DC6EB3C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DDC1D-81EE-4386-8F6A-DFD1921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2D690-78AE-4BE5-A383-DF22A55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A6E3B-6B06-43A6-9635-478FCB38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B8CF8-3CAA-4529-B548-7EDA1ACB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PLATFORM SCORES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CB3D3-76FE-4163-9CA9-948211E1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same asset does not deserve the same spend everywhere.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AB06-30B6-47EE-86ED-21E4BB36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Platform scoring evaluates whether a creative is suited for YouTube, Meta, Instagram, TikTok, TV, CTV/OTT, DOOH, display and LinkedIn, then supports channel-specific recommendations.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FE2BE-F370-4CE6-8D47-3F74D9E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DEFF1-8E6A-486E-A98C-3B898C8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Platform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47553-B39B-42A6-9632-1C5386F9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Creative implication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9AE88-D397-40BC-AD85-EC2BB7D1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7EC3C-25DB-4A89-B444-DC4D409A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YouTube / pre-roll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0FD03-3A30-42DD-A1F5-3109AF16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Hook, retention and sound/signaling matter.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A78E1-E04E-44DD-8675-0F1FA61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9317D-C439-449E-93B1-42A03FDC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Meta / Instagram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C538D-BA0F-4D4B-854B-C15B4CC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Thumb-stop, visual clarity and sound-off survival matter.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DD83D-172F-4DCD-998E-227E499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7A012-5A3A-404C-AEC1-F3E7E3A2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TV / CTV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1738E-625F-4302-9C82-B94F20FD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Narrative, memory and emotional arc matter.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119DE-2FE7-4861-AE6A-7C6BF028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84620-5F09-4AC6-A518-886890EA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DOOH / display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17BB2-3EE2-46C3-A069-7EF342FE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Instant decode, brand prominence and CTA clarity matter.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F2EEF-0D1C-4A24-9C03-B56995E4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B2A03-1C9E-4493-901A-A73639FA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681096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DE45D-3E4D-41E7-938A-B890E45C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F1FEE-F2E7-4F11-8BCB-642FE68D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85AFD-0490-46EC-8C91-5917E10C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62C7C-3C9A-46B2-B8CD-044949D5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2140E-9AC5-471E-AC6E-ED463A5D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E18BA-C7F4-4472-BA49-47AC37CD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OUTCOME FORECAST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59D7A-70DD-476D-8BF6-DA8B1ED5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Translate diagnostics into brand and performance probability.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84786-A608-4C43-8D89-2F4A7E7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Outcome Forecast estimates directional readiness for spontaneous awareness, aided awareness, consideration, purchase intent, response potential, media wastage risk and creative accountability.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002C0-9A12-452B-B2B8-0FE32469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5757E-CBF4-49E3-9839-A9D5B1C8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192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AWARENESS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1F218-36F8-4BEF-BF4D-DDDD9D24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90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39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3D394"/>
                </a:solidFill>
                <a:latin typeface="Aptos"/>
                <a:ea typeface="Aptos"/>
                <a:cs typeface="Aptos"/>
              </a:rPr>
              <a:t>78/84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FCBD9-A1FB-44CF-B9FA-3CEDEB0E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954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A1C1F-B7D6-4D3D-B80D-325A235F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4192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PURCHASE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99022-5C9E-4BA9-95AA-970F307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906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A9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A93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6FF34-968E-4393-988B-6C249CF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9CC08-E1C1-49AC-A523-A6AD220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955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MEDIA WASTE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11129-1910-424C-A195-03EC7C6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3D39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3D394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27B60-E8A9-4661-A55B-6ACE7A6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71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2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F5999-632E-4EA3-9C06-A8AF339B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955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ACCOUNTABILITY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79F0D-C2B6-4189-8C53-582EBD11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669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7B762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CE80E-91F5-4EDF-8D0C-77A16B0D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60AC0-2CAA-4BE9-A728-7D6A1109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0936761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E0E03-6981-41B2-8D0E-7B3CCE4E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0FC75-EC72-4AB2-A0E0-97DE8D3D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BACEA-371C-44F3-B069-D420D9C1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A09C3-4C67-497B-B6A1-DFAFE0A7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7B341-8E22-406A-A295-D1EC408D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BA6ED-6F90-4EED-B938-8D18A880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STRATEGIC INSIGHTS + CMO PLAYBOOK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0E018-967A-477E-AEA1-4DFE8B3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Convert analysis into senior decision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98F68-49CC-4412-95CC-626D9586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Strategic Insights tab frames what matters. The CMO Playbook turns that into prioritized actions, effort levels and expected business impact language without rewriting the creative team’s full strategy.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B338D-4638-4281-A4B6-A4ED83E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AF532-AFD1-4BE3-A642-2FA3FA0D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03369-91AE-43FC-B029-3EC8481E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4A038-5C30-4B9F-80A5-4B1E97A3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What signal matters most.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C8092-D5B9-4DED-A898-FEF3EAF2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35E28-7F5C-4088-9C2E-81AA9809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F49C6-577C-4C79-B48D-8B2EEF9B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1EA51-B45A-4165-BCE1-0729ED1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What to fix or scale.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FD346-A26D-40E1-BD74-63030BB5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6611A-E084-4D23-ADD8-D4257C89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66576-5734-41EB-9827-82104DA7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802DB-B858-4993-BE8F-BA77E21C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What a CMO should do next.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A6F61-B258-47FE-8207-C5331D0B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9E37B-FE24-4224-88D3-11D7FE11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2159996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882AD-991E-4371-8A01-11B10131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62287-32BE-4DBA-81B9-C0134C90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D713C-ACA8-4CDE-940F-18DD1C9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3521B-DB35-4F17-ADA5-AD0066A0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FF7EC-4855-42CA-AE7D-5AABB3BF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E7ABC-29F7-45AD-83C1-35265F41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REPOSITORY AND COMPETITIVE INTEL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ADAAC-6329-4DE5-9CE0-605134EC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Make creative learning cumulative instead of campaign-by-campaign.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E6887-A4AF-4F16-8810-FB458406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Saved analyses can be filtered, grouped and loaded. Competitive Intel tracks competitor creative signals over time so teams can see category movement instead of only their own asset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583D5-9566-4704-BF37-8272FE5B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66665-63CB-48F9-A3E0-8A455847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18411-1038-44F9-BF4E-0E113A7A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956F5-7A55-4556-9235-A13F0D53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Organizational memory for creative performance signals.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CA2F2-972E-49BC-969B-27D23D5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558E0-F624-4923-B797-5C9C55B2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39E17-36AC-4E95-B748-AB191414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rPr>
              <a:t>Competitors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D93EF-2765-4AF6-83E2-F89344E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vs competitor score gaps and trends.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E23F5-1731-4BA1-8EC7-AC5418E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016CB-3C3A-45E7-A28E-2544D28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787F1-28C1-44D7-B810-795A853C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6D6FB-01CD-4022-9219-05624BBF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 foundation for benchmarks and Brand DNA.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D071C-4F55-4A47-A57C-D067D4D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8ACC5-4750-45B0-BBE4-DF9F3D82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2937169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3818A-BABB-43D7-B480-326EB40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BE10E-5ABD-401E-85FC-D7C3D5C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42F69-0662-4238-9146-328A8A06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285DB-155F-4A19-A245-5CCAC20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A202D-A4D2-4B38-9F24-20CF71C4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6E752-A069-4D48-B569-27AC466A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BRAND DNA + CERTIFIED CREATIVE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0D4FA-C769-4899-B84E-8273E81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Move from one-off scores to brand-specific creative governance.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11991-DB2D-4660-B440-36603F96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DNA builds a fingerprint from multiple saved analyses. Certified Creative creates a shareable badge when an asset meets threshold criteria. Both are designed to make creative quality visible and reusable.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43029-3611-4C1F-BC38-5C8BC65E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79A4D-EBE7-4149-AE1D-24ADE14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15EE3-1351-4CD8-96C5-B7C66C56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Brand DNA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7472A-00E9-44B9-B534-23EDBE3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Measures fit with a brand’s historical creative signature.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EDD6D-3C26-4AB2-9C83-7CB8963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BF6ED-1183-41F9-8692-96EE33AA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B1733-5966-44F8-BEF5-EEC82B56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Certification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D8A36-44F4-442A-884C-5781A48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Signals asset readiness when criteria are met.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29857-7740-4360-920E-66FF219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137D9-9D45-4DD5-96E6-13AB91E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E8DBE-A608-4301-A729-56F0DDAB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Governance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5C41A-B3D6-4D35-9831-7A310E0D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100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Useful for global-local campaign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68F6B-7AC1-41AB-9CE1-1B4418E0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0147B-E785-4E34-856E-5984BF27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2467082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7B6E9-9AC8-4F9A-8CB3-DE37AD91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3113F-0E89-4F12-8FD0-1C4F45D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DC755-FAA2-4C03-8DC0-32AACFBF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9C1CB-28E5-4A85-92DA-68879F5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56815-0E2C-4CC7-85EF-B3C750C2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SECTION 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12359-0178-447E-BC75-9F04F9B0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Methodology, calculations and 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279A5-5B85-4CC7-AB49-6C154EE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product must be used as a predictive decision aid. It creates creative-response probability scores, not guaranteed business outcomes.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C2AE9-DAB1-4904-A833-9B13B50B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70485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B762"/>
              </a:gs>
              <a:gs pos="54000">
                <a:srgbClr val="23C7D9"/>
              </a:gs>
              <a:gs pos="100000">
                <a:srgbClr val="A78BFA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7012C-C8BA-4A06-BB93-C4FB244B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1F2E8-17FA-44A8-9754-E968FA1D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9577581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06BF1B-304C-485A-B0C7-EBFB8950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A6D7E-870F-41F9-BEB6-F38C099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F51AA-3805-42C3-8BD3-006B68FD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97D3D-928F-4A53-B71A-556DBCA4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F73C6-5F34-482C-9348-D6753659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6DBFC-575B-4B75-B4B9-6525512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CALCULATION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F4938-6778-49ED-B47B-4FBB1EAB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Outcome forecasts are directional probability scores, not exact lift percentages.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7CBD7-5C3F-4303-80C4-FDD1B84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core equation is: Expected Campaign Outcome = Media Delivery Quality × Creative Response Probability × Platform / Format Fit × Category Elasticity × Brand Baseline Strength. AdCritIQ currently predicts the middle two layers.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BC68E-7223-487C-8EB2-593C7FF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CC426-6B20-4E0D-83B0-8F534014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530EF-30E0-488E-892B-824D2F80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905E8-F7ED-45AD-97BE-F1A4F8F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9CD46-9AAC-4E31-B865-0406CC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Creative Response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24EF8-8E6C-4E86-B7AF-47018F6A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0764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Whether the asset can create attention, memory, preference or 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5BDE6-687D-4951-81EF-BBABA199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49EA5-C79F-47DF-90E3-FAEB95EF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Platform / Format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6095E-E95E-4CE6-BA84-82C632FE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194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Whether the asset suits the channel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49A0A-58F9-4BE0-BD97-6442941E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0A412-B82B-4902-AD2A-3F91D1DF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Not ingested yet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6BF6C-7958-4301-8DF8-8B59375D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56235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Reach, frequency, targeting, CPM/CPC, sales and brand baseline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514A5-2A1B-4E41-8B20-EA68F68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B4F22-44B6-405F-95C7-9BB244EA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155448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389F0-78FF-4C3B-90F0-0DF2E6E9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305300"/>
            <a:ext cx="26517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Decision guidance before media; validate later with in-market results.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F3A425-BF99-495D-A5AB-686C03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1C625-AB09-4A36-89F7-047910CF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612087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D0695-B1A9-4C7A-8082-7D0C3379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22352-7C5E-4E35-8480-110D724A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BC4AB-CB9F-4618-A65F-19367116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50517-D351-4FA3-801E-1C911316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906D5-2137-4CD9-B660-3E358F5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B60A5-4D7E-4DF4-A445-8EEFB71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SCORE BANDS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71360-38B9-4CC9-A794-AE782EF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How CMOs should read the numbers.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EBC81-EA84-4B02-9AEF-895D3C79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Scores should be treated as readiness bands. They help decide whether to scale, test, fix or reject; they should not be described as guaranteed sales lift.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1E1CE-C46C-4E85-BE35-C34209C4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37737-0F50-4892-91B6-D9FD857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23A16-C333-41CF-A815-8023C2B5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Boardroom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7DD40-63C5-4DE1-BBD7-EF3EA368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38325"/>
            <a:ext cx="457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59711-4496-4F4D-98F5-7CDFDB33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15544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85–100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D16C8-3B3F-4B11-9B07-2446949B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952625"/>
            <a:ext cx="26517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High probability / scale-ready if media plan is sound.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B6DAA-7455-47E8-BEAC-05E7FDE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457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A8CA4-FEC6-4B8D-A347-1B50AC8D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5544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70–84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E2F99-BA7B-43BA-BC5D-0F572726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571750"/>
            <a:ext cx="26517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Strong probability / media-ready with minor optimization.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83370-3680-4B42-BB67-CA9F4CB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76575"/>
            <a:ext cx="457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7FE74-2700-492E-BC36-617DF39D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90875"/>
            <a:ext cx="15544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55–69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22E0C-9C5C-4E0F-806D-0288161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190875"/>
            <a:ext cx="26517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Moderate probability / test before scaling.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7F272-1367-4807-844F-4CBD32B3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457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32FD1-99EB-40F1-83A9-992A8ED6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10000"/>
            <a:ext cx="15544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40–54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E77D0-2293-40BF-B106-E2E5A25C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810000"/>
            <a:ext cx="26517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At risk / creative fix recommended.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B823A-5A2D-4B21-A35A-F89FC4E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14825"/>
            <a:ext cx="4572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76F56-BDE1-438B-9891-8ED28141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29125"/>
            <a:ext cx="15544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0–39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C33DC-72DD-4E3F-9A82-B77717BD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429125"/>
            <a:ext cx="26517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High wastage risk / do not scale without revision.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53E790-6980-499D-BEEC-E6C5B633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E0E6D-72C7-4AE9-A136-667B87AC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9797669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D076A6-ACDA-4A90-B361-FA918F1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9D127-6C0F-436D-876D-88EA3D2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4BF5C-AD1F-4107-8C53-2196709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8AAB0-6367-4217-A0AC-78EAF50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C3CD4-AF11-4A70-A09F-E7CDA09B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E4D7D-F762-4885-A065-1BFE311F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RESEARCH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2C5D8-333A-498A-B6F9-7138FC2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science supports the logic; the product remains conservative in its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1952C-6171-44B2-9478-890F45F9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references published research such as TRIBE v2, LAMBDA memorability, Ehrenberg-Bass mental availability, Kahneman, Damasio, Nelson-Field and Binet &amp; Field. These frameworks inform scoring language and interpretation.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28D52-0738-4DD4-A9EC-CE34EC4D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E4054-342F-4B5F-9CAD-674C3A1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0B326-4741-42A6-B77A-C0FDF155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TRIBE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0C0A2-8059-4581-85A6-0F8145C4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Published multimodal brain-response foundation model; referenced, not run live.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DE447-98E4-4B92-BD72-2DC7DEEA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B050D-0083-4353-AC91-E657CCA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E6127-7849-4A1D-BEEE-C3092D67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LAMBDA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4DC73-7511-4444-81AB-811E38F9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Multimodal long-term ad memorability research.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87A9C-D608-480F-8241-8F3ABE28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B226E-4043-4128-A413-353C2C1F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FF27B-187F-44C3-8A18-FC181EC6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Ehrenberg-Bass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AF657-BA35-46B1-8913-4B5F90EB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Distinctive assets and mental availability.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3F6B3-0F2A-496A-83AC-2E86AA3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F81F0-1CD3-4A8D-A4AC-99ED707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6EF47-86F3-4F09-8C22-FC54A937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Kahneman / Damasio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33D60-43F7-4309-88B9-D42343C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Peak-end, System 1/2 and emotion-linked memory.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CFDA0-2683-4CCA-8EEF-8DBEAD31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58640-4ED6-47BB-BEE1-676DC69F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0511454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4E607-C07F-49E7-A952-2537309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E4ACC-7E48-44BA-B82C-E8F553FC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AABC9-ABB0-4056-92E5-4A08E854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DA13D-C028-4771-9750-45C5E1A0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A6E41-2F53-47FA-81DA-5250EF7B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SECTION 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018CC-B527-470F-BED3-C8A36A95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Enterprise use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CAB6D-C777-420D-A0BD-9AFCC878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strongest use cases sit where creative decisions are expensive, repeated, and politically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87C38-B33C-4942-856E-547DCB1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70485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7B762"/>
              </a:gs>
              <a:gs pos="54000">
                <a:srgbClr val="23C7D9"/>
              </a:gs>
              <a:gs pos="100000">
                <a:srgbClr val="A78BFA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C1A6-4FC6-45C6-9305-E695286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12FCA-99B5-4BF6-9165-C7806AAC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9866207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9B2E7-4ABB-4D61-BE01-2202C841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1FDA6-EC05-4B3B-9C51-19E71544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5D469-4837-4ACE-B2B4-6CB5923B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27D40-3AAF-403B-972C-FBC00E6D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CD4BB-0AEA-45B1-8B0F-6B66D0A2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78E54-7B59-4BD4-8439-20061D9D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USE-CASE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ADC6B-42BF-42B7-8EFE-25FB806D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Ten enterprise workflows AdCritIQ can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0A79C-E738-4DE4-B8AD-019B40E2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product is most valuable when it becomes part of the regular creative review and learning cadence.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A3CD0-F20D-4B82-A80F-E0F278C9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572000" cy="511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333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73325-A654-4E36-834B-619D95D1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33500"/>
            <a:ext cx="155448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793F1-3BB4-4CF6-9768-F5F17670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333500"/>
            <a:ext cx="265176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B7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B762"/>
                </a:solidFill>
                <a:latin typeface="Aptos"/>
                <a:ea typeface="Aptos"/>
                <a:cs typeface="Aptos"/>
              </a:rPr>
              <a:t>Business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44856-0359-4D0A-BA95-F585BFA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49879"/>
            <a:ext cx="4572000" cy="511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4E540-DDA0-4F0E-8D92-9BD7FFAD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4179"/>
            <a:ext cx="155448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FMCG pre-testing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3E325-325D-41C3-85C2-9599C65A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1864179"/>
            <a:ext cx="265176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Prioritize assets before media spend.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C1E03-1E2C-41F3-8150-F10A328C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0557"/>
            <a:ext cx="4572000" cy="511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8DD6F-5042-4C97-BC74-59DEA02F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94857"/>
            <a:ext cx="155448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Global localization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3E218-9671-4E19-9D77-A08CB11D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394857"/>
            <a:ext cx="265176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Protect brand DNA across markets.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A7E9F-EE5F-4A38-A6CF-4F22EB9A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1236"/>
            <a:ext cx="4572000" cy="511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2D792-9896-4233-9D10-4B424830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25536"/>
            <a:ext cx="155448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Competitive benchmarking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CAF23-C3F4-4913-AA86-878C6008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925536"/>
            <a:ext cx="265176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Track category creative pressure.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B8BFB-E852-4D04-835B-634B23DA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41914"/>
            <a:ext cx="4572000" cy="511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FEED3-F76D-4B60-84A2-C7F0828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56214"/>
            <a:ext cx="155448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Agency strategy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31C6E-978D-4160-9924-E21C106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456214"/>
            <a:ext cx="265176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Defend routes with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E6762-5E49-4E36-BB0C-5B92E779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72593"/>
            <a:ext cx="4572000" cy="511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089D7-720D-482A-AD7A-632D826B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86893"/>
            <a:ext cx="155448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Retail media optimization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4C673-01EE-4F1D-8875-2B5DF1AA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986893"/>
            <a:ext cx="265176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Improve CTA and product salience.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58014-6DEC-4E3E-8E22-E248C91C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3271"/>
            <a:ext cx="4572000" cy="511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B42901-1CEE-4195-99C6-DAA2F52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17571"/>
            <a:ext cx="155448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F2E8"/>
                </a:solidFill>
                <a:latin typeface="Aptos Mono"/>
                <a:ea typeface="Aptos Mono"/>
                <a:cs typeface="Aptos Mono"/>
              </a:rPr>
              <a:t>Brand 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1EDE2-3620-4317-BF45-D73E0C7F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4517571"/>
            <a:ext cx="2651760" cy="359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Reduce compliance and consistency risk.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9F674-F089-4951-BF38-38251E4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84CD39-9FFC-4B2B-8CD6-40EC093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6785361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5DBA4-7ECF-41E8-A80F-90E851AF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CA160-A7F2-422D-A681-8E6B1D2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5F563-493F-4D9D-8776-F494A581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70252-6DC3-4C7A-BCE9-8BA8E1D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0EDB6-B5D5-437F-9043-A9CF72F0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43C10-DF18-48A5-ABD9-E2D52247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PILOT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5232F-FAB6-431A-8646-49717D19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A practical enterprise pilot can prove value in 4–6 weeks.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2DE1D-34D9-4F3F-A381-1378B9E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Start with one priority brand or category. Analyse 20–50 assets, include a competitor set, build baseline score bands, and close with a CMO workshop that identifies fixes, scale candidates and learning opportunities.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742E2-1E3E-443D-B17E-4853F5E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1215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DB456-B6F0-466E-AEE1-C1461F86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0175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Select brand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3012F-0D48-407E-BC80-36033602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621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70545-8A3E-4EA2-B931-4B79B874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05025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Upload 20–50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8413D-2064-4E6F-A1A4-1E5D62F0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78D45-F062-4903-B5BA-758DEBD6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Benchmark + forecast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D82B4-EC8C-4257-97C7-D93A2457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>
              <a:alpha val="10196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19AD9-F5C6-47FF-8DBD-1199C1E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CMO workshop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6F82F-511E-4443-A3CE-3CF129F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45594-C9E6-4A8E-B3CC-728DD21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8"/>
                </a:solidFill>
                <a:latin typeface="Aptos"/>
                <a:ea typeface="Aptos"/>
                <a:cs typeface="Aptos"/>
              </a:rPr>
              <a:t>Rollout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A61BA-B912-4C6A-A756-830A324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4292A-14D8-47F1-8499-4693363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5485719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B3669-74D3-426B-AA6E-18D478CB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34934-924B-4506-8183-7973DD6E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4BD3B-9604-4F08-A4C2-6A06F41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E29D4-7FF6-4BF3-B77D-80201E4D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EB42A-663F-4063-8328-C6546438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A811F-6B83-45AA-B810-F106D30C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COMMERCIAL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87E76-1746-4909-8ACF-CD01216D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Package the platform around usage, teams and learning depth.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AFD3D-0D51-4575-A0D3-ADF717F1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The product can start with analysis credits and expand into enterprise subscriptions, agency licenses, market-level access, competitive intelligence modules and Brand DNA / certification add-ons.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21EF6-1D91-4886-8F6D-EAA2F060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5690F-5081-43FC-AC29-77E81B3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CA5EE-B520-496B-9D3C-176C0B81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Pilot fee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B28BE-A5A9-45CF-9D40-77410D09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Scoped diagnostic sprint.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05020-5CAD-4927-BA73-E6B0FF2F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8C1A7-74C5-41B5-ACE4-534F4DA5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0EB73-11F7-4E1C-AB16-31C46FA2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Enterprise SaaS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54951-4674-4E83-BC65-C9575FE1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/ market / region license.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8F722-F751-4B7A-BE45-2D2BEBC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A6832-360F-4A0D-94C6-47CA9EF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915C0-DFAC-4D90-9E79-BA2B4B6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Agency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32E0A-1551-4C10-A72C-6ECF10B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Multi-client creative intelligence seat.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E661A-81DD-4A95-A208-73EC69DB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95513-DCF3-43C3-AF55-E89B60D0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EEA99-CE98-4846-AD7A-4C7EEBAE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Add-ons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B69FF-84FD-493D-B0C3-A5CD27B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Brand DNA, Competitive Intel, certification.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51501-80CE-43F7-974F-09DC18C8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61809-4056-45E7-9B00-D759FD16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01960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7FFED-D8F8-4710-82C1-7C3E5F99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BC472-6011-4875-9C9D-F394BC8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70D"/>
              </a:gs>
              <a:gs pos="55000">
                <a:srgbClr val="11111A"/>
              </a:gs>
              <a:gs pos="100000">
                <a:srgbClr val="05050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CBB3E-D1E7-488E-80D9-A1652623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762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79CA8-A9F8-4EE7-8A39-807BAC86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C7D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FE3C3-0964-4988-9C60-E4ECF261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74D22-5EF3-498C-9506-0F74F8ED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WHY ADCRITIQ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CE179-3175-464D-B1B4-9950B5FE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657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2E8"/>
                </a:solidFill>
                <a:latin typeface="Aptos Display"/>
                <a:ea typeface="Aptos Display"/>
                <a:cs typeface="Aptos Display"/>
              </a:rPr>
              <a:t>The client value is not another dashboard; it is a better creative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3C28A-0720-406C-A260-F382CE6F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19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AdCritIQ helps enterprises decide earlier, align faster and learn continuously. It gives creative, media and brand teams a shared evidence language before money is committed.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EA325-E306-4BBA-B7EE-89DB59AA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D30AF-1BB1-4A70-9E36-CA8A95A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7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CF839-61EE-4FB6-B3D0-A864BFC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Before 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C60AC-4D46-479B-9AA8-927EEC3A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Fix ideas when fixes are cheap.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5233D-7344-4725-B728-C89BD32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374C0-B009-4533-BA94-24131DA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893ED-B93E-4009-B0B2-4AFC5CFC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0492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3C7D9"/>
                </a:solidFill>
                <a:latin typeface="Aptos Mono"/>
                <a:ea typeface="Aptos Mono"/>
                <a:cs typeface="Aptos Mono"/>
              </a:rPr>
              <a:t>Before 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4955F-D766-4622-92E7-DD4B6CD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6210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Know if exposure is likely to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AE86C-D1F9-40EB-A76E-09121B83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15CCB-9D21-459B-A84C-A2B563A6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8C9D3-6B58-4B8A-8599-0D99F01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6D82"/>
                </a:solidFill>
                <a:latin typeface="Aptos Mono"/>
                <a:ea typeface="Aptos Mono"/>
                <a:cs typeface="Aptos Mono"/>
              </a:rPr>
              <a:t>Before blame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D7D76-35B0-4880-A0A1-87B6F20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Separate creative risk from media risk.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44150-B361-4A6F-924F-E6E48F1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D9A78-61EB-4366-900C-8694FD8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3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07C67-1105-4ACD-9757-693D4B10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895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3D394"/>
                </a:solidFill>
                <a:latin typeface="Aptos Mono"/>
                <a:ea typeface="Aptos Mono"/>
                <a:cs typeface="Aptos Mono"/>
              </a:rPr>
              <a:t>After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05700-6EA3-47B5-89C5-52814CF5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895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6B1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B1CE"/>
                </a:solidFill>
                <a:latin typeface="Aptos"/>
                <a:ea typeface="Aptos"/>
                <a:cs typeface="Aptos"/>
              </a:rPr>
              <a:t>Build brand-specific creative intelligence.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967D1-8603-41D6-B374-A0706ADA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7728F"/>
                </a:solidFill>
                <a:latin typeface="Aptos Mono"/>
                <a:ea typeface="Aptos Mono"/>
                <a:cs typeface="Aptos Mono"/>
              </a:rPr>
              <a:t>AdCritIQ Product Master Deck  ·  AdCritIQ™  ·  Just the signal before the spend.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23E17-806F-4FDB-AE8A-7E265096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7B762"/>
                </a:solidFill>
                <a:latin typeface="Aptos Mono"/>
                <a:ea typeface="Aptos Mono"/>
                <a:cs typeface="Aptos Mono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27135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2026-06-13T13:32:20.9980000Z</dcterms:created>
  <dcterms:modified xsi:type="dcterms:W3CDTF">2026-06-13T13:32:20.9980000Z</dcterms:modified>
</coreProperties>
</file>