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70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E4B06C0-BDE7-449F-B3AA-F2E16A58E9D7}"/>
              </a:ext>
            </a:extLst>
          </p:cNvPr>
          <p:cNvSpPr>
            <a:spLocks noGrp="1"/>
          </p:cNvSpPr>
          <p:nvPr/>
        </p:nvSpPr>
        <p:spPr>
          <a:xfrm>
            <a:off x="0" y="0"/>
            <a:ext cx="12192000" cy="6858000"/>
          </a:xfrm>
          <a:prstGeom prst="rect">
            <a:avLst/>
          </a:prstGeom>
          <a:solidFill>
            <a:srgbClr val="07070D"/>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53A12090-9687-4EE6-9A7B-3277F348E807}"/>
              </a:ext>
            </a:extLst>
          </p:cNvPr>
          <p:cNvSpPr>
            <a:spLocks noGrp="1"/>
          </p:cNvSpPr>
          <p:nvPr/>
        </p:nvSpPr>
        <p:spPr>
          <a:xfrm>
            <a:off x="0" y="0"/>
            <a:ext cx="12192000" cy="6858000"/>
          </a:xfrm>
          <a:prstGeom prst="rect">
            <a:avLst/>
          </a:prstGeom>
          <a:gradFill>
            <a:gsLst>
              <a:gs pos="0">
                <a:srgbClr val="07070D"/>
              </a:gs>
              <a:gs pos="55000">
                <a:srgbClr val="11111A"/>
              </a:gs>
              <a:gs pos="100000">
                <a:srgbClr val="050509"/>
              </a:gs>
            </a:gsLst>
            <a:lin ang="8100000"/>
          </a:gradFill>
          <a:ln w="0">
            <a:solidFill>
              <a:srgbClr val="000000">
                <a:alpha val="0"/>
              </a:srgbClr>
            </a:solidFill>
            <a:prstDash val="solid"/>
          </a:ln>
        </p:spPr>
        <p:txBody>
          <a:bodyPr/>
          <a:lstStyle/>
          <a:p>
            <a:endParaRPr lang="en-US"/>
          </a:p>
        </p:txBody>
      </p:sp>
      <p:sp>
        <p:nvSpPr>
          <p:cNvPr id="3" name="Oval 2">
            <a:extLst>
              <a:ext uri="{FF2B5EF4-FFF2-40B4-BE49-F238E27FC236}">
                <a16:creationId xmlns:a16="http://schemas.microsoft.com/office/drawing/2014/main" id="{FEA05115-DD6A-4C98-9D7A-30B7DDF4D172}"/>
              </a:ext>
            </a:extLst>
          </p:cNvPr>
          <p:cNvSpPr>
            <a:spLocks noGrp="1"/>
          </p:cNvSpPr>
          <p:nvPr/>
        </p:nvSpPr>
        <p:spPr>
          <a:xfrm>
            <a:off x="-1143000" y="-1714500"/>
            <a:ext cx="4953000" cy="4953000"/>
          </a:xfrm>
          <a:prstGeom prst="ellipse">
            <a:avLst/>
          </a:prstGeom>
          <a:solidFill>
            <a:srgbClr val="D7B762">
              <a:alpha val="8627"/>
            </a:srgbClr>
          </a:solidFill>
          <a:ln w="0">
            <a:solidFill>
              <a:srgbClr val="000000">
                <a:alpha val="0"/>
              </a:srgbClr>
            </a:solidFill>
            <a:prstDash val="solid"/>
          </a:ln>
        </p:spPr>
        <p:txBody>
          <a:bodyPr/>
          <a:lstStyle/>
          <a:p>
            <a:endParaRPr lang="en-US"/>
          </a:p>
        </p:txBody>
      </p:sp>
      <p:sp>
        <p:nvSpPr>
          <p:cNvPr id="4" name="Oval 3">
            <a:extLst>
              <a:ext uri="{FF2B5EF4-FFF2-40B4-BE49-F238E27FC236}">
                <a16:creationId xmlns:a16="http://schemas.microsoft.com/office/drawing/2014/main" id="{597ACD6B-3848-43BE-8327-7494045F54FB}"/>
              </a:ext>
            </a:extLst>
          </p:cNvPr>
          <p:cNvSpPr>
            <a:spLocks noGrp="1"/>
          </p:cNvSpPr>
          <p:nvPr/>
        </p:nvSpPr>
        <p:spPr>
          <a:xfrm>
            <a:off x="8763000" y="4762500"/>
            <a:ext cx="4762500" cy="4762500"/>
          </a:xfrm>
          <a:prstGeom prst="ellipse">
            <a:avLst/>
          </a:prstGeom>
          <a:solidFill>
            <a:srgbClr val="23C7D9">
              <a:alpha val="7059"/>
            </a:srgbClr>
          </a:solidFill>
          <a:ln w="0">
            <a:solidFill>
              <a:srgbClr val="000000">
                <a:alpha val="0"/>
              </a:srgbClr>
            </a:solidFill>
            <a:prstDash val="solid"/>
          </a:ln>
        </p:spPr>
        <p:txBody>
          <a:bodyPr/>
          <a:lstStyle/>
          <a:p>
            <a:endParaRPr lang="en-US"/>
          </a:p>
        </p:txBody>
      </p:sp>
      <p:pic>
        <p:nvPicPr>
          <p:cNvPr id="5" name="Picture 4"/>
          <p:cNvPicPr>
            <a:picLocks noChangeAspect="1"/>
          </p:cNvPicPr>
          <p:nvPr/>
        </p:nvPicPr>
        <p:blipFill>
          <a:blip r:embed="rId3"/>
          <a:stretch/>
        </p:blipFill>
        <p:spPr>
          <a:xfrm>
            <a:off x="689967" y="514350"/>
            <a:ext cx="2325291" cy="723424"/>
          </a:xfrm>
          <a:prstGeom prst="rect">
            <a:avLst/>
          </a:prstGeom>
        </p:spPr>
      </p:pic>
      <p:sp>
        <p:nvSpPr>
          <p:cNvPr id="6" name="Rectangle 5">
            <a:extLst>
              <a:ext uri="{FF2B5EF4-FFF2-40B4-BE49-F238E27FC236}">
                <a16:creationId xmlns:a16="http://schemas.microsoft.com/office/drawing/2014/main" id="{9F1B6E96-672D-4D45-832A-C35B7198F210}"/>
              </a:ext>
            </a:extLst>
          </p:cNvPr>
          <p:cNvSpPr>
            <a:spLocks noGrp="1"/>
          </p:cNvSpPr>
          <p:nvPr/>
        </p:nvSpPr>
        <p:spPr>
          <a:xfrm>
            <a:off x="742950" y="1695450"/>
            <a:ext cx="723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D7B762"/>
                </a:solidFill>
                <a:latin typeface="Aptos Mono"/>
                <a:ea typeface="Aptos Mono"/>
                <a:cs typeface="Aptos Mono"/>
              </a:defRPr>
            </a:pPr>
            <a:r>
              <a:rPr sz="975" b="1">
                <a:solidFill>
                  <a:srgbClr val="D7B762"/>
                </a:solidFill>
                <a:latin typeface="Aptos Mono"/>
                <a:ea typeface="Aptos Mono"/>
                <a:cs typeface="Aptos Mono"/>
              </a:rPr>
              <a:t>METHODOLOGY + EVIDENCE</a:t>
            </a:r>
          </a:p>
        </p:txBody>
      </p:sp>
      <p:sp>
        <p:nvSpPr>
          <p:cNvPr id="7" name="Rectangle 6">
            <a:extLst>
              <a:ext uri="{FF2B5EF4-FFF2-40B4-BE49-F238E27FC236}">
                <a16:creationId xmlns:a16="http://schemas.microsoft.com/office/drawing/2014/main" id="{4C73BBB2-C88F-4AC6-9390-9490618D97F4}"/>
              </a:ext>
            </a:extLst>
          </p:cNvPr>
          <p:cNvSpPr>
            <a:spLocks noGrp="1"/>
          </p:cNvSpPr>
          <p:nvPr/>
        </p:nvSpPr>
        <p:spPr>
          <a:xfrm>
            <a:off x="742950" y="2095500"/>
            <a:ext cx="8096250" cy="1428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4050" b="1">
                <a:solidFill>
                  <a:srgbClr val="F6F2E8"/>
                </a:solidFill>
                <a:latin typeface="Aptos Display"/>
                <a:ea typeface="Aptos Display"/>
                <a:cs typeface="Aptos Display"/>
              </a:defRPr>
            </a:pPr>
            <a:r>
              <a:rPr sz="4050" b="1">
                <a:solidFill>
                  <a:srgbClr val="F6F2E8"/>
                </a:solidFill>
                <a:latin typeface="Aptos Display"/>
                <a:ea typeface="Aptos Display"/>
                <a:cs typeface="Aptos Display"/>
              </a:rPr>
              <a:t>How AdCritIQ translates creative signals into boardroom decisions.</a:t>
            </a:r>
          </a:p>
        </p:txBody>
      </p:sp>
      <p:sp>
        <p:nvSpPr>
          <p:cNvPr id="8" name="Rectangle 7">
            <a:extLst>
              <a:ext uri="{FF2B5EF4-FFF2-40B4-BE49-F238E27FC236}">
                <a16:creationId xmlns:a16="http://schemas.microsoft.com/office/drawing/2014/main" id="{A5828064-2982-4CAC-B522-C71DEDE075AC}"/>
              </a:ext>
            </a:extLst>
          </p:cNvPr>
          <p:cNvSpPr>
            <a:spLocks noGrp="1"/>
          </p:cNvSpPr>
          <p:nvPr/>
        </p:nvSpPr>
        <p:spPr>
          <a:xfrm>
            <a:off x="781050" y="3810000"/>
            <a:ext cx="6858000" cy="10001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B6B1CE"/>
                </a:solidFill>
                <a:latin typeface="Aptos"/>
                <a:ea typeface="Aptos"/>
                <a:cs typeface="Aptos"/>
              </a:defRPr>
            </a:pPr>
            <a:r>
              <a:rPr sz="1575" b="0">
                <a:solidFill>
                  <a:srgbClr val="B6B1CE"/>
                </a:solidFill>
                <a:latin typeface="Aptos"/>
                <a:ea typeface="Aptos"/>
                <a:cs typeface="Aptos"/>
              </a:rPr>
              <a:t>A methodology explainer for CMOs, insights teams, procurement, partners and investors.</a:t>
            </a:r>
          </a:p>
        </p:txBody>
      </p:sp>
      <p:sp>
        <p:nvSpPr>
          <p:cNvPr id="9" name="Rectangle 8">
            <a:extLst>
              <a:ext uri="{FF2B5EF4-FFF2-40B4-BE49-F238E27FC236}">
                <a16:creationId xmlns:a16="http://schemas.microsoft.com/office/drawing/2014/main" id="{6E02A19E-0C0B-4700-9305-369BDF14BB4B}"/>
              </a:ext>
            </a:extLst>
          </p:cNvPr>
          <p:cNvSpPr>
            <a:spLocks noGrp="1"/>
          </p:cNvSpPr>
          <p:nvPr/>
        </p:nvSpPr>
        <p:spPr>
          <a:xfrm>
            <a:off x="8382000" y="1504950"/>
            <a:ext cx="2667000" cy="3143250"/>
          </a:xfrm>
          <a:prstGeom prst="rect">
            <a:avLst/>
          </a:prstGeom>
          <a:solidFill>
            <a:srgbClr val="FFFFFF">
              <a:alpha val="3137"/>
            </a:srgbClr>
          </a:solidFill>
          <a:ln w="9525">
            <a:solidFill>
              <a:srgbClr val="D7B762">
                <a:alpha val="26667"/>
              </a:srgbClr>
            </a:solidFill>
            <a:prstDash val="solid"/>
          </a:ln>
        </p:spPr>
        <p:txBody>
          <a:bodyPr/>
          <a:lstStyle/>
          <a:p>
            <a:endParaRPr lang="en-US"/>
          </a:p>
        </p:txBody>
      </p:sp>
      <p:sp>
        <p:nvSpPr>
          <p:cNvPr id="10" name="Rectangle 9">
            <a:extLst>
              <a:ext uri="{FF2B5EF4-FFF2-40B4-BE49-F238E27FC236}">
                <a16:creationId xmlns:a16="http://schemas.microsoft.com/office/drawing/2014/main" id="{579454FD-E199-45B7-85F3-CDFD66CC079A}"/>
              </a:ext>
            </a:extLst>
          </p:cNvPr>
          <p:cNvSpPr>
            <a:spLocks noGrp="1"/>
          </p:cNvSpPr>
          <p:nvPr/>
        </p:nvSpPr>
        <p:spPr>
          <a:xfrm>
            <a:off x="8382000" y="1504950"/>
            <a:ext cx="38100" cy="3143250"/>
          </a:xfrm>
          <a:prstGeom prst="rect">
            <a:avLst/>
          </a:prstGeom>
          <a:solidFill>
            <a:srgbClr val="D7B762"/>
          </a:solidFill>
          <a:ln w="0">
            <a:solidFill>
              <a:srgbClr val="000000">
                <a:alpha val="0"/>
              </a:srgbClr>
            </a:solidFill>
            <a:prstDash val="solid"/>
          </a:ln>
        </p:spPr>
        <p:txBody>
          <a:bodyPr/>
          <a:lstStyle/>
          <a:p>
            <a:endParaRPr lang="en-US"/>
          </a:p>
        </p:txBody>
      </p:sp>
      <p:sp>
        <p:nvSpPr>
          <p:cNvPr id="11" name="Rectangle 10">
            <a:extLst>
              <a:ext uri="{FF2B5EF4-FFF2-40B4-BE49-F238E27FC236}">
                <a16:creationId xmlns:a16="http://schemas.microsoft.com/office/drawing/2014/main" id="{7602B892-6EB5-4CD4-AF5B-AA75C1324F5C}"/>
              </a:ext>
            </a:extLst>
          </p:cNvPr>
          <p:cNvSpPr>
            <a:spLocks noGrp="1"/>
          </p:cNvSpPr>
          <p:nvPr/>
        </p:nvSpPr>
        <p:spPr>
          <a:xfrm>
            <a:off x="8667750" y="1857375"/>
            <a:ext cx="2095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F6F2E8"/>
                </a:solidFill>
                <a:latin typeface="Aptos"/>
                <a:ea typeface="Aptos"/>
                <a:cs typeface="Aptos"/>
              </a:defRPr>
            </a:pPr>
            <a:r>
              <a:rPr sz="1500" b="1">
                <a:solidFill>
                  <a:srgbClr val="F6F2E8"/>
                </a:solidFill>
                <a:latin typeface="Aptos"/>
                <a:ea typeface="Aptos"/>
                <a:cs typeface="Aptos"/>
              </a:rPr>
              <a:t>Positioning guardrail</a:t>
            </a:r>
          </a:p>
        </p:txBody>
      </p:sp>
      <p:sp>
        <p:nvSpPr>
          <p:cNvPr id="12" name="Rectangle 11">
            <a:extLst>
              <a:ext uri="{FF2B5EF4-FFF2-40B4-BE49-F238E27FC236}">
                <a16:creationId xmlns:a16="http://schemas.microsoft.com/office/drawing/2014/main" id="{A03E2250-319A-498E-8C3B-50000AFFE6E2}"/>
              </a:ext>
            </a:extLst>
          </p:cNvPr>
          <p:cNvSpPr>
            <a:spLocks noGrp="1"/>
          </p:cNvSpPr>
          <p:nvPr/>
        </p:nvSpPr>
        <p:spPr>
          <a:xfrm>
            <a:off x="8667750" y="2381250"/>
            <a:ext cx="2000250" cy="1428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B6B1CE"/>
                </a:solidFill>
                <a:latin typeface="Aptos"/>
                <a:ea typeface="Aptos"/>
                <a:cs typeface="Aptos"/>
              </a:defRPr>
            </a:pPr>
            <a:r>
              <a:rPr sz="1125" b="0">
                <a:solidFill>
                  <a:srgbClr val="B6B1CE"/>
                </a:solidFill>
                <a:latin typeface="Aptos"/>
                <a:ea typeface="Aptos"/>
                <a:cs typeface="Aptos"/>
              </a:rPr>
              <a:t>• Predictive, not biometric</a:t>
            </a:r>
          </a:p>
          <a:p>
            <a:pPr algn="l">
              <a:defRPr sz="1125" b="0">
                <a:solidFill>
                  <a:srgbClr val="B6B1CE"/>
                </a:solidFill>
                <a:latin typeface="Aptos"/>
                <a:ea typeface="Aptos"/>
                <a:cs typeface="Aptos"/>
              </a:defRPr>
            </a:pPr>
            <a:r>
              <a:rPr sz="1125" b="0">
                <a:solidFill>
                  <a:srgbClr val="B6B1CE"/>
                </a:solidFill>
                <a:latin typeface="Aptos"/>
                <a:ea typeface="Aptos"/>
                <a:cs typeface="Aptos"/>
              </a:rPr>
              <a:t>• Directional, not guaranteed</a:t>
            </a:r>
          </a:p>
          <a:p>
            <a:pPr algn="l">
              <a:defRPr sz="1125" b="0">
                <a:solidFill>
                  <a:srgbClr val="B6B1CE"/>
                </a:solidFill>
                <a:latin typeface="Aptos"/>
                <a:ea typeface="Aptos"/>
                <a:cs typeface="Aptos"/>
              </a:defRPr>
            </a:pPr>
            <a:r>
              <a:rPr sz="1125" b="0">
                <a:solidFill>
                  <a:srgbClr val="B6B1CE"/>
                </a:solidFill>
                <a:latin typeface="Aptos"/>
                <a:ea typeface="Aptos"/>
                <a:cs typeface="Aptos"/>
              </a:rPr>
              <a:t>• Decision support, not creative replacement</a:t>
            </a:r>
          </a:p>
        </p:txBody>
      </p:sp>
      <p:sp>
        <p:nvSpPr>
          <p:cNvPr id="13" name="Rectangle 12">
            <a:extLst>
              <a:ext uri="{FF2B5EF4-FFF2-40B4-BE49-F238E27FC236}">
                <a16:creationId xmlns:a16="http://schemas.microsoft.com/office/drawing/2014/main" id="{558DCABE-D0B2-4848-A3CC-68DFAFD59088}"/>
              </a:ext>
            </a:extLst>
          </p:cNvPr>
          <p:cNvSpPr>
            <a:spLocks noGrp="1"/>
          </p:cNvSpPr>
          <p:nvPr/>
        </p:nvSpPr>
        <p:spPr>
          <a:xfrm>
            <a:off x="8667750" y="4095750"/>
            <a:ext cx="1714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D7B762"/>
                </a:solidFill>
                <a:latin typeface="Aptos Mono"/>
                <a:ea typeface="Aptos Mono"/>
                <a:cs typeface="Aptos Mono"/>
              </a:defRPr>
            </a:pPr>
            <a:r>
              <a:rPr sz="900" b="0">
                <a:solidFill>
                  <a:srgbClr val="D7B762"/>
                </a:solidFill>
                <a:latin typeface="Aptos Mono"/>
                <a:ea typeface="Aptos Mono"/>
                <a:cs typeface="Aptos Mono"/>
              </a:rPr>
              <a:t>June 2026</a:t>
            </a:r>
          </a:p>
        </p:txBody>
      </p:sp>
      <p:sp>
        <p:nvSpPr>
          <p:cNvPr id="14" name="Rectangle 13">
            <a:extLst>
              <a:ext uri="{FF2B5EF4-FFF2-40B4-BE49-F238E27FC236}">
                <a16:creationId xmlns:a16="http://schemas.microsoft.com/office/drawing/2014/main" id="{CF7A85A3-872C-4CCC-9212-82F8BAAC483B}"/>
              </a:ext>
            </a:extLst>
          </p:cNvPr>
          <p:cNvSpPr>
            <a:spLocks noGrp="1"/>
          </p:cNvSpPr>
          <p:nvPr/>
        </p:nvSpPr>
        <p:spPr>
          <a:xfrm>
            <a:off x="552450" y="6286500"/>
            <a:ext cx="8096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7728F"/>
                </a:solidFill>
                <a:latin typeface="Aptos Mono"/>
                <a:ea typeface="Aptos Mono"/>
                <a:cs typeface="Aptos Mono"/>
              </a:defRPr>
            </a:pPr>
            <a:r>
              <a:rPr sz="750" b="0">
                <a:solidFill>
                  <a:srgbClr val="77728F"/>
                </a:solidFill>
                <a:latin typeface="Aptos Mono"/>
                <a:ea typeface="Aptos Mono"/>
                <a:cs typeface="Aptos Mono"/>
              </a:rPr>
              <a:t>AdCritIQ Methodology Evidence Deck  ·  AdCritIQ™  ·  Just the signal before the spend.</a:t>
            </a:r>
          </a:p>
        </p:txBody>
      </p:sp>
      <p:sp>
        <p:nvSpPr>
          <p:cNvPr id="15" name="Rectangle 14">
            <a:extLst>
              <a:ext uri="{FF2B5EF4-FFF2-40B4-BE49-F238E27FC236}">
                <a16:creationId xmlns:a16="http://schemas.microsoft.com/office/drawing/2014/main" id="{31AFC406-4E38-4D3A-A861-5AD5A4C88AED}"/>
              </a:ext>
            </a:extLst>
          </p:cNvPr>
          <p:cNvSpPr>
            <a:spLocks noGrp="1"/>
          </p:cNvSpPr>
          <p:nvPr/>
        </p:nvSpPr>
        <p:spPr>
          <a:xfrm>
            <a:off x="11144250" y="6257925"/>
            <a:ext cx="476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0">
                <a:solidFill>
                  <a:srgbClr val="D7B762"/>
                </a:solidFill>
                <a:latin typeface="Aptos Mono"/>
                <a:ea typeface="Aptos Mono"/>
                <a:cs typeface="Aptos Mono"/>
              </a:defRPr>
            </a:pPr>
            <a:r>
              <a:rPr sz="825" b="0">
                <a:solidFill>
                  <a:srgbClr val="D7B762"/>
                </a:solidFill>
                <a:latin typeface="Aptos Mono"/>
                <a:ea typeface="Aptos Mono"/>
                <a:cs typeface="Aptos Mono"/>
              </a:rPr>
              <a:t>01</a:t>
            </a:r>
          </a:p>
        </p:txBody>
      </p:sp>
    </p:spTree>
    <p:extLst>
      <p:ext uri="{BB962C8B-B14F-4D97-AF65-F5344CB8AC3E}">
        <p14:creationId xmlns:p14="http://schemas.microsoft.com/office/powerpoint/2010/main" val="19933044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738415C0-4901-4E23-B2EE-0E8E37EC8A00}"/>
              </a:ext>
            </a:extLst>
          </p:cNvPr>
          <p:cNvSpPr>
            <a:spLocks noGrp="1"/>
          </p:cNvSpPr>
          <p:nvPr/>
        </p:nvSpPr>
        <p:spPr>
          <a:xfrm>
            <a:off x="0" y="0"/>
            <a:ext cx="12192000" cy="6858000"/>
          </a:xfrm>
          <a:prstGeom prst="rect">
            <a:avLst/>
          </a:prstGeom>
          <a:solidFill>
            <a:srgbClr val="07070D"/>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9A885293-16E1-425B-9695-E1F3D7EB994D}"/>
              </a:ext>
            </a:extLst>
          </p:cNvPr>
          <p:cNvSpPr>
            <a:spLocks noGrp="1"/>
          </p:cNvSpPr>
          <p:nvPr/>
        </p:nvSpPr>
        <p:spPr>
          <a:xfrm>
            <a:off x="0" y="0"/>
            <a:ext cx="12192000" cy="6858000"/>
          </a:xfrm>
          <a:prstGeom prst="rect">
            <a:avLst/>
          </a:prstGeom>
          <a:gradFill>
            <a:gsLst>
              <a:gs pos="0">
                <a:srgbClr val="07070D"/>
              </a:gs>
              <a:gs pos="55000">
                <a:srgbClr val="11111A"/>
              </a:gs>
              <a:gs pos="100000">
                <a:srgbClr val="050509"/>
              </a:gs>
            </a:gsLst>
            <a:lin ang="8100000"/>
          </a:gradFill>
          <a:ln w="0">
            <a:solidFill>
              <a:srgbClr val="000000">
                <a:alpha val="0"/>
              </a:srgbClr>
            </a:solidFill>
            <a:prstDash val="solid"/>
          </a:ln>
        </p:spPr>
        <p:txBody>
          <a:bodyPr/>
          <a:lstStyle/>
          <a:p>
            <a:endParaRPr lang="en-US"/>
          </a:p>
        </p:txBody>
      </p:sp>
      <p:sp>
        <p:nvSpPr>
          <p:cNvPr id="3" name="Oval 2">
            <a:extLst>
              <a:ext uri="{FF2B5EF4-FFF2-40B4-BE49-F238E27FC236}">
                <a16:creationId xmlns:a16="http://schemas.microsoft.com/office/drawing/2014/main" id="{6E516134-329F-479E-8007-E31615A7AD0F}"/>
              </a:ext>
            </a:extLst>
          </p:cNvPr>
          <p:cNvSpPr>
            <a:spLocks noGrp="1"/>
          </p:cNvSpPr>
          <p:nvPr/>
        </p:nvSpPr>
        <p:spPr>
          <a:xfrm>
            <a:off x="-1143000" y="-1714500"/>
            <a:ext cx="4953000" cy="4953000"/>
          </a:xfrm>
          <a:prstGeom prst="ellipse">
            <a:avLst/>
          </a:prstGeom>
          <a:solidFill>
            <a:srgbClr val="D7B762">
              <a:alpha val="8627"/>
            </a:srgbClr>
          </a:solidFill>
          <a:ln w="0">
            <a:solidFill>
              <a:srgbClr val="000000">
                <a:alpha val="0"/>
              </a:srgbClr>
            </a:solidFill>
            <a:prstDash val="solid"/>
          </a:ln>
        </p:spPr>
        <p:txBody>
          <a:bodyPr/>
          <a:lstStyle/>
          <a:p>
            <a:endParaRPr lang="en-US"/>
          </a:p>
        </p:txBody>
      </p:sp>
      <p:sp>
        <p:nvSpPr>
          <p:cNvPr id="4" name="Oval 3">
            <a:extLst>
              <a:ext uri="{FF2B5EF4-FFF2-40B4-BE49-F238E27FC236}">
                <a16:creationId xmlns:a16="http://schemas.microsoft.com/office/drawing/2014/main" id="{37087601-D7F1-44F1-B193-C6B8393E1C52}"/>
              </a:ext>
            </a:extLst>
          </p:cNvPr>
          <p:cNvSpPr>
            <a:spLocks noGrp="1"/>
          </p:cNvSpPr>
          <p:nvPr/>
        </p:nvSpPr>
        <p:spPr>
          <a:xfrm>
            <a:off x="8763000" y="4762500"/>
            <a:ext cx="4762500" cy="4762500"/>
          </a:xfrm>
          <a:prstGeom prst="ellipse">
            <a:avLst/>
          </a:prstGeom>
          <a:solidFill>
            <a:srgbClr val="23C7D9">
              <a:alpha val="7059"/>
            </a:srgbClr>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38F83B1B-E98E-4FE5-8332-931F63D29F91}"/>
              </a:ext>
            </a:extLst>
          </p:cNvPr>
          <p:cNvSpPr>
            <a:spLocks noGrp="1"/>
          </p:cNvSpPr>
          <p:nvPr/>
        </p:nvSpPr>
        <p:spPr>
          <a:xfrm>
            <a:off x="552450" y="6096000"/>
            <a:ext cx="11087100" cy="9525"/>
          </a:xfrm>
          <a:prstGeom prst="rect">
            <a:avLst/>
          </a:prstGeom>
          <a:solidFill>
            <a:srgbClr val="D7B762">
              <a:alpha val="33333"/>
            </a:srgbClr>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A76BCF90-3078-4A60-9DB2-F30FC4111A8F}"/>
              </a:ext>
            </a:extLst>
          </p:cNvPr>
          <p:cNvSpPr>
            <a:spLocks noGrp="1"/>
          </p:cNvSpPr>
          <p:nvPr/>
        </p:nvSpPr>
        <p:spPr>
          <a:xfrm>
            <a:off x="666750" y="876300"/>
            <a:ext cx="723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D7B762"/>
                </a:solidFill>
                <a:latin typeface="Aptos Mono"/>
                <a:ea typeface="Aptos Mono"/>
                <a:cs typeface="Aptos Mono"/>
              </a:defRPr>
            </a:pPr>
            <a:r>
              <a:rPr sz="975" b="1">
                <a:solidFill>
                  <a:srgbClr val="D7B762"/>
                </a:solidFill>
                <a:latin typeface="Aptos Mono"/>
                <a:ea typeface="Aptos Mono"/>
                <a:cs typeface="Aptos Mono"/>
              </a:rPr>
              <a:t>CORE EQUATION</a:t>
            </a:r>
          </a:p>
        </p:txBody>
      </p:sp>
      <p:sp>
        <p:nvSpPr>
          <p:cNvPr id="7" name="Rectangle 6">
            <a:extLst>
              <a:ext uri="{FF2B5EF4-FFF2-40B4-BE49-F238E27FC236}">
                <a16:creationId xmlns:a16="http://schemas.microsoft.com/office/drawing/2014/main" id="{E08A69AF-1F7B-47CB-83D9-67869873D9CC}"/>
              </a:ext>
            </a:extLst>
          </p:cNvPr>
          <p:cNvSpPr>
            <a:spLocks noGrp="1"/>
          </p:cNvSpPr>
          <p:nvPr/>
        </p:nvSpPr>
        <p:spPr>
          <a:xfrm>
            <a:off x="666750" y="1181100"/>
            <a:ext cx="6572250" cy="1809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850" b="1">
                <a:solidFill>
                  <a:srgbClr val="F6F2E8"/>
                </a:solidFill>
                <a:latin typeface="Aptos Display"/>
                <a:ea typeface="Aptos Display"/>
                <a:cs typeface="Aptos Display"/>
              </a:defRPr>
            </a:pPr>
            <a:r>
              <a:rPr sz="2850" b="1">
                <a:solidFill>
                  <a:srgbClr val="F6F2E8"/>
                </a:solidFill>
                <a:latin typeface="Aptos Display"/>
                <a:ea typeface="Aptos Display"/>
                <a:cs typeface="Aptos Display"/>
              </a:rPr>
              <a:t>Campaign outcomes are not caused by media alone.</a:t>
            </a:r>
          </a:p>
        </p:txBody>
      </p:sp>
      <p:sp>
        <p:nvSpPr>
          <p:cNvPr id="8" name="Rectangle 7">
            <a:extLst>
              <a:ext uri="{FF2B5EF4-FFF2-40B4-BE49-F238E27FC236}">
                <a16:creationId xmlns:a16="http://schemas.microsoft.com/office/drawing/2014/main" id="{A361EE1F-ECB9-4783-B616-7A6E5E798EF4}"/>
              </a:ext>
            </a:extLst>
          </p:cNvPr>
          <p:cNvSpPr>
            <a:spLocks noGrp="1"/>
          </p:cNvSpPr>
          <p:nvPr/>
        </p:nvSpPr>
        <p:spPr>
          <a:xfrm>
            <a:off x="666750" y="3095625"/>
            <a:ext cx="6191250" cy="1028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B6B1CE"/>
                </a:solidFill>
                <a:latin typeface="Aptos"/>
                <a:ea typeface="Aptos"/>
                <a:cs typeface="Aptos"/>
              </a:defRPr>
            </a:pPr>
            <a:r>
              <a:rPr sz="1575" b="0">
                <a:solidFill>
                  <a:srgbClr val="B6B1CE"/>
                </a:solidFill>
                <a:latin typeface="Aptos"/>
                <a:ea typeface="Aptos"/>
                <a:cs typeface="Aptos"/>
              </a:rPr>
              <a:t>The product’s operating frame: Expected Campaign Outcome = Media Delivery Quality × Creative Response Probability × Platform / Format Fit × Category Elasticity × Brand Baseline Strength.</a:t>
            </a:r>
          </a:p>
        </p:txBody>
      </p:sp>
      <p:sp>
        <p:nvSpPr>
          <p:cNvPr id="9" name="Rectangle 8">
            <a:extLst>
              <a:ext uri="{FF2B5EF4-FFF2-40B4-BE49-F238E27FC236}">
                <a16:creationId xmlns:a16="http://schemas.microsoft.com/office/drawing/2014/main" id="{775B488C-E435-4642-9474-F449CA1528BC}"/>
              </a:ext>
            </a:extLst>
          </p:cNvPr>
          <p:cNvSpPr>
            <a:spLocks noGrp="1"/>
          </p:cNvSpPr>
          <p:nvPr/>
        </p:nvSpPr>
        <p:spPr>
          <a:xfrm>
            <a:off x="6877050" y="1219200"/>
            <a:ext cx="4572000" cy="723900"/>
          </a:xfrm>
          <a:prstGeom prst="rect">
            <a:avLst/>
          </a:prstGeom>
          <a:solidFill>
            <a:srgbClr val="D7B762">
              <a:alpha val="13333"/>
            </a:srgbClr>
          </a:solidFill>
          <a:ln w="9525">
            <a:solidFill>
              <a:srgbClr val="FFFFFF">
                <a:alpha val="9412"/>
              </a:srgbClr>
            </a:solidFill>
            <a:prstDash val="solid"/>
          </a:ln>
        </p:spPr>
        <p:txBody>
          <a:bodyPr/>
          <a:lstStyle/>
          <a:p>
            <a:endParaRPr lang="en-US"/>
          </a:p>
        </p:txBody>
      </p:sp>
      <p:sp>
        <p:nvSpPr>
          <p:cNvPr id="10" name="Rectangle 9">
            <a:extLst>
              <a:ext uri="{FF2B5EF4-FFF2-40B4-BE49-F238E27FC236}">
                <a16:creationId xmlns:a16="http://schemas.microsoft.com/office/drawing/2014/main" id="{41BE9507-23F4-4965-8955-831924C4667B}"/>
              </a:ext>
            </a:extLst>
          </p:cNvPr>
          <p:cNvSpPr>
            <a:spLocks noGrp="1"/>
          </p:cNvSpPr>
          <p:nvPr/>
        </p:nvSpPr>
        <p:spPr>
          <a:xfrm>
            <a:off x="7010400" y="1333500"/>
            <a:ext cx="155448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D7B762"/>
                </a:solidFill>
                <a:latin typeface="Aptos Mono"/>
                <a:ea typeface="Aptos Mono"/>
                <a:cs typeface="Aptos Mono"/>
              </a:defRPr>
            </a:pPr>
            <a:r>
              <a:rPr sz="900" b="1">
                <a:solidFill>
                  <a:srgbClr val="D7B762"/>
                </a:solidFill>
                <a:latin typeface="Aptos Mono"/>
                <a:ea typeface="Aptos Mono"/>
                <a:cs typeface="Aptos Mono"/>
              </a:rPr>
              <a:t>Component</a:t>
            </a:r>
          </a:p>
        </p:txBody>
      </p:sp>
      <p:sp>
        <p:nvSpPr>
          <p:cNvPr id="11" name="Rectangle 10">
            <a:extLst>
              <a:ext uri="{FF2B5EF4-FFF2-40B4-BE49-F238E27FC236}">
                <a16:creationId xmlns:a16="http://schemas.microsoft.com/office/drawing/2014/main" id="{2B16FD2B-4CA2-4EA0-9679-B2506FF0E59A}"/>
              </a:ext>
            </a:extLst>
          </p:cNvPr>
          <p:cNvSpPr>
            <a:spLocks noGrp="1"/>
          </p:cNvSpPr>
          <p:nvPr/>
        </p:nvSpPr>
        <p:spPr>
          <a:xfrm>
            <a:off x="8614410" y="1333500"/>
            <a:ext cx="265176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D7B762"/>
                </a:solidFill>
                <a:latin typeface="Aptos"/>
                <a:ea typeface="Aptos"/>
                <a:cs typeface="Aptos"/>
              </a:defRPr>
            </a:pPr>
            <a:r>
              <a:rPr sz="900" b="0">
                <a:solidFill>
                  <a:srgbClr val="D7B762"/>
                </a:solidFill>
                <a:latin typeface="Aptos"/>
                <a:ea typeface="Aptos"/>
                <a:cs typeface="Aptos"/>
              </a:rPr>
              <a:t>AdCritIQ status</a:t>
            </a:r>
          </a:p>
        </p:txBody>
      </p:sp>
      <p:sp>
        <p:nvSpPr>
          <p:cNvPr id="12" name="Rectangle 11">
            <a:extLst>
              <a:ext uri="{FF2B5EF4-FFF2-40B4-BE49-F238E27FC236}">
                <a16:creationId xmlns:a16="http://schemas.microsoft.com/office/drawing/2014/main" id="{B6E9C2C4-045C-4022-B93A-807BAC9596B8}"/>
              </a:ext>
            </a:extLst>
          </p:cNvPr>
          <p:cNvSpPr>
            <a:spLocks noGrp="1"/>
          </p:cNvSpPr>
          <p:nvPr/>
        </p:nvSpPr>
        <p:spPr>
          <a:xfrm>
            <a:off x="6877050" y="1962150"/>
            <a:ext cx="4572000" cy="723900"/>
          </a:xfrm>
          <a:prstGeom prst="rect">
            <a:avLst/>
          </a:prstGeom>
          <a:solidFill>
            <a:srgbClr val="FFFFFF">
              <a:alpha val="2745"/>
            </a:srgbClr>
          </a:solidFill>
          <a:ln w="9525">
            <a:solidFill>
              <a:srgbClr val="FFFFFF">
                <a:alpha val="9412"/>
              </a:srgbClr>
            </a:solidFill>
            <a:prstDash val="solid"/>
          </a:ln>
        </p:spPr>
        <p:txBody>
          <a:bodyPr/>
          <a:lstStyle/>
          <a:p>
            <a:endParaRPr lang="en-US"/>
          </a:p>
        </p:txBody>
      </p:sp>
      <p:sp>
        <p:nvSpPr>
          <p:cNvPr id="13" name="Rectangle 12">
            <a:extLst>
              <a:ext uri="{FF2B5EF4-FFF2-40B4-BE49-F238E27FC236}">
                <a16:creationId xmlns:a16="http://schemas.microsoft.com/office/drawing/2014/main" id="{D1F7C7AB-AE46-4DF4-B63C-B3E037C8C56F}"/>
              </a:ext>
            </a:extLst>
          </p:cNvPr>
          <p:cNvSpPr>
            <a:spLocks noGrp="1"/>
          </p:cNvSpPr>
          <p:nvPr/>
        </p:nvSpPr>
        <p:spPr>
          <a:xfrm>
            <a:off x="7010400" y="2076450"/>
            <a:ext cx="155448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F6F2E8"/>
                </a:solidFill>
                <a:latin typeface="Aptos Mono"/>
                <a:ea typeface="Aptos Mono"/>
                <a:cs typeface="Aptos Mono"/>
              </a:defRPr>
            </a:pPr>
            <a:r>
              <a:rPr sz="825" b="1">
                <a:solidFill>
                  <a:srgbClr val="F6F2E8"/>
                </a:solidFill>
                <a:latin typeface="Aptos Mono"/>
                <a:ea typeface="Aptos Mono"/>
                <a:cs typeface="Aptos Mono"/>
              </a:rPr>
              <a:t>Creative Response Probability</a:t>
            </a:r>
          </a:p>
        </p:txBody>
      </p:sp>
      <p:sp>
        <p:nvSpPr>
          <p:cNvPr id="14" name="Rectangle 13">
            <a:extLst>
              <a:ext uri="{FF2B5EF4-FFF2-40B4-BE49-F238E27FC236}">
                <a16:creationId xmlns:a16="http://schemas.microsoft.com/office/drawing/2014/main" id="{00BA455F-FFB9-4F30-9A84-B1A8DA88AF32}"/>
              </a:ext>
            </a:extLst>
          </p:cNvPr>
          <p:cNvSpPr>
            <a:spLocks noGrp="1"/>
          </p:cNvSpPr>
          <p:nvPr/>
        </p:nvSpPr>
        <p:spPr>
          <a:xfrm>
            <a:off x="8614410" y="2076450"/>
            <a:ext cx="265176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B6B1CE"/>
                </a:solidFill>
                <a:latin typeface="Aptos"/>
                <a:ea typeface="Aptos"/>
                <a:cs typeface="Aptos"/>
              </a:defRPr>
            </a:pPr>
            <a:r>
              <a:rPr sz="825" b="0">
                <a:solidFill>
                  <a:srgbClr val="B6B1CE"/>
                </a:solidFill>
                <a:latin typeface="Aptos"/>
                <a:ea typeface="Aptos"/>
                <a:cs typeface="Aptos"/>
              </a:rPr>
              <a:t>Predicted now.</a:t>
            </a:r>
          </a:p>
        </p:txBody>
      </p:sp>
      <p:sp>
        <p:nvSpPr>
          <p:cNvPr id="15" name="Rectangle 14">
            <a:extLst>
              <a:ext uri="{FF2B5EF4-FFF2-40B4-BE49-F238E27FC236}">
                <a16:creationId xmlns:a16="http://schemas.microsoft.com/office/drawing/2014/main" id="{ABFD38E7-B2CC-4FC6-867C-DC42E50AE699}"/>
              </a:ext>
            </a:extLst>
          </p:cNvPr>
          <p:cNvSpPr>
            <a:spLocks noGrp="1"/>
          </p:cNvSpPr>
          <p:nvPr/>
        </p:nvSpPr>
        <p:spPr>
          <a:xfrm>
            <a:off x="6877050" y="2705100"/>
            <a:ext cx="4572000" cy="723900"/>
          </a:xfrm>
          <a:prstGeom prst="rect">
            <a:avLst/>
          </a:prstGeom>
          <a:solidFill>
            <a:srgbClr val="FFFFFF">
              <a:alpha val="2745"/>
            </a:srgbClr>
          </a:solidFill>
          <a:ln w="9525">
            <a:solidFill>
              <a:srgbClr val="FFFFFF">
                <a:alpha val="9412"/>
              </a:srgbClr>
            </a:solidFill>
            <a:prstDash val="solid"/>
          </a:ln>
        </p:spPr>
        <p:txBody>
          <a:bodyPr/>
          <a:lstStyle/>
          <a:p>
            <a:endParaRPr lang="en-US"/>
          </a:p>
        </p:txBody>
      </p:sp>
      <p:sp>
        <p:nvSpPr>
          <p:cNvPr id="16" name="Rectangle 15">
            <a:extLst>
              <a:ext uri="{FF2B5EF4-FFF2-40B4-BE49-F238E27FC236}">
                <a16:creationId xmlns:a16="http://schemas.microsoft.com/office/drawing/2014/main" id="{F47C1043-1599-43B4-B386-C9941A7EA106}"/>
              </a:ext>
            </a:extLst>
          </p:cNvPr>
          <p:cNvSpPr>
            <a:spLocks noGrp="1"/>
          </p:cNvSpPr>
          <p:nvPr/>
        </p:nvSpPr>
        <p:spPr>
          <a:xfrm>
            <a:off x="7010400" y="2819400"/>
            <a:ext cx="155448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F6F2E8"/>
                </a:solidFill>
                <a:latin typeface="Aptos Mono"/>
                <a:ea typeface="Aptos Mono"/>
                <a:cs typeface="Aptos Mono"/>
              </a:defRPr>
            </a:pPr>
            <a:r>
              <a:rPr sz="825" b="1">
                <a:solidFill>
                  <a:srgbClr val="F6F2E8"/>
                </a:solidFill>
                <a:latin typeface="Aptos Mono"/>
                <a:ea typeface="Aptos Mono"/>
                <a:cs typeface="Aptos Mono"/>
              </a:rPr>
              <a:t>Platform / Format Fit</a:t>
            </a:r>
          </a:p>
        </p:txBody>
      </p:sp>
      <p:sp>
        <p:nvSpPr>
          <p:cNvPr id="17" name="Rectangle 16">
            <a:extLst>
              <a:ext uri="{FF2B5EF4-FFF2-40B4-BE49-F238E27FC236}">
                <a16:creationId xmlns:a16="http://schemas.microsoft.com/office/drawing/2014/main" id="{3EEA8B2C-5D87-43E5-8904-45503C4CEFDC}"/>
              </a:ext>
            </a:extLst>
          </p:cNvPr>
          <p:cNvSpPr>
            <a:spLocks noGrp="1"/>
          </p:cNvSpPr>
          <p:nvPr/>
        </p:nvSpPr>
        <p:spPr>
          <a:xfrm>
            <a:off x="8614410" y="2819400"/>
            <a:ext cx="265176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B6B1CE"/>
                </a:solidFill>
                <a:latin typeface="Aptos"/>
                <a:ea typeface="Aptos"/>
                <a:cs typeface="Aptos"/>
              </a:defRPr>
            </a:pPr>
            <a:r>
              <a:rPr sz="825" b="0">
                <a:solidFill>
                  <a:srgbClr val="B6B1CE"/>
                </a:solidFill>
                <a:latin typeface="Aptos"/>
                <a:ea typeface="Aptos"/>
                <a:cs typeface="Aptos"/>
              </a:rPr>
              <a:t>Predicted now.</a:t>
            </a:r>
          </a:p>
        </p:txBody>
      </p:sp>
      <p:sp>
        <p:nvSpPr>
          <p:cNvPr id="18" name="Rectangle 17">
            <a:extLst>
              <a:ext uri="{FF2B5EF4-FFF2-40B4-BE49-F238E27FC236}">
                <a16:creationId xmlns:a16="http://schemas.microsoft.com/office/drawing/2014/main" id="{2D6017A9-1DBD-429F-AC4C-EF2F0C6D530C}"/>
              </a:ext>
            </a:extLst>
          </p:cNvPr>
          <p:cNvSpPr>
            <a:spLocks noGrp="1"/>
          </p:cNvSpPr>
          <p:nvPr/>
        </p:nvSpPr>
        <p:spPr>
          <a:xfrm>
            <a:off x="6877050" y="3448050"/>
            <a:ext cx="4572000" cy="723900"/>
          </a:xfrm>
          <a:prstGeom prst="rect">
            <a:avLst/>
          </a:prstGeom>
          <a:solidFill>
            <a:srgbClr val="FFFFFF">
              <a:alpha val="2745"/>
            </a:srgbClr>
          </a:solidFill>
          <a:ln w="9525">
            <a:solidFill>
              <a:srgbClr val="FFFFFF">
                <a:alpha val="9412"/>
              </a:srgbClr>
            </a:solidFill>
            <a:prstDash val="solid"/>
          </a:ln>
        </p:spPr>
        <p:txBody>
          <a:bodyPr/>
          <a:lstStyle/>
          <a:p>
            <a:endParaRPr lang="en-US"/>
          </a:p>
        </p:txBody>
      </p:sp>
      <p:sp>
        <p:nvSpPr>
          <p:cNvPr id="19" name="Rectangle 18">
            <a:extLst>
              <a:ext uri="{FF2B5EF4-FFF2-40B4-BE49-F238E27FC236}">
                <a16:creationId xmlns:a16="http://schemas.microsoft.com/office/drawing/2014/main" id="{750CF5C4-077E-4459-86F4-90333FA1A3A5}"/>
              </a:ext>
            </a:extLst>
          </p:cNvPr>
          <p:cNvSpPr>
            <a:spLocks noGrp="1"/>
          </p:cNvSpPr>
          <p:nvPr/>
        </p:nvSpPr>
        <p:spPr>
          <a:xfrm>
            <a:off x="7010400" y="3562350"/>
            <a:ext cx="155448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F6F2E8"/>
                </a:solidFill>
                <a:latin typeface="Aptos Mono"/>
                <a:ea typeface="Aptos Mono"/>
                <a:cs typeface="Aptos Mono"/>
              </a:defRPr>
            </a:pPr>
            <a:r>
              <a:rPr sz="825" b="1">
                <a:solidFill>
                  <a:srgbClr val="F6F2E8"/>
                </a:solidFill>
                <a:latin typeface="Aptos Mono"/>
                <a:ea typeface="Aptos Mono"/>
                <a:cs typeface="Aptos Mono"/>
              </a:rPr>
              <a:t>Media Delivery Quality</a:t>
            </a:r>
          </a:p>
        </p:txBody>
      </p:sp>
      <p:sp>
        <p:nvSpPr>
          <p:cNvPr id="20" name="Rectangle 19">
            <a:extLst>
              <a:ext uri="{FF2B5EF4-FFF2-40B4-BE49-F238E27FC236}">
                <a16:creationId xmlns:a16="http://schemas.microsoft.com/office/drawing/2014/main" id="{526FFF4D-2AFF-4B04-9CAC-A414AE64FE92}"/>
              </a:ext>
            </a:extLst>
          </p:cNvPr>
          <p:cNvSpPr>
            <a:spLocks noGrp="1"/>
          </p:cNvSpPr>
          <p:nvPr/>
        </p:nvSpPr>
        <p:spPr>
          <a:xfrm>
            <a:off x="8614410" y="3562350"/>
            <a:ext cx="265176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B6B1CE"/>
                </a:solidFill>
                <a:latin typeface="Aptos"/>
                <a:ea typeface="Aptos"/>
                <a:cs typeface="Aptos"/>
              </a:defRPr>
            </a:pPr>
            <a:r>
              <a:rPr sz="825" b="0">
                <a:solidFill>
                  <a:srgbClr val="B6B1CE"/>
                </a:solidFill>
                <a:latin typeface="Aptos"/>
                <a:ea typeface="Aptos"/>
                <a:cs typeface="Aptos"/>
              </a:rPr>
              <a:t>Not ingested yet.</a:t>
            </a:r>
          </a:p>
        </p:txBody>
      </p:sp>
      <p:sp>
        <p:nvSpPr>
          <p:cNvPr id="21" name="Rectangle 20">
            <a:extLst>
              <a:ext uri="{FF2B5EF4-FFF2-40B4-BE49-F238E27FC236}">
                <a16:creationId xmlns:a16="http://schemas.microsoft.com/office/drawing/2014/main" id="{9470ACAF-F585-4874-8AC4-B7A8C5C50641}"/>
              </a:ext>
            </a:extLst>
          </p:cNvPr>
          <p:cNvSpPr>
            <a:spLocks noGrp="1"/>
          </p:cNvSpPr>
          <p:nvPr/>
        </p:nvSpPr>
        <p:spPr>
          <a:xfrm>
            <a:off x="6877050" y="4191000"/>
            <a:ext cx="4572000" cy="723900"/>
          </a:xfrm>
          <a:prstGeom prst="rect">
            <a:avLst/>
          </a:prstGeom>
          <a:solidFill>
            <a:srgbClr val="FFFFFF">
              <a:alpha val="2745"/>
            </a:srgbClr>
          </a:solidFill>
          <a:ln w="9525">
            <a:solidFill>
              <a:srgbClr val="FFFFFF">
                <a:alpha val="9412"/>
              </a:srgbClr>
            </a:solidFill>
            <a:prstDash val="solid"/>
          </a:ln>
        </p:spPr>
        <p:txBody>
          <a:bodyPr/>
          <a:lstStyle/>
          <a:p>
            <a:endParaRPr lang="en-US"/>
          </a:p>
        </p:txBody>
      </p:sp>
      <p:sp>
        <p:nvSpPr>
          <p:cNvPr id="22" name="Rectangle 21">
            <a:extLst>
              <a:ext uri="{FF2B5EF4-FFF2-40B4-BE49-F238E27FC236}">
                <a16:creationId xmlns:a16="http://schemas.microsoft.com/office/drawing/2014/main" id="{C33E0EA1-43CB-4A06-BD30-2E83CCAF3AD8}"/>
              </a:ext>
            </a:extLst>
          </p:cNvPr>
          <p:cNvSpPr>
            <a:spLocks noGrp="1"/>
          </p:cNvSpPr>
          <p:nvPr/>
        </p:nvSpPr>
        <p:spPr>
          <a:xfrm>
            <a:off x="7010400" y="4305300"/>
            <a:ext cx="155448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F6F2E8"/>
                </a:solidFill>
                <a:latin typeface="Aptos Mono"/>
                <a:ea typeface="Aptos Mono"/>
                <a:cs typeface="Aptos Mono"/>
              </a:defRPr>
            </a:pPr>
            <a:r>
              <a:rPr sz="825" b="1">
                <a:solidFill>
                  <a:srgbClr val="F6F2E8"/>
                </a:solidFill>
                <a:latin typeface="Aptos Mono"/>
                <a:ea typeface="Aptos Mono"/>
                <a:cs typeface="Aptos Mono"/>
              </a:rPr>
              <a:t>Category / Brand baseline</a:t>
            </a:r>
          </a:p>
        </p:txBody>
      </p:sp>
      <p:sp>
        <p:nvSpPr>
          <p:cNvPr id="23" name="Rectangle 22">
            <a:extLst>
              <a:ext uri="{FF2B5EF4-FFF2-40B4-BE49-F238E27FC236}">
                <a16:creationId xmlns:a16="http://schemas.microsoft.com/office/drawing/2014/main" id="{D87854F8-FCFF-4D9E-B927-6EE9782BE4D1}"/>
              </a:ext>
            </a:extLst>
          </p:cNvPr>
          <p:cNvSpPr>
            <a:spLocks noGrp="1"/>
          </p:cNvSpPr>
          <p:nvPr/>
        </p:nvSpPr>
        <p:spPr>
          <a:xfrm>
            <a:off x="8614410" y="4305300"/>
            <a:ext cx="265176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B6B1CE"/>
                </a:solidFill>
                <a:latin typeface="Aptos"/>
                <a:ea typeface="Aptos"/>
                <a:cs typeface="Aptos"/>
              </a:defRPr>
            </a:pPr>
            <a:r>
              <a:rPr sz="825" b="0">
                <a:solidFill>
                  <a:srgbClr val="B6B1CE"/>
                </a:solidFill>
                <a:latin typeface="Aptos"/>
                <a:ea typeface="Aptos"/>
                <a:cs typeface="Aptos"/>
              </a:rPr>
              <a:t>Future calibration layer.</a:t>
            </a:r>
          </a:p>
        </p:txBody>
      </p:sp>
      <p:sp>
        <p:nvSpPr>
          <p:cNvPr id="24" name="Rectangle 23">
            <a:extLst>
              <a:ext uri="{FF2B5EF4-FFF2-40B4-BE49-F238E27FC236}">
                <a16:creationId xmlns:a16="http://schemas.microsoft.com/office/drawing/2014/main" id="{0F292500-3F51-4831-BF8A-3CC5ACF0E7DD}"/>
              </a:ext>
            </a:extLst>
          </p:cNvPr>
          <p:cNvSpPr>
            <a:spLocks noGrp="1"/>
          </p:cNvSpPr>
          <p:nvPr/>
        </p:nvSpPr>
        <p:spPr>
          <a:xfrm>
            <a:off x="552450" y="6286500"/>
            <a:ext cx="8096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7728F"/>
                </a:solidFill>
                <a:latin typeface="Aptos Mono"/>
                <a:ea typeface="Aptos Mono"/>
                <a:cs typeface="Aptos Mono"/>
              </a:defRPr>
            </a:pPr>
            <a:r>
              <a:rPr sz="750" b="0">
                <a:solidFill>
                  <a:srgbClr val="77728F"/>
                </a:solidFill>
                <a:latin typeface="Aptos Mono"/>
                <a:ea typeface="Aptos Mono"/>
                <a:cs typeface="Aptos Mono"/>
              </a:rPr>
              <a:t>AdCritIQ Methodology Evidence Deck  ·  AdCritIQ™  ·  Just the signal before the spend.</a:t>
            </a:r>
          </a:p>
        </p:txBody>
      </p:sp>
      <p:sp>
        <p:nvSpPr>
          <p:cNvPr id="25" name="Rectangle 24">
            <a:extLst>
              <a:ext uri="{FF2B5EF4-FFF2-40B4-BE49-F238E27FC236}">
                <a16:creationId xmlns:a16="http://schemas.microsoft.com/office/drawing/2014/main" id="{EB255DB1-0247-4DFD-94F4-10AC6236C2A1}"/>
              </a:ext>
            </a:extLst>
          </p:cNvPr>
          <p:cNvSpPr>
            <a:spLocks noGrp="1"/>
          </p:cNvSpPr>
          <p:nvPr/>
        </p:nvSpPr>
        <p:spPr>
          <a:xfrm>
            <a:off x="11144250" y="6257925"/>
            <a:ext cx="476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0">
                <a:solidFill>
                  <a:srgbClr val="D7B762"/>
                </a:solidFill>
                <a:latin typeface="Aptos Mono"/>
                <a:ea typeface="Aptos Mono"/>
                <a:cs typeface="Aptos Mono"/>
              </a:defRPr>
            </a:pPr>
            <a:r>
              <a:rPr sz="825" b="0">
                <a:solidFill>
                  <a:srgbClr val="D7B762"/>
                </a:solidFill>
                <a:latin typeface="Aptos Mono"/>
                <a:ea typeface="Aptos Mono"/>
                <a:cs typeface="Aptos Mono"/>
              </a:rPr>
              <a:t>02</a:t>
            </a:r>
          </a:p>
        </p:txBody>
      </p:sp>
    </p:spTree>
    <p:extLst>
      <p:ext uri="{BB962C8B-B14F-4D97-AF65-F5344CB8AC3E}">
        <p14:creationId xmlns:p14="http://schemas.microsoft.com/office/powerpoint/2010/main" val="5028865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34144EB5-2AA6-4973-8822-B60CFDD7E341}"/>
              </a:ext>
            </a:extLst>
          </p:cNvPr>
          <p:cNvSpPr>
            <a:spLocks noGrp="1"/>
          </p:cNvSpPr>
          <p:nvPr/>
        </p:nvSpPr>
        <p:spPr>
          <a:xfrm>
            <a:off x="0" y="0"/>
            <a:ext cx="12192000" cy="6858000"/>
          </a:xfrm>
          <a:prstGeom prst="rect">
            <a:avLst/>
          </a:prstGeom>
          <a:solidFill>
            <a:srgbClr val="07070D"/>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463136EF-AC6B-4367-A124-E231CFCFA6F6}"/>
              </a:ext>
            </a:extLst>
          </p:cNvPr>
          <p:cNvSpPr>
            <a:spLocks noGrp="1"/>
          </p:cNvSpPr>
          <p:nvPr/>
        </p:nvSpPr>
        <p:spPr>
          <a:xfrm>
            <a:off x="0" y="0"/>
            <a:ext cx="12192000" cy="6858000"/>
          </a:xfrm>
          <a:prstGeom prst="rect">
            <a:avLst/>
          </a:prstGeom>
          <a:gradFill>
            <a:gsLst>
              <a:gs pos="0">
                <a:srgbClr val="07070D"/>
              </a:gs>
              <a:gs pos="55000">
                <a:srgbClr val="11111A"/>
              </a:gs>
              <a:gs pos="100000">
                <a:srgbClr val="050509"/>
              </a:gs>
            </a:gsLst>
            <a:lin ang="8100000"/>
          </a:gradFill>
          <a:ln w="0">
            <a:solidFill>
              <a:srgbClr val="000000">
                <a:alpha val="0"/>
              </a:srgbClr>
            </a:solidFill>
            <a:prstDash val="solid"/>
          </a:ln>
        </p:spPr>
        <p:txBody>
          <a:bodyPr/>
          <a:lstStyle/>
          <a:p>
            <a:endParaRPr lang="en-US"/>
          </a:p>
        </p:txBody>
      </p:sp>
      <p:sp>
        <p:nvSpPr>
          <p:cNvPr id="3" name="Oval 2">
            <a:extLst>
              <a:ext uri="{FF2B5EF4-FFF2-40B4-BE49-F238E27FC236}">
                <a16:creationId xmlns:a16="http://schemas.microsoft.com/office/drawing/2014/main" id="{E2BE75F2-1BE7-4B16-A60A-B32FA3001C23}"/>
              </a:ext>
            </a:extLst>
          </p:cNvPr>
          <p:cNvSpPr>
            <a:spLocks noGrp="1"/>
          </p:cNvSpPr>
          <p:nvPr/>
        </p:nvSpPr>
        <p:spPr>
          <a:xfrm>
            <a:off x="-1143000" y="-1714500"/>
            <a:ext cx="4953000" cy="4953000"/>
          </a:xfrm>
          <a:prstGeom prst="ellipse">
            <a:avLst/>
          </a:prstGeom>
          <a:solidFill>
            <a:srgbClr val="D7B762">
              <a:alpha val="8627"/>
            </a:srgbClr>
          </a:solidFill>
          <a:ln w="0">
            <a:solidFill>
              <a:srgbClr val="000000">
                <a:alpha val="0"/>
              </a:srgbClr>
            </a:solidFill>
            <a:prstDash val="solid"/>
          </a:ln>
        </p:spPr>
        <p:txBody>
          <a:bodyPr/>
          <a:lstStyle/>
          <a:p>
            <a:endParaRPr lang="en-US"/>
          </a:p>
        </p:txBody>
      </p:sp>
      <p:sp>
        <p:nvSpPr>
          <p:cNvPr id="4" name="Oval 3">
            <a:extLst>
              <a:ext uri="{FF2B5EF4-FFF2-40B4-BE49-F238E27FC236}">
                <a16:creationId xmlns:a16="http://schemas.microsoft.com/office/drawing/2014/main" id="{05D16156-1EBF-4F9A-B78E-1DFD5765A482}"/>
              </a:ext>
            </a:extLst>
          </p:cNvPr>
          <p:cNvSpPr>
            <a:spLocks noGrp="1"/>
          </p:cNvSpPr>
          <p:nvPr/>
        </p:nvSpPr>
        <p:spPr>
          <a:xfrm>
            <a:off x="8763000" y="4762500"/>
            <a:ext cx="4762500" cy="4762500"/>
          </a:xfrm>
          <a:prstGeom prst="ellipse">
            <a:avLst/>
          </a:prstGeom>
          <a:solidFill>
            <a:srgbClr val="23C7D9">
              <a:alpha val="7059"/>
            </a:srgbClr>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0B0DA993-6656-4795-A762-7464378C5520}"/>
              </a:ext>
            </a:extLst>
          </p:cNvPr>
          <p:cNvSpPr>
            <a:spLocks noGrp="1"/>
          </p:cNvSpPr>
          <p:nvPr/>
        </p:nvSpPr>
        <p:spPr>
          <a:xfrm>
            <a:off x="552450" y="6096000"/>
            <a:ext cx="11087100" cy="9525"/>
          </a:xfrm>
          <a:prstGeom prst="rect">
            <a:avLst/>
          </a:prstGeom>
          <a:solidFill>
            <a:srgbClr val="D7B762">
              <a:alpha val="33333"/>
            </a:srgbClr>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BFAD8566-5E56-4AEA-B58D-8ECB58A5D503}"/>
              </a:ext>
            </a:extLst>
          </p:cNvPr>
          <p:cNvSpPr>
            <a:spLocks noGrp="1"/>
          </p:cNvSpPr>
          <p:nvPr/>
        </p:nvSpPr>
        <p:spPr>
          <a:xfrm>
            <a:off x="666750" y="876300"/>
            <a:ext cx="723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D7B762"/>
                </a:solidFill>
                <a:latin typeface="Aptos Mono"/>
                <a:ea typeface="Aptos Mono"/>
                <a:cs typeface="Aptos Mono"/>
              </a:defRPr>
            </a:pPr>
            <a:r>
              <a:rPr sz="975" b="1">
                <a:solidFill>
                  <a:srgbClr val="D7B762"/>
                </a:solidFill>
                <a:latin typeface="Aptos Mono"/>
                <a:ea typeface="Aptos Mono"/>
                <a:cs typeface="Aptos Mono"/>
              </a:rPr>
              <a:t>SCORE INTERPRETATION</a:t>
            </a:r>
          </a:p>
        </p:txBody>
      </p:sp>
      <p:sp>
        <p:nvSpPr>
          <p:cNvPr id="7" name="Rectangle 6">
            <a:extLst>
              <a:ext uri="{FF2B5EF4-FFF2-40B4-BE49-F238E27FC236}">
                <a16:creationId xmlns:a16="http://schemas.microsoft.com/office/drawing/2014/main" id="{5C99D1E9-0763-442B-9ECE-7E73397CCE9A}"/>
              </a:ext>
            </a:extLst>
          </p:cNvPr>
          <p:cNvSpPr>
            <a:spLocks noGrp="1"/>
          </p:cNvSpPr>
          <p:nvPr/>
        </p:nvSpPr>
        <p:spPr>
          <a:xfrm>
            <a:off x="666750" y="1181100"/>
            <a:ext cx="6572250" cy="1809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850" b="1">
                <a:solidFill>
                  <a:srgbClr val="F6F2E8"/>
                </a:solidFill>
                <a:latin typeface="Aptos Display"/>
                <a:ea typeface="Aptos Display"/>
                <a:cs typeface="Aptos Display"/>
              </a:defRPr>
            </a:pPr>
            <a:r>
              <a:rPr sz="2850" b="1">
                <a:solidFill>
                  <a:srgbClr val="F6F2E8"/>
                </a:solidFill>
                <a:latin typeface="Aptos Display"/>
                <a:ea typeface="Aptos Display"/>
                <a:cs typeface="Aptos Display"/>
              </a:rPr>
              <a:t>Scores are readiness bands, not promised lifts.</a:t>
            </a:r>
          </a:p>
        </p:txBody>
      </p:sp>
      <p:sp>
        <p:nvSpPr>
          <p:cNvPr id="8" name="Rectangle 7">
            <a:extLst>
              <a:ext uri="{FF2B5EF4-FFF2-40B4-BE49-F238E27FC236}">
                <a16:creationId xmlns:a16="http://schemas.microsoft.com/office/drawing/2014/main" id="{F5A6AE1E-7F2D-4E7C-8A44-9ED9208E6EE3}"/>
              </a:ext>
            </a:extLst>
          </p:cNvPr>
          <p:cNvSpPr>
            <a:spLocks noGrp="1"/>
          </p:cNvSpPr>
          <p:nvPr/>
        </p:nvSpPr>
        <p:spPr>
          <a:xfrm>
            <a:off x="666750" y="3095625"/>
            <a:ext cx="6191250" cy="1028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B6B1CE"/>
                </a:solidFill>
                <a:latin typeface="Aptos"/>
                <a:ea typeface="Aptos"/>
                <a:cs typeface="Aptos"/>
              </a:defRPr>
            </a:pPr>
            <a:r>
              <a:rPr sz="1575" b="0">
                <a:solidFill>
                  <a:srgbClr val="B6B1CE"/>
                </a:solidFill>
                <a:latin typeface="Aptos"/>
                <a:ea typeface="Aptos"/>
                <a:cs typeface="Aptos"/>
              </a:rPr>
              <a:t>A score of 84 means strong creative-response readiness relative to observed creative signals. It does not mean an 84% sales lift or guaranteed brand lift.</a:t>
            </a:r>
          </a:p>
        </p:txBody>
      </p:sp>
      <p:sp>
        <p:nvSpPr>
          <p:cNvPr id="9" name="Rectangle 8">
            <a:extLst>
              <a:ext uri="{FF2B5EF4-FFF2-40B4-BE49-F238E27FC236}">
                <a16:creationId xmlns:a16="http://schemas.microsoft.com/office/drawing/2014/main" id="{38322C72-27E7-4D17-9FC4-CC5756FF677B}"/>
              </a:ext>
            </a:extLst>
          </p:cNvPr>
          <p:cNvSpPr>
            <a:spLocks noGrp="1"/>
          </p:cNvSpPr>
          <p:nvPr/>
        </p:nvSpPr>
        <p:spPr>
          <a:xfrm>
            <a:off x="6877050" y="1219200"/>
            <a:ext cx="4572000" cy="600075"/>
          </a:xfrm>
          <a:prstGeom prst="rect">
            <a:avLst/>
          </a:prstGeom>
          <a:solidFill>
            <a:srgbClr val="D7B762">
              <a:alpha val="13333"/>
            </a:srgbClr>
          </a:solidFill>
          <a:ln w="9525">
            <a:solidFill>
              <a:srgbClr val="FFFFFF">
                <a:alpha val="9412"/>
              </a:srgbClr>
            </a:solidFill>
            <a:prstDash val="solid"/>
          </a:ln>
        </p:spPr>
        <p:txBody>
          <a:bodyPr/>
          <a:lstStyle/>
          <a:p>
            <a:endParaRPr lang="en-US"/>
          </a:p>
        </p:txBody>
      </p:sp>
      <p:sp>
        <p:nvSpPr>
          <p:cNvPr id="10" name="Rectangle 9">
            <a:extLst>
              <a:ext uri="{FF2B5EF4-FFF2-40B4-BE49-F238E27FC236}">
                <a16:creationId xmlns:a16="http://schemas.microsoft.com/office/drawing/2014/main" id="{78B3BECF-F0B6-4115-B10C-9CFB6BB6E20C}"/>
              </a:ext>
            </a:extLst>
          </p:cNvPr>
          <p:cNvSpPr>
            <a:spLocks noGrp="1"/>
          </p:cNvSpPr>
          <p:nvPr/>
        </p:nvSpPr>
        <p:spPr>
          <a:xfrm>
            <a:off x="7010400" y="1333500"/>
            <a:ext cx="1554480" cy="4476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D7B762"/>
                </a:solidFill>
                <a:latin typeface="Aptos Mono"/>
                <a:ea typeface="Aptos Mono"/>
                <a:cs typeface="Aptos Mono"/>
              </a:defRPr>
            </a:pPr>
            <a:r>
              <a:rPr sz="900" b="1">
                <a:solidFill>
                  <a:srgbClr val="D7B762"/>
                </a:solidFill>
                <a:latin typeface="Aptos Mono"/>
                <a:ea typeface="Aptos Mono"/>
                <a:cs typeface="Aptos Mono"/>
              </a:rPr>
              <a:t>Band</a:t>
            </a:r>
          </a:p>
        </p:txBody>
      </p:sp>
      <p:sp>
        <p:nvSpPr>
          <p:cNvPr id="11" name="Rectangle 10">
            <a:extLst>
              <a:ext uri="{FF2B5EF4-FFF2-40B4-BE49-F238E27FC236}">
                <a16:creationId xmlns:a16="http://schemas.microsoft.com/office/drawing/2014/main" id="{FAD2DB97-EB90-473C-AA4A-615093307EFE}"/>
              </a:ext>
            </a:extLst>
          </p:cNvPr>
          <p:cNvSpPr>
            <a:spLocks noGrp="1"/>
          </p:cNvSpPr>
          <p:nvPr/>
        </p:nvSpPr>
        <p:spPr>
          <a:xfrm>
            <a:off x="8614410" y="1333500"/>
            <a:ext cx="2651760" cy="4476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D7B762"/>
                </a:solidFill>
                <a:latin typeface="Aptos"/>
                <a:ea typeface="Aptos"/>
                <a:cs typeface="Aptos"/>
              </a:defRPr>
            </a:pPr>
            <a:r>
              <a:rPr sz="900" b="0">
                <a:solidFill>
                  <a:srgbClr val="D7B762"/>
                </a:solidFill>
                <a:latin typeface="Aptos"/>
                <a:ea typeface="Aptos"/>
                <a:cs typeface="Aptos"/>
              </a:rPr>
              <a:t>Meaning</a:t>
            </a:r>
          </a:p>
        </p:txBody>
      </p:sp>
      <p:sp>
        <p:nvSpPr>
          <p:cNvPr id="12" name="Rectangle 11">
            <a:extLst>
              <a:ext uri="{FF2B5EF4-FFF2-40B4-BE49-F238E27FC236}">
                <a16:creationId xmlns:a16="http://schemas.microsoft.com/office/drawing/2014/main" id="{6F23EC41-4917-4FB4-9D5E-93A115E8EDC8}"/>
              </a:ext>
            </a:extLst>
          </p:cNvPr>
          <p:cNvSpPr>
            <a:spLocks noGrp="1"/>
          </p:cNvSpPr>
          <p:nvPr/>
        </p:nvSpPr>
        <p:spPr>
          <a:xfrm>
            <a:off x="6877050" y="1838325"/>
            <a:ext cx="4572000" cy="600075"/>
          </a:xfrm>
          <a:prstGeom prst="rect">
            <a:avLst/>
          </a:prstGeom>
          <a:solidFill>
            <a:srgbClr val="FFFFFF">
              <a:alpha val="2745"/>
            </a:srgbClr>
          </a:solidFill>
          <a:ln w="9525">
            <a:solidFill>
              <a:srgbClr val="FFFFFF">
                <a:alpha val="9412"/>
              </a:srgbClr>
            </a:solidFill>
            <a:prstDash val="solid"/>
          </a:ln>
        </p:spPr>
        <p:txBody>
          <a:bodyPr/>
          <a:lstStyle/>
          <a:p>
            <a:endParaRPr lang="en-US"/>
          </a:p>
        </p:txBody>
      </p:sp>
      <p:sp>
        <p:nvSpPr>
          <p:cNvPr id="13" name="Rectangle 12">
            <a:extLst>
              <a:ext uri="{FF2B5EF4-FFF2-40B4-BE49-F238E27FC236}">
                <a16:creationId xmlns:a16="http://schemas.microsoft.com/office/drawing/2014/main" id="{B2AACD70-B1F0-45AE-B683-14171A60CD38}"/>
              </a:ext>
            </a:extLst>
          </p:cNvPr>
          <p:cNvSpPr>
            <a:spLocks noGrp="1"/>
          </p:cNvSpPr>
          <p:nvPr/>
        </p:nvSpPr>
        <p:spPr>
          <a:xfrm>
            <a:off x="7010400" y="1952625"/>
            <a:ext cx="1554480" cy="4476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F6F2E8"/>
                </a:solidFill>
                <a:latin typeface="Aptos Mono"/>
                <a:ea typeface="Aptos Mono"/>
                <a:cs typeface="Aptos Mono"/>
              </a:defRPr>
            </a:pPr>
            <a:r>
              <a:rPr sz="825" b="1">
                <a:solidFill>
                  <a:srgbClr val="F6F2E8"/>
                </a:solidFill>
                <a:latin typeface="Aptos Mono"/>
                <a:ea typeface="Aptos Mono"/>
                <a:cs typeface="Aptos Mono"/>
              </a:rPr>
              <a:t>85–100</a:t>
            </a:r>
          </a:p>
        </p:txBody>
      </p:sp>
      <p:sp>
        <p:nvSpPr>
          <p:cNvPr id="14" name="Rectangle 13">
            <a:extLst>
              <a:ext uri="{FF2B5EF4-FFF2-40B4-BE49-F238E27FC236}">
                <a16:creationId xmlns:a16="http://schemas.microsoft.com/office/drawing/2014/main" id="{61AA20D8-01CB-4D6B-8A3D-1FB6A976AD6E}"/>
              </a:ext>
            </a:extLst>
          </p:cNvPr>
          <p:cNvSpPr>
            <a:spLocks noGrp="1"/>
          </p:cNvSpPr>
          <p:nvPr/>
        </p:nvSpPr>
        <p:spPr>
          <a:xfrm>
            <a:off x="8614410" y="1952625"/>
            <a:ext cx="2651760" cy="4476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B6B1CE"/>
                </a:solidFill>
                <a:latin typeface="Aptos"/>
                <a:ea typeface="Aptos"/>
                <a:cs typeface="Aptos"/>
              </a:defRPr>
            </a:pPr>
            <a:r>
              <a:rPr sz="825" b="0">
                <a:solidFill>
                  <a:srgbClr val="B6B1CE"/>
                </a:solidFill>
                <a:latin typeface="Aptos"/>
                <a:ea typeface="Aptos"/>
                <a:cs typeface="Aptos"/>
              </a:rPr>
              <a:t>High probability / scale-ready.</a:t>
            </a:r>
          </a:p>
        </p:txBody>
      </p:sp>
      <p:sp>
        <p:nvSpPr>
          <p:cNvPr id="15" name="Rectangle 14">
            <a:extLst>
              <a:ext uri="{FF2B5EF4-FFF2-40B4-BE49-F238E27FC236}">
                <a16:creationId xmlns:a16="http://schemas.microsoft.com/office/drawing/2014/main" id="{1E784AE2-3FB5-47EB-A730-E687103E9631}"/>
              </a:ext>
            </a:extLst>
          </p:cNvPr>
          <p:cNvSpPr>
            <a:spLocks noGrp="1"/>
          </p:cNvSpPr>
          <p:nvPr/>
        </p:nvSpPr>
        <p:spPr>
          <a:xfrm>
            <a:off x="6877050" y="2457450"/>
            <a:ext cx="4572000" cy="600075"/>
          </a:xfrm>
          <a:prstGeom prst="rect">
            <a:avLst/>
          </a:prstGeom>
          <a:solidFill>
            <a:srgbClr val="FFFFFF">
              <a:alpha val="2745"/>
            </a:srgbClr>
          </a:solidFill>
          <a:ln w="9525">
            <a:solidFill>
              <a:srgbClr val="FFFFFF">
                <a:alpha val="9412"/>
              </a:srgbClr>
            </a:solidFill>
            <a:prstDash val="solid"/>
          </a:ln>
        </p:spPr>
        <p:txBody>
          <a:bodyPr/>
          <a:lstStyle/>
          <a:p>
            <a:endParaRPr lang="en-US"/>
          </a:p>
        </p:txBody>
      </p:sp>
      <p:sp>
        <p:nvSpPr>
          <p:cNvPr id="16" name="Rectangle 15">
            <a:extLst>
              <a:ext uri="{FF2B5EF4-FFF2-40B4-BE49-F238E27FC236}">
                <a16:creationId xmlns:a16="http://schemas.microsoft.com/office/drawing/2014/main" id="{65DD683F-A168-4EC3-81A6-9D6CC86714A7}"/>
              </a:ext>
            </a:extLst>
          </p:cNvPr>
          <p:cNvSpPr>
            <a:spLocks noGrp="1"/>
          </p:cNvSpPr>
          <p:nvPr/>
        </p:nvSpPr>
        <p:spPr>
          <a:xfrm>
            <a:off x="7010400" y="2571750"/>
            <a:ext cx="1554480" cy="4476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F6F2E8"/>
                </a:solidFill>
                <a:latin typeface="Aptos Mono"/>
                <a:ea typeface="Aptos Mono"/>
                <a:cs typeface="Aptos Mono"/>
              </a:defRPr>
            </a:pPr>
            <a:r>
              <a:rPr sz="825" b="1">
                <a:solidFill>
                  <a:srgbClr val="F6F2E8"/>
                </a:solidFill>
                <a:latin typeface="Aptos Mono"/>
                <a:ea typeface="Aptos Mono"/>
                <a:cs typeface="Aptos Mono"/>
              </a:rPr>
              <a:t>70–84</a:t>
            </a:r>
          </a:p>
        </p:txBody>
      </p:sp>
      <p:sp>
        <p:nvSpPr>
          <p:cNvPr id="17" name="Rectangle 16">
            <a:extLst>
              <a:ext uri="{FF2B5EF4-FFF2-40B4-BE49-F238E27FC236}">
                <a16:creationId xmlns:a16="http://schemas.microsoft.com/office/drawing/2014/main" id="{6E00D642-8C1D-46B9-A6D7-5C092D8F2260}"/>
              </a:ext>
            </a:extLst>
          </p:cNvPr>
          <p:cNvSpPr>
            <a:spLocks noGrp="1"/>
          </p:cNvSpPr>
          <p:nvPr/>
        </p:nvSpPr>
        <p:spPr>
          <a:xfrm>
            <a:off x="8614410" y="2571750"/>
            <a:ext cx="2651760" cy="4476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B6B1CE"/>
                </a:solidFill>
                <a:latin typeface="Aptos"/>
                <a:ea typeface="Aptos"/>
                <a:cs typeface="Aptos"/>
              </a:defRPr>
            </a:pPr>
            <a:r>
              <a:rPr sz="825" b="0">
                <a:solidFill>
                  <a:srgbClr val="B6B1CE"/>
                </a:solidFill>
                <a:latin typeface="Aptos"/>
                <a:ea typeface="Aptos"/>
                <a:cs typeface="Aptos"/>
              </a:rPr>
              <a:t>Strong probability / minor optimization.</a:t>
            </a:r>
          </a:p>
        </p:txBody>
      </p:sp>
      <p:sp>
        <p:nvSpPr>
          <p:cNvPr id="18" name="Rectangle 17">
            <a:extLst>
              <a:ext uri="{FF2B5EF4-FFF2-40B4-BE49-F238E27FC236}">
                <a16:creationId xmlns:a16="http://schemas.microsoft.com/office/drawing/2014/main" id="{5AD590A9-2D7E-474F-A891-41DC7F8FA2BC}"/>
              </a:ext>
            </a:extLst>
          </p:cNvPr>
          <p:cNvSpPr>
            <a:spLocks noGrp="1"/>
          </p:cNvSpPr>
          <p:nvPr/>
        </p:nvSpPr>
        <p:spPr>
          <a:xfrm>
            <a:off x="6877050" y="3076575"/>
            <a:ext cx="4572000" cy="600075"/>
          </a:xfrm>
          <a:prstGeom prst="rect">
            <a:avLst/>
          </a:prstGeom>
          <a:solidFill>
            <a:srgbClr val="FFFFFF">
              <a:alpha val="2745"/>
            </a:srgbClr>
          </a:solidFill>
          <a:ln w="9525">
            <a:solidFill>
              <a:srgbClr val="FFFFFF">
                <a:alpha val="9412"/>
              </a:srgbClr>
            </a:solidFill>
            <a:prstDash val="solid"/>
          </a:ln>
        </p:spPr>
        <p:txBody>
          <a:bodyPr/>
          <a:lstStyle/>
          <a:p>
            <a:endParaRPr lang="en-US"/>
          </a:p>
        </p:txBody>
      </p:sp>
      <p:sp>
        <p:nvSpPr>
          <p:cNvPr id="19" name="Rectangle 18">
            <a:extLst>
              <a:ext uri="{FF2B5EF4-FFF2-40B4-BE49-F238E27FC236}">
                <a16:creationId xmlns:a16="http://schemas.microsoft.com/office/drawing/2014/main" id="{0EE33111-2CE6-42B7-83E1-6B55A6E7C45E}"/>
              </a:ext>
            </a:extLst>
          </p:cNvPr>
          <p:cNvSpPr>
            <a:spLocks noGrp="1"/>
          </p:cNvSpPr>
          <p:nvPr/>
        </p:nvSpPr>
        <p:spPr>
          <a:xfrm>
            <a:off x="7010400" y="3190875"/>
            <a:ext cx="1554480" cy="4476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F6F2E8"/>
                </a:solidFill>
                <a:latin typeface="Aptos Mono"/>
                <a:ea typeface="Aptos Mono"/>
                <a:cs typeface="Aptos Mono"/>
              </a:defRPr>
            </a:pPr>
            <a:r>
              <a:rPr sz="825" b="1">
                <a:solidFill>
                  <a:srgbClr val="F6F2E8"/>
                </a:solidFill>
                <a:latin typeface="Aptos Mono"/>
                <a:ea typeface="Aptos Mono"/>
                <a:cs typeface="Aptos Mono"/>
              </a:rPr>
              <a:t>55–69</a:t>
            </a:r>
          </a:p>
        </p:txBody>
      </p:sp>
      <p:sp>
        <p:nvSpPr>
          <p:cNvPr id="20" name="Rectangle 19">
            <a:extLst>
              <a:ext uri="{FF2B5EF4-FFF2-40B4-BE49-F238E27FC236}">
                <a16:creationId xmlns:a16="http://schemas.microsoft.com/office/drawing/2014/main" id="{712D1384-AB3F-4B31-8200-227A90A9DD2F}"/>
              </a:ext>
            </a:extLst>
          </p:cNvPr>
          <p:cNvSpPr>
            <a:spLocks noGrp="1"/>
          </p:cNvSpPr>
          <p:nvPr/>
        </p:nvSpPr>
        <p:spPr>
          <a:xfrm>
            <a:off x="8614410" y="3190875"/>
            <a:ext cx="2651760" cy="4476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B6B1CE"/>
                </a:solidFill>
                <a:latin typeface="Aptos"/>
                <a:ea typeface="Aptos"/>
                <a:cs typeface="Aptos"/>
              </a:defRPr>
            </a:pPr>
            <a:r>
              <a:rPr sz="825" b="0">
                <a:solidFill>
                  <a:srgbClr val="B6B1CE"/>
                </a:solidFill>
                <a:latin typeface="Aptos"/>
                <a:ea typeface="Aptos"/>
                <a:cs typeface="Aptos"/>
              </a:rPr>
              <a:t>Moderate / test before scaling.</a:t>
            </a:r>
          </a:p>
        </p:txBody>
      </p:sp>
      <p:sp>
        <p:nvSpPr>
          <p:cNvPr id="21" name="Rectangle 20">
            <a:extLst>
              <a:ext uri="{FF2B5EF4-FFF2-40B4-BE49-F238E27FC236}">
                <a16:creationId xmlns:a16="http://schemas.microsoft.com/office/drawing/2014/main" id="{0F50B09F-EBDE-48FE-BA52-F9D990E16841}"/>
              </a:ext>
            </a:extLst>
          </p:cNvPr>
          <p:cNvSpPr>
            <a:spLocks noGrp="1"/>
          </p:cNvSpPr>
          <p:nvPr/>
        </p:nvSpPr>
        <p:spPr>
          <a:xfrm>
            <a:off x="6877050" y="3695700"/>
            <a:ext cx="4572000" cy="600075"/>
          </a:xfrm>
          <a:prstGeom prst="rect">
            <a:avLst/>
          </a:prstGeom>
          <a:solidFill>
            <a:srgbClr val="FFFFFF">
              <a:alpha val="2745"/>
            </a:srgbClr>
          </a:solidFill>
          <a:ln w="9525">
            <a:solidFill>
              <a:srgbClr val="FFFFFF">
                <a:alpha val="9412"/>
              </a:srgbClr>
            </a:solidFill>
            <a:prstDash val="solid"/>
          </a:ln>
        </p:spPr>
        <p:txBody>
          <a:bodyPr/>
          <a:lstStyle/>
          <a:p>
            <a:endParaRPr lang="en-US"/>
          </a:p>
        </p:txBody>
      </p:sp>
      <p:sp>
        <p:nvSpPr>
          <p:cNvPr id="22" name="Rectangle 21">
            <a:extLst>
              <a:ext uri="{FF2B5EF4-FFF2-40B4-BE49-F238E27FC236}">
                <a16:creationId xmlns:a16="http://schemas.microsoft.com/office/drawing/2014/main" id="{27223341-EFDC-493C-9DA8-4ABF9D4C614C}"/>
              </a:ext>
            </a:extLst>
          </p:cNvPr>
          <p:cNvSpPr>
            <a:spLocks noGrp="1"/>
          </p:cNvSpPr>
          <p:nvPr/>
        </p:nvSpPr>
        <p:spPr>
          <a:xfrm>
            <a:off x="7010400" y="3810000"/>
            <a:ext cx="1554480" cy="4476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F6F2E8"/>
                </a:solidFill>
                <a:latin typeface="Aptos Mono"/>
                <a:ea typeface="Aptos Mono"/>
                <a:cs typeface="Aptos Mono"/>
              </a:defRPr>
            </a:pPr>
            <a:r>
              <a:rPr sz="825" b="1">
                <a:solidFill>
                  <a:srgbClr val="F6F2E8"/>
                </a:solidFill>
                <a:latin typeface="Aptos Mono"/>
                <a:ea typeface="Aptos Mono"/>
                <a:cs typeface="Aptos Mono"/>
              </a:rPr>
              <a:t>40–54</a:t>
            </a:r>
          </a:p>
        </p:txBody>
      </p:sp>
      <p:sp>
        <p:nvSpPr>
          <p:cNvPr id="23" name="Rectangle 22">
            <a:extLst>
              <a:ext uri="{FF2B5EF4-FFF2-40B4-BE49-F238E27FC236}">
                <a16:creationId xmlns:a16="http://schemas.microsoft.com/office/drawing/2014/main" id="{2D9636E0-7395-4D39-9D04-224DE3F3DE9D}"/>
              </a:ext>
            </a:extLst>
          </p:cNvPr>
          <p:cNvSpPr>
            <a:spLocks noGrp="1"/>
          </p:cNvSpPr>
          <p:nvPr/>
        </p:nvSpPr>
        <p:spPr>
          <a:xfrm>
            <a:off x="8614410" y="3810000"/>
            <a:ext cx="2651760" cy="4476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B6B1CE"/>
                </a:solidFill>
                <a:latin typeface="Aptos"/>
                <a:ea typeface="Aptos"/>
                <a:cs typeface="Aptos"/>
              </a:defRPr>
            </a:pPr>
            <a:r>
              <a:rPr sz="825" b="0">
                <a:solidFill>
                  <a:srgbClr val="B6B1CE"/>
                </a:solidFill>
                <a:latin typeface="Aptos"/>
                <a:ea typeface="Aptos"/>
                <a:cs typeface="Aptos"/>
              </a:rPr>
              <a:t>At risk / fix recommended.</a:t>
            </a:r>
          </a:p>
        </p:txBody>
      </p:sp>
      <p:sp>
        <p:nvSpPr>
          <p:cNvPr id="24" name="Rectangle 23">
            <a:extLst>
              <a:ext uri="{FF2B5EF4-FFF2-40B4-BE49-F238E27FC236}">
                <a16:creationId xmlns:a16="http://schemas.microsoft.com/office/drawing/2014/main" id="{155ADE68-5DFC-45A9-8881-A5F7721D731E}"/>
              </a:ext>
            </a:extLst>
          </p:cNvPr>
          <p:cNvSpPr>
            <a:spLocks noGrp="1"/>
          </p:cNvSpPr>
          <p:nvPr/>
        </p:nvSpPr>
        <p:spPr>
          <a:xfrm>
            <a:off x="6877050" y="4314825"/>
            <a:ext cx="4572000" cy="600075"/>
          </a:xfrm>
          <a:prstGeom prst="rect">
            <a:avLst/>
          </a:prstGeom>
          <a:solidFill>
            <a:srgbClr val="FFFFFF">
              <a:alpha val="2745"/>
            </a:srgbClr>
          </a:solidFill>
          <a:ln w="9525">
            <a:solidFill>
              <a:srgbClr val="FFFFFF">
                <a:alpha val="9412"/>
              </a:srgbClr>
            </a:solidFill>
            <a:prstDash val="solid"/>
          </a:ln>
        </p:spPr>
        <p:txBody>
          <a:bodyPr/>
          <a:lstStyle/>
          <a:p>
            <a:endParaRPr lang="en-US"/>
          </a:p>
        </p:txBody>
      </p:sp>
      <p:sp>
        <p:nvSpPr>
          <p:cNvPr id="25" name="Rectangle 24">
            <a:extLst>
              <a:ext uri="{FF2B5EF4-FFF2-40B4-BE49-F238E27FC236}">
                <a16:creationId xmlns:a16="http://schemas.microsoft.com/office/drawing/2014/main" id="{D249D295-DA69-4C78-8175-5CF2C4C6AEFB}"/>
              </a:ext>
            </a:extLst>
          </p:cNvPr>
          <p:cNvSpPr>
            <a:spLocks noGrp="1"/>
          </p:cNvSpPr>
          <p:nvPr/>
        </p:nvSpPr>
        <p:spPr>
          <a:xfrm>
            <a:off x="7010400" y="4429125"/>
            <a:ext cx="1554480" cy="4476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F6F2E8"/>
                </a:solidFill>
                <a:latin typeface="Aptos Mono"/>
                <a:ea typeface="Aptos Mono"/>
                <a:cs typeface="Aptos Mono"/>
              </a:defRPr>
            </a:pPr>
            <a:r>
              <a:rPr sz="825" b="1">
                <a:solidFill>
                  <a:srgbClr val="F6F2E8"/>
                </a:solidFill>
                <a:latin typeface="Aptos Mono"/>
                <a:ea typeface="Aptos Mono"/>
                <a:cs typeface="Aptos Mono"/>
              </a:rPr>
              <a:t>0–39</a:t>
            </a:r>
          </a:p>
        </p:txBody>
      </p:sp>
      <p:sp>
        <p:nvSpPr>
          <p:cNvPr id="26" name="Rectangle 25">
            <a:extLst>
              <a:ext uri="{FF2B5EF4-FFF2-40B4-BE49-F238E27FC236}">
                <a16:creationId xmlns:a16="http://schemas.microsoft.com/office/drawing/2014/main" id="{6A6ED950-5D2F-45D3-B557-A70F265EC06F}"/>
              </a:ext>
            </a:extLst>
          </p:cNvPr>
          <p:cNvSpPr>
            <a:spLocks noGrp="1"/>
          </p:cNvSpPr>
          <p:nvPr/>
        </p:nvSpPr>
        <p:spPr>
          <a:xfrm>
            <a:off x="8614410" y="4429125"/>
            <a:ext cx="2651760" cy="44767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B6B1CE"/>
                </a:solidFill>
                <a:latin typeface="Aptos"/>
                <a:ea typeface="Aptos"/>
                <a:cs typeface="Aptos"/>
              </a:defRPr>
            </a:pPr>
            <a:r>
              <a:rPr sz="825" b="0">
                <a:solidFill>
                  <a:srgbClr val="B6B1CE"/>
                </a:solidFill>
                <a:latin typeface="Aptos"/>
                <a:ea typeface="Aptos"/>
                <a:cs typeface="Aptos"/>
              </a:rPr>
              <a:t>High wastage risk.</a:t>
            </a:r>
          </a:p>
        </p:txBody>
      </p:sp>
      <p:sp>
        <p:nvSpPr>
          <p:cNvPr id="27" name="Rectangle 26">
            <a:extLst>
              <a:ext uri="{FF2B5EF4-FFF2-40B4-BE49-F238E27FC236}">
                <a16:creationId xmlns:a16="http://schemas.microsoft.com/office/drawing/2014/main" id="{5CEF7BEE-331F-4EB2-B21A-D66F716DC057}"/>
              </a:ext>
            </a:extLst>
          </p:cNvPr>
          <p:cNvSpPr>
            <a:spLocks noGrp="1"/>
          </p:cNvSpPr>
          <p:nvPr/>
        </p:nvSpPr>
        <p:spPr>
          <a:xfrm>
            <a:off x="552450" y="6286500"/>
            <a:ext cx="8096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7728F"/>
                </a:solidFill>
                <a:latin typeface="Aptos Mono"/>
                <a:ea typeface="Aptos Mono"/>
                <a:cs typeface="Aptos Mono"/>
              </a:defRPr>
            </a:pPr>
            <a:r>
              <a:rPr sz="750" b="0">
                <a:solidFill>
                  <a:srgbClr val="77728F"/>
                </a:solidFill>
                <a:latin typeface="Aptos Mono"/>
                <a:ea typeface="Aptos Mono"/>
                <a:cs typeface="Aptos Mono"/>
              </a:rPr>
              <a:t>AdCritIQ Methodology Evidence Deck  ·  AdCritIQ™  ·  Just the signal before the spend.</a:t>
            </a:r>
          </a:p>
        </p:txBody>
      </p:sp>
      <p:sp>
        <p:nvSpPr>
          <p:cNvPr id="28" name="Rectangle 27">
            <a:extLst>
              <a:ext uri="{FF2B5EF4-FFF2-40B4-BE49-F238E27FC236}">
                <a16:creationId xmlns:a16="http://schemas.microsoft.com/office/drawing/2014/main" id="{05FE757E-F43B-4477-8857-1C3359BC8C94}"/>
              </a:ext>
            </a:extLst>
          </p:cNvPr>
          <p:cNvSpPr>
            <a:spLocks noGrp="1"/>
          </p:cNvSpPr>
          <p:nvPr/>
        </p:nvSpPr>
        <p:spPr>
          <a:xfrm>
            <a:off x="11144250" y="6257925"/>
            <a:ext cx="476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0">
                <a:solidFill>
                  <a:srgbClr val="D7B762"/>
                </a:solidFill>
                <a:latin typeface="Aptos Mono"/>
                <a:ea typeface="Aptos Mono"/>
                <a:cs typeface="Aptos Mono"/>
              </a:defRPr>
            </a:pPr>
            <a:r>
              <a:rPr sz="825" b="0">
                <a:solidFill>
                  <a:srgbClr val="D7B762"/>
                </a:solidFill>
                <a:latin typeface="Aptos Mono"/>
                <a:ea typeface="Aptos Mono"/>
                <a:cs typeface="Aptos Mono"/>
              </a:rPr>
              <a:t>03</a:t>
            </a:r>
          </a:p>
        </p:txBody>
      </p:sp>
    </p:spTree>
    <p:extLst>
      <p:ext uri="{BB962C8B-B14F-4D97-AF65-F5344CB8AC3E}">
        <p14:creationId xmlns:p14="http://schemas.microsoft.com/office/powerpoint/2010/main" val="4375876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4A77DF7F-B918-4C81-B247-1D2582F5AC69}"/>
              </a:ext>
            </a:extLst>
          </p:cNvPr>
          <p:cNvSpPr>
            <a:spLocks noGrp="1"/>
          </p:cNvSpPr>
          <p:nvPr/>
        </p:nvSpPr>
        <p:spPr>
          <a:xfrm>
            <a:off x="0" y="0"/>
            <a:ext cx="12192000" cy="6858000"/>
          </a:xfrm>
          <a:prstGeom prst="rect">
            <a:avLst/>
          </a:prstGeom>
          <a:solidFill>
            <a:srgbClr val="07070D"/>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966186AE-6544-458C-847B-62B20BDFC0B0}"/>
              </a:ext>
            </a:extLst>
          </p:cNvPr>
          <p:cNvSpPr>
            <a:spLocks noGrp="1"/>
          </p:cNvSpPr>
          <p:nvPr/>
        </p:nvSpPr>
        <p:spPr>
          <a:xfrm>
            <a:off x="0" y="0"/>
            <a:ext cx="12192000" cy="6858000"/>
          </a:xfrm>
          <a:prstGeom prst="rect">
            <a:avLst/>
          </a:prstGeom>
          <a:gradFill>
            <a:gsLst>
              <a:gs pos="0">
                <a:srgbClr val="07070D"/>
              </a:gs>
              <a:gs pos="55000">
                <a:srgbClr val="11111A"/>
              </a:gs>
              <a:gs pos="100000">
                <a:srgbClr val="050509"/>
              </a:gs>
            </a:gsLst>
            <a:lin ang="8100000"/>
          </a:gradFill>
          <a:ln w="0">
            <a:solidFill>
              <a:srgbClr val="000000">
                <a:alpha val="0"/>
              </a:srgbClr>
            </a:solidFill>
            <a:prstDash val="solid"/>
          </a:ln>
        </p:spPr>
        <p:txBody>
          <a:bodyPr/>
          <a:lstStyle/>
          <a:p>
            <a:endParaRPr lang="en-US"/>
          </a:p>
        </p:txBody>
      </p:sp>
      <p:sp>
        <p:nvSpPr>
          <p:cNvPr id="3" name="Oval 2">
            <a:extLst>
              <a:ext uri="{FF2B5EF4-FFF2-40B4-BE49-F238E27FC236}">
                <a16:creationId xmlns:a16="http://schemas.microsoft.com/office/drawing/2014/main" id="{3E614C33-9DF6-4A2A-BC1F-B8C7C3D7C765}"/>
              </a:ext>
            </a:extLst>
          </p:cNvPr>
          <p:cNvSpPr>
            <a:spLocks noGrp="1"/>
          </p:cNvSpPr>
          <p:nvPr/>
        </p:nvSpPr>
        <p:spPr>
          <a:xfrm>
            <a:off x="-1143000" y="-1714500"/>
            <a:ext cx="4953000" cy="4953000"/>
          </a:xfrm>
          <a:prstGeom prst="ellipse">
            <a:avLst/>
          </a:prstGeom>
          <a:solidFill>
            <a:srgbClr val="D7B762">
              <a:alpha val="8627"/>
            </a:srgbClr>
          </a:solidFill>
          <a:ln w="0">
            <a:solidFill>
              <a:srgbClr val="000000">
                <a:alpha val="0"/>
              </a:srgbClr>
            </a:solidFill>
            <a:prstDash val="solid"/>
          </a:ln>
        </p:spPr>
        <p:txBody>
          <a:bodyPr/>
          <a:lstStyle/>
          <a:p>
            <a:endParaRPr lang="en-US"/>
          </a:p>
        </p:txBody>
      </p:sp>
      <p:sp>
        <p:nvSpPr>
          <p:cNvPr id="4" name="Oval 3">
            <a:extLst>
              <a:ext uri="{FF2B5EF4-FFF2-40B4-BE49-F238E27FC236}">
                <a16:creationId xmlns:a16="http://schemas.microsoft.com/office/drawing/2014/main" id="{B5314FE9-129C-46CD-8F0A-B5CA800A4557}"/>
              </a:ext>
            </a:extLst>
          </p:cNvPr>
          <p:cNvSpPr>
            <a:spLocks noGrp="1"/>
          </p:cNvSpPr>
          <p:nvPr/>
        </p:nvSpPr>
        <p:spPr>
          <a:xfrm>
            <a:off x="8763000" y="4762500"/>
            <a:ext cx="4762500" cy="4762500"/>
          </a:xfrm>
          <a:prstGeom prst="ellipse">
            <a:avLst/>
          </a:prstGeom>
          <a:solidFill>
            <a:srgbClr val="23C7D9">
              <a:alpha val="7059"/>
            </a:srgbClr>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78069909-AC5A-4BD8-99DB-B84AB8D9BD5C}"/>
              </a:ext>
            </a:extLst>
          </p:cNvPr>
          <p:cNvSpPr>
            <a:spLocks noGrp="1"/>
          </p:cNvSpPr>
          <p:nvPr/>
        </p:nvSpPr>
        <p:spPr>
          <a:xfrm>
            <a:off x="552450" y="6096000"/>
            <a:ext cx="11087100" cy="9525"/>
          </a:xfrm>
          <a:prstGeom prst="rect">
            <a:avLst/>
          </a:prstGeom>
          <a:solidFill>
            <a:srgbClr val="D7B762">
              <a:alpha val="33333"/>
            </a:srgbClr>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537F4CF8-3B63-4E0D-A114-8E1B86FA070B}"/>
              </a:ext>
            </a:extLst>
          </p:cNvPr>
          <p:cNvSpPr>
            <a:spLocks noGrp="1"/>
          </p:cNvSpPr>
          <p:nvPr/>
        </p:nvSpPr>
        <p:spPr>
          <a:xfrm>
            <a:off x="666750" y="876300"/>
            <a:ext cx="723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D7B762"/>
                </a:solidFill>
                <a:latin typeface="Aptos Mono"/>
                <a:ea typeface="Aptos Mono"/>
                <a:cs typeface="Aptos Mono"/>
              </a:defRPr>
            </a:pPr>
            <a:r>
              <a:rPr sz="975" b="1">
                <a:solidFill>
                  <a:srgbClr val="D7B762"/>
                </a:solidFill>
                <a:latin typeface="Aptos Mono"/>
                <a:ea typeface="Aptos Mono"/>
                <a:cs typeface="Aptos Mono"/>
              </a:rPr>
              <a:t>OUTCOME DRIVERS</a:t>
            </a:r>
          </a:p>
        </p:txBody>
      </p:sp>
      <p:sp>
        <p:nvSpPr>
          <p:cNvPr id="7" name="Rectangle 6">
            <a:extLst>
              <a:ext uri="{FF2B5EF4-FFF2-40B4-BE49-F238E27FC236}">
                <a16:creationId xmlns:a16="http://schemas.microsoft.com/office/drawing/2014/main" id="{6BDA22F9-0F2D-4254-ADDC-FCBA30D3EE6C}"/>
              </a:ext>
            </a:extLst>
          </p:cNvPr>
          <p:cNvSpPr>
            <a:spLocks noGrp="1"/>
          </p:cNvSpPr>
          <p:nvPr/>
        </p:nvSpPr>
        <p:spPr>
          <a:xfrm>
            <a:off x="666750" y="1181100"/>
            <a:ext cx="6572250" cy="1809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850" b="1">
                <a:solidFill>
                  <a:srgbClr val="F6F2E8"/>
                </a:solidFill>
                <a:latin typeface="Aptos Display"/>
                <a:ea typeface="Aptos Display"/>
                <a:cs typeface="Aptos Display"/>
              </a:defRPr>
            </a:pPr>
            <a:r>
              <a:rPr sz="2850" b="1">
                <a:solidFill>
                  <a:srgbClr val="F6F2E8"/>
                </a:solidFill>
                <a:latin typeface="Aptos Display"/>
                <a:ea typeface="Aptos Display"/>
                <a:cs typeface="Aptos Display"/>
              </a:rPr>
              <a:t>Each business KPI is mapped to different creative signals.</a:t>
            </a:r>
          </a:p>
        </p:txBody>
      </p:sp>
      <p:sp>
        <p:nvSpPr>
          <p:cNvPr id="8" name="Rectangle 7">
            <a:extLst>
              <a:ext uri="{FF2B5EF4-FFF2-40B4-BE49-F238E27FC236}">
                <a16:creationId xmlns:a16="http://schemas.microsoft.com/office/drawing/2014/main" id="{E0CAFFDF-03E2-4073-8B6D-680A462495E1}"/>
              </a:ext>
            </a:extLst>
          </p:cNvPr>
          <p:cNvSpPr>
            <a:spLocks noGrp="1"/>
          </p:cNvSpPr>
          <p:nvPr/>
        </p:nvSpPr>
        <p:spPr>
          <a:xfrm>
            <a:off x="666750" y="3095625"/>
            <a:ext cx="6191250" cy="1028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B6B1CE"/>
                </a:solidFill>
                <a:latin typeface="Aptos"/>
                <a:ea typeface="Aptos"/>
                <a:cs typeface="Aptos"/>
              </a:defRPr>
            </a:pPr>
            <a:r>
              <a:rPr sz="1575" b="0">
                <a:solidFill>
                  <a:srgbClr val="B6B1CE"/>
                </a:solidFill>
                <a:latin typeface="Aptos"/>
                <a:ea typeface="Aptos"/>
                <a:cs typeface="Aptos"/>
              </a:rPr>
              <a:t>The same creative strengths do not drive every outcome. Awareness depends on memory and brand linkage. Purchase intent requires clarity, persuasion, CTA and compliance. VTR depends on format and attention dynamics.</a:t>
            </a:r>
          </a:p>
        </p:txBody>
      </p:sp>
      <p:sp>
        <p:nvSpPr>
          <p:cNvPr id="9" name="Rectangle 8">
            <a:extLst>
              <a:ext uri="{FF2B5EF4-FFF2-40B4-BE49-F238E27FC236}">
                <a16:creationId xmlns:a16="http://schemas.microsoft.com/office/drawing/2014/main" id="{D6A76953-9161-4007-8BC5-164A3DA34FE6}"/>
              </a:ext>
            </a:extLst>
          </p:cNvPr>
          <p:cNvSpPr>
            <a:spLocks noGrp="1"/>
          </p:cNvSpPr>
          <p:nvPr/>
        </p:nvSpPr>
        <p:spPr>
          <a:xfrm>
            <a:off x="6877050" y="1219200"/>
            <a:ext cx="4572000" cy="723900"/>
          </a:xfrm>
          <a:prstGeom prst="rect">
            <a:avLst/>
          </a:prstGeom>
          <a:solidFill>
            <a:srgbClr val="D7B762">
              <a:alpha val="13333"/>
            </a:srgbClr>
          </a:solidFill>
          <a:ln w="9525">
            <a:solidFill>
              <a:srgbClr val="FFFFFF">
                <a:alpha val="9412"/>
              </a:srgbClr>
            </a:solidFill>
            <a:prstDash val="solid"/>
          </a:ln>
        </p:spPr>
        <p:txBody>
          <a:bodyPr/>
          <a:lstStyle/>
          <a:p>
            <a:endParaRPr lang="en-US"/>
          </a:p>
        </p:txBody>
      </p:sp>
      <p:sp>
        <p:nvSpPr>
          <p:cNvPr id="10" name="Rectangle 9">
            <a:extLst>
              <a:ext uri="{FF2B5EF4-FFF2-40B4-BE49-F238E27FC236}">
                <a16:creationId xmlns:a16="http://schemas.microsoft.com/office/drawing/2014/main" id="{88B7228C-A50E-4781-9916-7539D8A9EA5A}"/>
              </a:ext>
            </a:extLst>
          </p:cNvPr>
          <p:cNvSpPr>
            <a:spLocks noGrp="1"/>
          </p:cNvSpPr>
          <p:nvPr/>
        </p:nvSpPr>
        <p:spPr>
          <a:xfrm>
            <a:off x="7010400" y="1333500"/>
            <a:ext cx="155448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D7B762"/>
                </a:solidFill>
                <a:latin typeface="Aptos Mono"/>
                <a:ea typeface="Aptos Mono"/>
                <a:cs typeface="Aptos Mono"/>
              </a:defRPr>
            </a:pPr>
            <a:r>
              <a:rPr sz="900" b="1">
                <a:solidFill>
                  <a:srgbClr val="D7B762"/>
                </a:solidFill>
                <a:latin typeface="Aptos Mono"/>
                <a:ea typeface="Aptos Mono"/>
                <a:cs typeface="Aptos Mono"/>
              </a:rPr>
              <a:t>Outcome</a:t>
            </a:r>
          </a:p>
        </p:txBody>
      </p:sp>
      <p:sp>
        <p:nvSpPr>
          <p:cNvPr id="11" name="Rectangle 10">
            <a:extLst>
              <a:ext uri="{FF2B5EF4-FFF2-40B4-BE49-F238E27FC236}">
                <a16:creationId xmlns:a16="http://schemas.microsoft.com/office/drawing/2014/main" id="{3FDB4FD2-323B-4B65-9E06-6DEBB3CA7C50}"/>
              </a:ext>
            </a:extLst>
          </p:cNvPr>
          <p:cNvSpPr>
            <a:spLocks noGrp="1"/>
          </p:cNvSpPr>
          <p:nvPr/>
        </p:nvSpPr>
        <p:spPr>
          <a:xfrm>
            <a:off x="8614410" y="1333500"/>
            <a:ext cx="265176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D7B762"/>
                </a:solidFill>
                <a:latin typeface="Aptos"/>
                <a:ea typeface="Aptos"/>
                <a:cs typeface="Aptos"/>
              </a:defRPr>
            </a:pPr>
            <a:r>
              <a:rPr sz="900" b="0">
                <a:solidFill>
                  <a:srgbClr val="D7B762"/>
                </a:solidFill>
                <a:latin typeface="Aptos"/>
                <a:ea typeface="Aptos"/>
                <a:cs typeface="Aptos"/>
              </a:rPr>
              <a:t>Primary creative drivers</a:t>
            </a:r>
          </a:p>
        </p:txBody>
      </p:sp>
      <p:sp>
        <p:nvSpPr>
          <p:cNvPr id="12" name="Rectangle 11">
            <a:extLst>
              <a:ext uri="{FF2B5EF4-FFF2-40B4-BE49-F238E27FC236}">
                <a16:creationId xmlns:a16="http://schemas.microsoft.com/office/drawing/2014/main" id="{126A14B2-DD06-4FB1-B7B5-222FD46E6B60}"/>
              </a:ext>
            </a:extLst>
          </p:cNvPr>
          <p:cNvSpPr>
            <a:spLocks noGrp="1"/>
          </p:cNvSpPr>
          <p:nvPr/>
        </p:nvSpPr>
        <p:spPr>
          <a:xfrm>
            <a:off x="6877050" y="1962150"/>
            <a:ext cx="4572000" cy="723900"/>
          </a:xfrm>
          <a:prstGeom prst="rect">
            <a:avLst/>
          </a:prstGeom>
          <a:solidFill>
            <a:srgbClr val="FFFFFF">
              <a:alpha val="2745"/>
            </a:srgbClr>
          </a:solidFill>
          <a:ln w="9525">
            <a:solidFill>
              <a:srgbClr val="FFFFFF">
                <a:alpha val="9412"/>
              </a:srgbClr>
            </a:solidFill>
            <a:prstDash val="solid"/>
          </a:ln>
        </p:spPr>
        <p:txBody>
          <a:bodyPr/>
          <a:lstStyle/>
          <a:p>
            <a:endParaRPr lang="en-US"/>
          </a:p>
        </p:txBody>
      </p:sp>
      <p:sp>
        <p:nvSpPr>
          <p:cNvPr id="13" name="Rectangle 12">
            <a:extLst>
              <a:ext uri="{FF2B5EF4-FFF2-40B4-BE49-F238E27FC236}">
                <a16:creationId xmlns:a16="http://schemas.microsoft.com/office/drawing/2014/main" id="{3F2F1C4E-BC7F-48E0-B23B-A05A65E919BA}"/>
              </a:ext>
            </a:extLst>
          </p:cNvPr>
          <p:cNvSpPr>
            <a:spLocks noGrp="1"/>
          </p:cNvSpPr>
          <p:nvPr/>
        </p:nvSpPr>
        <p:spPr>
          <a:xfrm>
            <a:off x="7010400" y="2076450"/>
            <a:ext cx="155448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F6F2E8"/>
                </a:solidFill>
                <a:latin typeface="Aptos Mono"/>
                <a:ea typeface="Aptos Mono"/>
                <a:cs typeface="Aptos Mono"/>
              </a:defRPr>
            </a:pPr>
            <a:r>
              <a:rPr sz="825" b="1">
                <a:solidFill>
                  <a:srgbClr val="F6F2E8"/>
                </a:solidFill>
                <a:latin typeface="Aptos Mono"/>
                <a:ea typeface="Aptos Mono"/>
                <a:cs typeface="Aptos Mono"/>
              </a:rPr>
              <a:t>Spontaneous / aided awareness</a:t>
            </a:r>
          </a:p>
        </p:txBody>
      </p:sp>
      <p:sp>
        <p:nvSpPr>
          <p:cNvPr id="14" name="Rectangle 13">
            <a:extLst>
              <a:ext uri="{FF2B5EF4-FFF2-40B4-BE49-F238E27FC236}">
                <a16:creationId xmlns:a16="http://schemas.microsoft.com/office/drawing/2014/main" id="{E6C2D970-83CE-40FD-814F-AA72EF7D7BD6}"/>
              </a:ext>
            </a:extLst>
          </p:cNvPr>
          <p:cNvSpPr>
            <a:spLocks noGrp="1"/>
          </p:cNvSpPr>
          <p:nvPr/>
        </p:nvSpPr>
        <p:spPr>
          <a:xfrm>
            <a:off x="8614410" y="2076450"/>
            <a:ext cx="265176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B6B1CE"/>
                </a:solidFill>
                <a:latin typeface="Aptos"/>
                <a:ea typeface="Aptos"/>
                <a:cs typeface="Aptos"/>
              </a:defRPr>
            </a:pPr>
            <a:r>
              <a:rPr sz="825" b="0">
                <a:solidFill>
                  <a:srgbClr val="B6B1CE"/>
                </a:solidFill>
                <a:latin typeface="Aptos"/>
                <a:ea typeface="Aptos"/>
                <a:cs typeface="Aptos"/>
              </a:rPr>
              <a:t>Memory encoding, brand recall, brand prominence, attention-brand coupling.</a:t>
            </a:r>
          </a:p>
        </p:txBody>
      </p:sp>
      <p:sp>
        <p:nvSpPr>
          <p:cNvPr id="15" name="Rectangle 14">
            <a:extLst>
              <a:ext uri="{FF2B5EF4-FFF2-40B4-BE49-F238E27FC236}">
                <a16:creationId xmlns:a16="http://schemas.microsoft.com/office/drawing/2014/main" id="{974DB409-637B-4954-B103-DB219BA856AD}"/>
              </a:ext>
            </a:extLst>
          </p:cNvPr>
          <p:cNvSpPr>
            <a:spLocks noGrp="1"/>
          </p:cNvSpPr>
          <p:nvPr/>
        </p:nvSpPr>
        <p:spPr>
          <a:xfrm>
            <a:off x="6877050" y="2705100"/>
            <a:ext cx="4572000" cy="723900"/>
          </a:xfrm>
          <a:prstGeom prst="rect">
            <a:avLst/>
          </a:prstGeom>
          <a:solidFill>
            <a:srgbClr val="FFFFFF">
              <a:alpha val="2745"/>
            </a:srgbClr>
          </a:solidFill>
          <a:ln w="9525">
            <a:solidFill>
              <a:srgbClr val="FFFFFF">
                <a:alpha val="9412"/>
              </a:srgbClr>
            </a:solidFill>
            <a:prstDash val="solid"/>
          </a:ln>
        </p:spPr>
        <p:txBody>
          <a:bodyPr/>
          <a:lstStyle/>
          <a:p>
            <a:endParaRPr lang="en-US"/>
          </a:p>
        </p:txBody>
      </p:sp>
      <p:sp>
        <p:nvSpPr>
          <p:cNvPr id="16" name="Rectangle 15">
            <a:extLst>
              <a:ext uri="{FF2B5EF4-FFF2-40B4-BE49-F238E27FC236}">
                <a16:creationId xmlns:a16="http://schemas.microsoft.com/office/drawing/2014/main" id="{AC4C2470-BCAC-4E3F-9A94-ED6BC0E4856C}"/>
              </a:ext>
            </a:extLst>
          </p:cNvPr>
          <p:cNvSpPr>
            <a:spLocks noGrp="1"/>
          </p:cNvSpPr>
          <p:nvPr/>
        </p:nvSpPr>
        <p:spPr>
          <a:xfrm>
            <a:off x="7010400" y="2819400"/>
            <a:ext cx="155448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F6F2E8"/>
                </a:solidFill>
                <a:latin typeface="Aptos Mono"/>
                <a:ea typeface="Aptos Mono"/>
                <a:cs typeface="Aptos Mono"/>
              </a:defRPr>
            </a:pPr>
            <a:r>
              <a:rPr sz="825" b="1">
                <a:solidFill>
                  <a:srgbClr val="F6F2E8"/>
                </a:solidFill>
                <a:latin typeface="Aptos Mono"/>
                <a:ea typeface="Aptos Mono"/>
                <a:cs typeface="Aptos Mono"/>
              </a:rPr>
              <a:t>Consideration</a:t>
            </a:r>
          </a:p>
        </p:txBody>
      </p:sp>
      <p:sp>
        <p:nvSpPr>
          <p:cNvPr id="17" name="Rectangle 16">
            <a:extLst>
              <a:ext uri="{FF2B5EF4-FFF2-40B4-BE49-F238E27FC236}">
                <a16:creationId xmlns:a16="http://schemas.microsoft.com/office/drawing/2014/main" id="{A6DEBCC2-681D-4B1C-9F38-DC4BEF56EAC6}"/>
              </a:ext>
            </a:extLst>
          </p:cNvPr>
          <p:cNvSpPr>
            <a:spLocks noGrp="1"/>
          </p:cNvSpPr>
          <p:nvPr/>
        </p:nvSpPr>
        <p:spPr>
          <a:xfrm>
            <a:off x="8614410" y="2819400"/>
            <a:ext cx="265176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B6B1CE"/>
                </a:solidFill>
                <a:latin typeface="Aptos"/>
                <a:ea typeface="Aptos"/>
                <a:cs typeface="Aptos"/>
              </a:defRPr>
            </a:pPr>
            <a:r>
              <a:rPr sz="825" b="0">
                <a:solidFill>
                  <a:srgbClr val="B6B1CE"/>
                </a:solidFill>
                <a:latin typeface="Aptos"/>
                <a:ea typeface="Aptos"/>
                <a:cs typeface="Aptos"/>
              </a:rPr>
              <a:t>Message clarity, emotional coherence, trust, creative efficiency.</a:t>
            </a:r>
          </a:p>
        </p:txBody>
      </p:sp>
      <p:sp>
        <p:nvSpPr>
          <p:cNvPr id="18" name="Rectangle 17">
            <a:extLst>
              <a:ext uri="{FF2B5EF4-FFF2-40B4-BE49-F238E27FC236}">
                <a16:creationId xmlns:a16="http://schemas.microsoft.com/office/drawing/2014/main" id="{23EBFFF2-7244-4C96-A8D8-360B42030D17}"/>
              </a:ext>
            </a:extLst>
          </p:cNvPr>
          <p:cNvSpPr>
            <a:spLocks noGrp="1"/>
          </p:cNvSpPr>
          <p:nvPr/>
        </p:nvSpPr>
        <p:spPr>
          <a:xfrm>
            <a:off x="6877050" y="3448050"/>
            <a:ext cx="4572000" cy="723900"/>
          </a:xfrm>
          <a:prstGeom prst="rect">
            <a:avLst/>
          </a:prstGeom>
          <a:solidFill>
            <a:srgbClr val="FFFFFF">
              <a:alpha val="2745"/>
            </a:srgbClr>
          </a:solidFill>
          <a:ln w="9525">
            <a:solidFill>
              <a:srgbClr val="FFFFFF">
                <a:alpha val="9412"/>
              </a:srgbClr>
            </a:solidFill>
            <a:prstDash val="solid"/>
          </a:ln>
        </p:spPr>
        <p:txBody>
          <a:bodyPr/>
          <a:lstStyle/>
          <a:p>
            <a:endParaRPr lang="en-US"/>
          </a:p>
        </p:txBody>
      </p:sp>
      <p:sp>
        <p:nvSpPr>
          <p:cNvPr id="19" name="Rectangle 18">
            <a:extLst>
              <a:ext uri="{FF2B5EF4-FFF2-40B4-BE49-F238E27FC236}">
                <a16:creationId xmlns:a16="http://schemas.microsoft.com/office/drawing/2014/main" id="{75F5CBF8-D3C6-4FFE-8055-DDAAEA1F9334}"/>
              </a:ext>
            </a:extLst>
          </p:cNvPr>
          <p:cNvSpPr>
            <a:spLocks noGrp="1"/>
          </p:cNvSpPr>
          <p:nvPr/>
        </p:nvSpPr>
        <p:spPr>
          <a:xfrm>
            <a:off x="7010400" y="3562350"/>
            <a:ext cx="155448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F6F2E8"/>
                </a:solidFill>
                <a:latin typeface="Aptos Mono"/>
                <a:ea typeface="Aptos Mono"/>
                <a:cs typeface="Aptos Mono"/>
              </a:defRPr>
            </a:pPr>
            <a:r>
              <a:rPr sz="825" b="1">
                <a:solidFill>
                  <a:srgbClr val="F6F2E8"/>
                </a:solidFill>
                <a:latin typeface="Aptos Mono"/>
                <a:ea typeface="Aptos Mono"/>
                <a:cs typeface="Aptos Mono"/>
              </a:rPr>
              <a:t>Purchase intent / response</a:t>
            </a:r>
          </a:p>
        </p:txBody>
      </p:sp>
      <p:sp>
        <p:nvSpPr>
          <p:cNvPr id="20" name="Rectangle 19">
            <a:extLst>
              <a:ext uri="{FF2B5EF4-FFF2-40B4-BE49-F238E27FC236}">
                <a16:creationId xmlns:a16="http://schemas.microsoft.com/office/drawing/2014/main" id="{D12192BE-1A0C-45C6-977E-B739AAE98A9F}"/>
              </a:ext>
            </a:extLst>
          </p:cNvPr>
          <p:cNvSpPr>
            <a:spLocks noGrp="1"/>
          </p:cNvSpPr>
          <p:nvPr/>
        </p:nvSpPr>
        <p:spPr>
          <a:xfrm>
            <a:off x="8614410" y="3562350"/>
            <a:ext cx="265176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B6B1CE"/>
                </a:solidFill>
                <a:latin typeface="Aptos"/>
                <a:ea typeface="Aptos"/>
                <a:cs typeface="Aptos"/>
              </a:defRPr>
            </a:pPr>
            <a:r>
              <a:rPr sz="825" b="0">
                <a:solidFill>
                  <a:srgbClr val="B6B1CE"/>
                </a:solidFill>
                <a:latin typeface="Aptos"/>
                <a:ea typeface="Aptos"/>
                <a:cs typeface="Aptos"/>
              </a:rPr>
              <a:t>CTA clarity, proposition clarity, product desire, compliance.</a:t>
            </a:r>
          </a:p>
        </p:txBody>
      </p:sp>
      <p:sp>
        <p:nvSpPr>
          <p:cNvPr id="21" name="Rectangle 20">
            <a:extLst>
              <a:ext uri="{FF2B5EF4-FFF2-40B4-BE49-F238E27FC236}">
                <a16:creationId xmlns:a16="http://schemas.microsoft.com/office/drawing/2014/main" id="{18960D7F-F571-4D52-BBA3-3C5D9A5A456E}"/>
              </a:ext>
            </a:extLst>
          </p:cNvPr>
          <p:cNvSpPr>
            <a:spLocks noGrp="1"/>
          </p:cNvSpPr>
          <p:nvPr/>
        </p:nvSpPr>
        <p:spPr>
          <a:xfrm>
            <a:off x="6877050" y="4191000"/>
            <a:ext cx="4572000" cy="723900"/>
          </a:xfrm>
          <a:prstGeom prst="rect">
            <a:avLst/>
          </a:prstGeom>
          <a:solidFill>
            <a:srgbClr val="FFFFFF">
              <a:alpha val="2745"/>
            </a:srgbClr>
          </a:solidFill>
          <a:ln w="9525">
            <a:solidFill>
              <a:srgbClr val="FFFFFF">
                <a:alpha val="9412"/>
              </a:srgbClr>
            </a:solidFill>
            <a:prstDash val="solid"/>
          </a:ln>
        </p:spPr>
        <p:txBody>
          <a:bodyPr/>
          <a:lstStyle/>
          <a:p>
            <a:endParaRPr lang="en-US"/>
          </a:p>
        </p:txBody>
      </p:sp>
      <p:sp>
        <p:nvSpPr>
          <p:cNvPr id="22" name="Rectangle 21">
            <a:extLst>
              <a:ext uri="{FF2B5EF4-FFF2-40B4-BE49-F238E27FC236}">
                <a16:creationId xmlns:a16="http://schemas.microsoft.com/office/drawing/2014/main" id="{CA807CD3-B17A-451D-BA58-C07FDD61FD7F}"/>
              </a:ext>
            </a:extLst>
          </p:cNvPr>
          <p:cNvSpPr>
            <a:spLocks noGrp="1"/>
          </p:cNvSpPr>
          <p:nvPr/>
        </p:nvSpPr>
        <p:spPr>
          <a:xfrm>
            <a:off x="7010400" y="4305300"/>
            <a:ext cx="155448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F6F2E8"/>
                </a:solidFill>
                <a:latin typeface="Aptos Mono"/>
                <a:ea typeface="Aptos Mono"/>
                <a:cs typeface="Aptos Mono"/>
              </a:defRPr>
            </a:pPr>
            <a:r>
              <a:rPr sz="825" b="1">
                <a:solidFill>
                  <a:srgbClr val="F6F2E8"/>
                </a:solidFill>
                <a:latin typeface="Aptos Mono"/>
                <a:ea typeface="Aptos Mono"/>
                <a:cs typeface="Aptos Mono"/>
              </a:rPr>
              <a:t>VTR / completion</a:t>
            </a:r>
          </a:p>
        </p:txBody>
      </p:sp>
      <p:sp>
        <p:nvSpPr>
          <p:cNvPr id="23" name="Rectangle 22">
            <a:extLst>
              <a:ext uri="{FF2B5EF4-FFF2-40B4-BE49-F238E27FC236}">
                <a16:creationId xmlns:a16="http://schemas.microsoft.com/office/drawing/2014/main" id="{96BFBE43-B2A1-464E-ABF0-C1ADCE81348E}"/>
              </a:ext>
            </a:extLst>
          </p:cNvPr>
          <p:cNvSpPr>
            <a:spLocks noGrp="1"/>
          </p:cNvSpPr>
          <p:nvPr/>
        </p:nvSpPr>
        <p:spPr>
          <a:xfrm>
            <a:off x="8614410" y="4305300"/>
            <a:ext cx="265176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B6B1CE"/>
                </a:solidFill>
                <a:latin typeface="Aptos"/>
                <a:ea typeface="Aptos"/>
                <a:cs typeface="Aptos"/>
              </a:defRPr>
            </a:pPr>
            <a:r>
              <a:rPr sz="825" b="0">
                <a:solidFill>
                  <a:srgbClr val="B6B1CE"/>
                </a:solidFill>
                <a:latin typeface="Aptos"/>
                <a:ea typeface="Aptos"/>
                <a:cs typeface="Aptos"/>
              </a:rPr>
              <a:t>Hook strength, hold rate, sustained attention and recovery.</a:t>
            </a:r>
          </a:p>
        </p:txBody>
      </p:sp>
      <p:sp>
        <p:nvSpPr>
          <p:cNvPr id="24" name="Rectangle 23">
            <a:extLst>
              <a:ext uri="{FF2B5EF4-FFF2-40B4-BE49-F238E27FC236}">
                <a16:creationId xmlns:a16="http://schemas.microsoft.com/office/drawing/2014/main" id="{2881B961-EA63-4FD0-8F88-D08B7C2D73F5}"/>
              </a:ext>
            </a:extLst>
          </p:cNvPr>
          <p:cNvSpPr>
            <a:spLocks noGrp="1"/>
          </p:cNvSpPr>
          <p:nvPr/>
        </p:nvSpPr>
        <p:spPr>
          <a:xfrm>
            <a:off x="552450" y="6286500"/>
            <a:ext cx="8096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7728F"/>
                </a:solidFill>
                <a:latin typeface="Aptos Mono"/>
                <a:ea typeface="Aptos Mono"/>
                <a:cs typeface="Aptos Mono"/>
              </a:defRPr>
            </a:pPr>
            <a:r>
              <a:rPr sz="750" b="0">
                <a:solidFill>
                  <a:srgbClr val="77728F"/>
                </a:solidFill>
                <a:latin typeface="Aptos Mono"/>
                <a:ea typeface="Aptos Mono"/>
                <a:cs typeface="Aptos Mono"/>
              </a:rPr>
              <a:t>AdCritIQ Methodology Evidence Deck  ·  AdCritIQ™  ·  Just the signal before the spend.</a:t>
            </a:r>
          </a:p>
        </p:txBody>
      </p:sp>
      <p:sp>
        <p:nvSpPr>
          <p:cNvPr id="25" name="Rectangle 24">
            <a:extLst>
              <a:ext uri="{FF2B5EF4-FFF2-40B4-BE49-F238E27FC236}">
                <a16:creationId xmlns:a16="http://schemas.microsoft.com/office/drawing/2014/main" id="{3927B106-C34B-4B31-8CBD-DD2332549D46}"/>
              </a:ext>
            </a:extLst>
          </p:cNvPr>
          <p:cNvSpPr>
            <a:spLocks noGrp="1"/>
          </p:cNvSpPr>
          <p:nvPr/>
        </p:nvSpPr>
        <p:spPr>
          <a:xfrm>
            <a:off x="11144250" y="6257925"/>
            <a:ext cx="476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0">
                <a:solidFill>
                  <a:srgbClr val="D7B762"/>
                </a:solidFill>
                <a:latin typeface="Aptos Mono"/>
                <a:ea typeface="Aptos Mono"/>
                <a:cs typeface="Aptos Mono"/>
              </a:defRPr>
            </a:pPr>
            <a:r>
              <a:rPr sz="825" b="0">
                <a:solidFill>
                  <a:srgbClr val="D7B762"/>
                </a:solidFill>
                <a:latin typeface="Aptos Mono"/>
                <a:ea typeface="Aptos Mono"/>
                <a:cs typeface="Aptos Mono"/>
              </a:rPr>
              <a:t>04</a:t>
            </a:r>
          </a:p>
        </p:txBody>
      </p:sp>
    </p:spTree>
    <p:extLst>
      <p:ext uri="{BB962C8B-B14F-4D97-AF65-F5344CB8AC3E}">
        <p14:creationId xmlns:p14="http://schemas.microsoft.com/office/powerpoint/2010/main" val="1095796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47D7414A-3DF2-4A46-908F-0A5F6E5EB774}"/>
              </a:ext>
            </a:extLst>
          </p:cNvPr>
          <p:cNvSpPr>
            <a:spLocks noGrp="1"/>
          </p:cNvSpPr>
          <p:nvPr/>
        </p:nvSpPr>
        <p:spPr>
          <a:xfrm>
            <a:off x="0" y="0"/>
            <a:ext cx="12192000" cy="6858000"/>
          </a:xfrm>
          <a:prstGeom prst="rect">
            <a:avLst/>
          </a:prstGeom>
          <a:solidFill>
            <a:srgbClr val="07070D"/>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F35DBB78-C2F8-49B5-A2AA-D8DBF6C181D3}"/>
              </a:ext>
            </a:extLst>
          </p:cNvPr>
          <p:cNvSpPr>
            <a:spLocks noGrp="1"/>
          </p:cNvSpPr>
          <p:nvPr/>
        </p:nvSpPr>
        <p:spPr>
          <a:xfrm>
            <a:off x="0" y="0"/>
            <a:ext cx="12192000" cy="6858000"/>
          </a:xfrm>
          <a:prstGeom prst="rect">
            <a:avLst/>
          </a:prstGeom>
          <a:gradFill>
            <a:gsLst>
              <a:gs pos="0">
                <a:srgbClr val="07070D"/>
              </a:gs>
              <a:gs pos="55000">
                <a:srgbClr val="11111A"/>
              </a:gs>
              <a:gs pos="100000">
                <a:srgbClr val="050509"/>
              </a:gs>
            </a:gsLst>
            <a:lin ang="8100000"/>
          </a:gradFill>
          <a:ln w="0">
            <a:solidFill>
              <a:srgbClr val="000000">
                <a:alpha val="0"/>
              </a:srgbClr>
            </a:solidFill>
            <a:prstDash val="solid"/>
          </a:ln>
        </p:spPr>
        <p:txBody>
          <a:bodyPr/>
          <a:lstStyle/>
          <a:p>
            <a:endParaRPr lang="en-US"/>
          </a:p>
        </p:txBody>
      </p:sp>
      <p:sp>
        <p:nvSpPr>
          <p:cNvPr id="3" name="Oval 2">
            <a:extLst>
              <a:ext uri="{FF2B5EF4-FFF2-40B4-BE49-F238E27FC236}">
                <a16:creationId xmlns:a16="http://schemas.microsoft.com/office/drawing/2014/main" id="{92D8499F-04F2-4724-A475-5C7FD8552889}"/>
              </a:ext>
            </a:extLst>
          </p:cNvPr>
          <p:cNvSpPr>
            <a:spLocks noGrp="1"/>
          </p:cNvSpPr>
          <p:nvPr/>
        </p:nvSpPr>
        <p:spPr>
          <a:xfrm>
            <a:off x="-1143000" y="-1714500"/>
            <a:ext cx="4953000" cy="4953000"/>
          </a:xfrm>
          <a:prstGeom prst="ellipse">
            <a:avLst/>
          </a:prstGeom>
          <a:solidFill>
            <a:srgbClr val="D7B762">
              <a:alpha val="8627"/>
            </a:srgbClr>
          </a:solidFill>
          <a:ln w="0">
            <a:solidFill>
              <a:srgbClr val="000000">
                <a:alpha val="0"/>
              </a:srgbClr>
            </a:solidFill>
            <a:prstDash val="solid"/>
          </a:ln>
        </p:spPr>
        <p:txBody>
          <a:bodyPr/>
          <a:lstStyle/>
          <a:p>
            <a:endParaRPr lang="en-US"/>
          </a:p>
        </p:txBody>
      </p:sp>
      <p:sp>
        <p:nvSpPr>
          <p:cNvPr id="4" name="Oval 3">
            <a:extLst>
              <a:ext uri="{FF2B5EF4-FFF2-40B4-BE49-F238E27FC236}">
                <a16:creationId xmlns:a16="http://schemas.microsoft.com/office/drawing/2014/main" id="{25E83EFA-EA3F-4301-B370-F6CFC714F506}"/>
              </a:ext>
            </a:extLst>
          </p:cNvPr>
          <p:cNvSpPr>
            <a:spLocks noGrp="1"/>
          </p:cNvSpPr>
          <p:nvPr/>
        </p:nvSpPr>
        <p:spPr>
          <a:xfrm>
            <a:off x="8763000" y="4762500"/>
            <a:ext cx="4762500" cy="4762500"/>
          </a:xfrm>
          <a:prstGeom prst="ellipse">
            <a:avLst/>
          </a:prstGeom>
          <a:solidFill>
            <a:srgbClr val="23C7D9">
              <a:alpha val="7059"/>
            </a:srgbClr>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F0ED846A-DD48-4A54-978B-6FCF5E74CAD1}"/>
              </a:ext>
            </a:extLst>
          </p:cNvPr>
          <p:cNvSpPr>
            <a:spLocks noGrp="1"/>
          </p:cNvSpPr>
          <p:nvPr/>
        </p:nvSpPr>
        <p:spPr>
          <a:xfrm>
            <a:off x="552450" y="6096000"/>
            <a:ext cx="11087100" cy="9525"/>
          </a:xfrm>
          <a:prstGeom prst="rect">
            <a:avLst/>
          </a:prstGeom>
          <a:solidFill>
            <a:srgbClr val="D7B762">
              <a:alpha val="33333"/>
            </a:srgbClr>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5A952DA6-744D-4BA8-B4C5-47E76A997BBF}"/>
              </a:ext>
            </a:extLst>
          </p:cNvPr>
          <p:cNvSpPr>
            <a:spLocks noGrp="1"/>
          </p:cNvSpPr>
          <p:nvPr/>
        </p:nvSpPr>
        <p:spPr>
          <a:xfrm>
            <a:off x="666750" y="876300"/>
            <a:ext cx="723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D7B762"/>
                </a:solidFill>
                <a:latin typeface="Aptos Mono"/>
                <a:ea typeface="Aptos Mono"/>
                <a:cs typeface="Aptos Mono"/>
              </a:defRPr>
            </a:pPr>
            <a:r>
              <a:rPr sz="975" b="1">
                <a:solidFill>
                  <a:srgbClr val="D7B762"/>
                </a:solidFill>
                <a:latin typeface="Aptos Mono"/>
                <a:ea typeface="Aptos Mono"/>
                <a:cs typeface="Aptos Mono"/>
              </a:rPr>
              <a:t>FORMAT AWARENESS</a:t>
            </a:r>
          </a:p>
        </p:txBody>
      </p:sp>
      <p:sp>
        <p:nvSpPr>
          <p:cNvPr id="7" name="Rectangle 6">
            <a:extLst>
              <a:ext uri="{FF2B5EF4-FFF2-40B4-BE49-F238E27FC236}">
                <a16:creationId xmlns:a16="http://schemas.microsoft.com/office/drawing/2014/main" id="{E708B094-8A0D-4A46-955E-DC858E261AE8}"/>
              </a:ext>
            </a:extLst>
          </p:cNvPr>
          <p:cNvSpPr>
            <a:spLocks noGrp="1"/>
          </p:cNvSpPr>
          <p:nvPr/>
        </p:nvSpPr>
        <p:spPr>
          <a:xfrm>
            <a:off x="666750" y="1181100"/>
            <a:ext cx="6572250" cy="1809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850" b="1">
                <a:solidFill>
                  <a:srgbClr val="F6F2E8"/>
                </a:solidFill>
                <a:latin typeface="Aptos Display"/>
                <a:ea typeface="Aptos Display"/>
                <a:cs typeface="Aptos Display"/>
              </a:defRPr>
            </a:pPr>
            <a:r>
              <a:rPr sz="2850" b="1">
                <a:solidFill>
                  <a:srgbClr val="F6F2E8"/>
                </a:solidFill>
                <a:latin typeface="Aptos Display"/>
                <a:ea typeface="Aptos Display"/>
                <a:cs typeface="Aptos Display"/>
              </a:rPr>
              <a:t>The scoring changes when the creative format changes.</a:t>
            </a:r>
          </a:p>
        </p:txBody>
      </p:sp>
      <p:sp>
        <p:nvSpPr>
          <p:cNvPr id="8" name="Rectangle 7">
            <a:extLst>
              <a:ext uri="{FF2B5EF4-FFF2-40B4-BE49-F238E27FC236}">
                <a16:creationId xmlns:a16="http://schemas.microsoft.com/office/drawing/2014/main" id="{528F70EE-3FA2-4E85-B10E-CAF5B00F1F76}"/>
              </a:ext>
            </a:extLst>
          </p:cNvPr>
          <p:cNvSpPr>
            <a:spLocks noGrp="1"/>
          </p:cNvSpPr>
          <p:nvPr/>
        </p:nvSpPr>
        <p:spPr>
          <a:xfrm>
            <a:off x="666750" y="3095625"/>
            <a:ext cx="6191250" cy="1028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B6B1CE"/>
                </a:solidFill>
                <a:latin typeface="Aptos"/>
                <a:ea typeface="Aptos"/>
                <a:cs typeface="Aptos"/>
              </a:defRPr>
            </a:pPr>
            <a:r>
              <a:rPr sz="1575" b="0">
                <a:solidFill>
                  <a:srgbClr val="B6B1CE"/>
                </a:solidFill>
                <a:latin typeface="Aptos"/>
                <a:ea typeface="Aptos"/>
                <a:cs typeface="Aptos"/>
              </a:rPr>
              <a:t>Video, static, motion, audio and text assets do different jobs in different environments. AdCritIQ adapts diagnostic language and avoids applying video-only concepts to static or text assets.</a:t>
            </a:r>
          </a:p>
        </p:txBody>
      </p:sp>
      <p:sp>
        <p:nvSpPr>
          <p:cNvPr id="9" name="Rectangle 8">
            <a:extLst>
              <a:ext uri="{FF2B5EF4-FFF2-40B4-BE49-F238E27FC236}">
                <a16:creationId xmlns:a16="http://schemas.microsoft.com/office/drawing/2014/main" id="{367B3622-B7F0-4D10-8C65-48B1AFE8C110}"/>
              </a:ext>
            </a:extLst>
          </p:cNvPr>
          <p:cNvSpPr>
            <a:spLocks noGrp="1"/>
          </p:cNvSpPr>
          <p:nvPr/>
        </p:nvSpPr>
        <p:spPr>
          <a:xfrm>
            <a:off x="6877050" y="1219200"/>
            <a:ext cx="4572000" cy="723900"/>
          </a:xfrm>
          <a:prstGeom prst="rect">
            <a:avLst/>
          </a:prstGeom>
          <a:solidFill>
            <a:srgbClr val="D7B762">
              <a:alpha val="13333"/>
            </a:srgbClr>
          </a:solidFill>
          <a:ln w="9525">
            <a:solidFill>
              <a:srgbClr val="FFFFFF">
                <a:alpha val="9412"/>
              </a:srgbClr>
            </a:solidFill>
            <a:prstDash val="solid"/>
          </a:ln>
        </p:spPr>
        <p:txBody>
          <a:bodyPr/>
          <a:lstStyle/>
          <a:p>
            <a:endParaRPr lang="en-US"/>
          </a:p>
        </p:txBody>
      </p:sp>
      <p:sp>
        <p:nvSpPr>
          <p:cNvPr id="10" name="Rectangle 9">
            <a:extLst>
              <a:ext uri="{FF2B5EF4-FFF2-40B4-BE49-F238E27FC236}">
                <a16:creationId xmlns:a16="http://schemas.microsoft.com/office/drawing/2014/main" id="{C981B677-31A6-42CE-87D1-167E89552CC2}"/>
              </a:ext>
            </a:extLst>
          </p:cNvPr>
          <p:cNvSpPr>
            <a:spLocks noGrp="1"/>
          </p:cNvSpPr>
          <p:nvPr/>
        </p:nvSpPr>
        <p:spPr>
          <a:xfrm>
            <a:off x="7010400" y="1333500"/>
            <a:ext cx="155448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D7B762"/>
                </a:solidFill>
                <a:latin typeface="Aptos Mono"/>
                <a:ea typeface="Aptos Mono"/>
                <a:cs typeface="Aptos Mono"/>
              </a:defRPr>
            </a:pPr>
            <a:r>
              <a:rPr sz="900" b="1">
                <a:solidFill>
                  <a:srgbClr val="D7B762"/>
                </a:solidFill>
                <a:latin typeface="Aptos Mono"/>
                <a:ea typeface="Aptos Mono"/>
                <a:cs typeface="Aptos Mono"/>
              </a:rPr>
              <a:t>Format</a:t>
            </a:r>
          </a:p>
        </p:txBody>
      </p:sp>
      <p:sp>
        <p:nvSpPr>
          <p:cNvPr id="11" name="Rectangle 10">
            <a:extLst>
              <a:ext uri="{FF2B5EF4-FFF2-40B4-BE49-F238E27FC236}">
                <a16:creationId xmlns:a16="http://schemas.microsoft.com/office/drawing/2014/main" id="{FDBBC8B1-F17B-4435-AD31-E51335F4AD2C}"/>
              </a:ext>
            </a:extLst>
          </p:cNvPr>
          <p:cNvSpPr>
            <a:spLocks noGrp="1"/>
          </p:cNvSpPr>
          <p:nvPr/>
        </p:nvSpPr>
        <p:spPr>
          <a:xfrm>
            <a:off x="8614410" y="1333500"/>
            <a:ext cx="265176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D7B762"/>
                </a:solidFill>
                <a:latin typeface="Aptos"/>
                <a:ea typeface="Aptos"/>
                <a:cs typeface="Aptos"/>
              </a:defRPr>
            </a:pPr>
            <a:r>
              <a:rPr sz="900" b="0">
                <a:solidFill>
                  <a:srgbClr val="D7B762"/>
                </a:solidFill>
                <a:latin typeface="Aptos"/>
                <a:ea typeface="Aptos"/>
                <a:cs typeface="Aptos"/>
              </a:rPr>
              <a:t>Relevant signals</a:t>
            </a:r>
          </a:p>
        </p:txBody>
      </p:sp>
      <p:sp>
        <p:nvSpPr>
          <p:cNvPr id="12" name="Rectangle 11">
            <a:extLst>
              <a:ext uri="{FF2B5EF4-FFF2-40B4-BE49-F238E27FC236}">
                <a16:creationId xmlns:a16="http://schemas.microsoft.com/office/drawing/2014/main" id="{CFE0611C-31CC-45AB-B9EC-7A540CBE91F1}"/>
              </a:ext>
            </a:extLst>
          </p:cNvPr>
          <p:cNvSpPr>
            <a:spLocks noGrp="1"/>
          </p:cNvSpPr>
          <p:nvPr/>
        </p:nvSpPr>
        <p:spPr>
          <a:xfrm>
            <a:off x="6877050" y="1962150"/>
            <a:ext cx="4572000" cy="723900"/>
          </a:xfrm>
          <a:prstGeom prst="rect">
            <a:avLst/>
          </a:prstGeom>
          <a:solidFill>
            <a:srgbClr val="FFFFFF">
              <a:alpha val="2745"/>
            </a:srgbClr>
          </a:solidFill>
          <a:ln w="9525">
            <a:solidFill>
              <a:srgbClr val="FFFFFF">
                <a:alpha val="9412"/>
              </a:srgbClr>
            </a:solidFill>
            <a:prstDash val="solid"/>
          </a:ln>
        </p:spPr>
        <p:txBody>
          <a:bodyPr/>
          <a:lstStyle/>
          <a:p>
            <a:endParaRPr lang="en-US"/>
          </a:p>
        </p:txBody>
      </p:sp>
      <p:sp>
        <p:nvSpPr>
          <p:cNvPr id="13" name="Rectangle 12">
            <a:extLst>
              <a:ext uri="{FF2B5EF4-FFF2-40B4-BE49-F238E27FC236}">
                <a16:creationId xmlns:a16="http://schemas.microsoft.com/office/drawing/2014/main" id="{B71C21ED-D23B-4BF4-B7E2-6603CD9B167E}"/>
              </a:ext>
            </a:extLst>
          </p:cNvPr>
          <p:cNvSpPr>
            <a:spLocks noGrp="1"/>
          </p:cNvSpPr>
          <p:nvPr/>
        </p:nvSpPr>
        <p:spPr>
          <a:xfrm>
            <a:off x="7010400" y="2076450"/>
            <a:ext cx="155448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F6F2E8"/>
                </a:solidFill>
                <a:latin typeface="Aptos Mono"/>
                <a:ea typeface="Aptos Mono"/>
                <a:cs typeface="Aptos Mono"/>
              </a:defRPr>
            </a:pPr>
            <a:r>
              <a:rPr sz="825" b="1">
                <a:solidFill>
                  <a:srgbClr val="F6F2E8"/>
                </a:solidFill>
                <a:latin typeface="Aptos Mono"/>
                <a:ea typeface="Aptos Mono"/>
                <a:cs typeface="Aptos Mono"/>
              </a:rPr>
              <a:t>Video</a:t>
            </a:r>
          </a:p>
        </p:txBody>
      </p:sp>
      <p:sp>
        <p:nvSpPr>
          <p:cNvPr id="14" name="Rectangle 13">
            <a:extLst>
              <a:ext uri="{FF2B5EF4-FFF2-40B4-BE49-F238E27FC236}">
                <a16:creationId xmlns:a16="http://schemas.microsoft.com/office/drawing/2014/main" id="{2A150360-F077-4B88-AEED-8AE236BDE588}"/>
              </a:ext>
            </a:extLst>
          </p:cNvPr>
          <p:cNvSpPr>
            <a:spLocks noGrp="1"/>
          </p:cNvSpPr>
          <p:nvPr/>
        </p:nvSpPr>
        <p:spPr>
          <a:xfrm>
            <a:off x="8614410" y="2076450"/>
            <a:ext cx="265176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B6B1CE"/>
                </a:solidFill>
                <a:latin typeface="Aptos"/>
                <a:ea typeface="Aptos"/>
                <a:cs typeface="Aptos"/>
              </a:defRPr>
            </a:pPr>
            <a:r>
              <a:rPr sz="825" b="0">
                <a:solidFill>
                  <a:srgbClr val="B6B1CE"/>
                </a:solidFill>
                <a:latin typeface="Aptos"/>
                <a:ea typeface="Aptos"/>
                <a:cs typeface="Aptos"/>
              </a:rPr>
              <a:t>Hook, hold, pacing, sound, completion readiness.</a:t>
            </a:r>
          </a:p>
        </p:txBody>
      </p:sp>
      <p:sp>
        <p:nvSpPr>
          <p:cNvPr id="15" name="Rectangle 14">
            <a:extLst>
              <a:ext uri="{FF2B5EF4-FFF2-40B4-BE49-F238E27FC236}">
                <a16:creationId xmlns:a16="http://schemas.microsoft.com/office/drawing/2014/main" id="{44080A44-61B8-4009-9C05-C9899F06A38F}"/>
              </a:ext>
            </a:extLst>
          </p:cNvPr>
          <p:cNvSpPr>
            <a:spLocks noGrp="1"/>
          </p:cNvSpPr>
          <p:nvPr/>
        </p:nvSpPr>
        <p:spPr>
          <a:xfrm>
            <a:off x="6877050" y="2705100"/>
            <a:ext cx="4572000" cy="723900"/>
          </a:xfrm>
          <a:prstGeom prst="rect">
            <a:avLst/>
          </a:prstGeom>
          <a:solidFill>
            <a:srgbClr val="FFFFFF">
              <a:alpha val="2745"/>
            </a:srgbClr>
          </a:solidFill>
          <a:ln w="9525">
            <a:solidFill>
              <a:srgbClr val="FFFFFF">
                <a:alpha val="9412"/>
              </a:srgbClr>
            </a:solidFill>
            <a:prstDash val="solid"/>
          </a:ln>
        </p:spPr>
        <p:txBody>
          <a:bodyPr/>
          <a:lstStyle/>
          <a:p>
            <a:endParaRPr lang="en-US"/>
          </a:p>
        </p:txBody>
      </p:sp>
      <p:sp>
        <p:nvSpPr>
          <p:cNvPr id="16" name="Rectangle 15">
            <a:extLst>
              <a:ext uri="{FF2B5EF4-FFF2-40B4-BE49-F238E27FC236}">
                <a16:creationId xmlns:a16="http://schemas.microsoft.com/office/drawing/2014/main" id="{60A7951C-7839-4E0C-A732-063362584C99}"/>
              </a:ext>
            </a:extLst>
          </p:cNvPr>
          <p:cNvSpPr>
            <a:spLocks noGrp="1"/>
          </p:cNvSpPr>
          <p:nvPr/>
        </p:nvSpPr>
        <p:spPr>
          <a:xfrm>
            <a:off x="7010400" y="2819400"/>
            <a:ext cx="155448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F6F2E8"/>
                </a:solidFill>
                <a:latin typeface="Aptos Mono"/>
                <a:ea typeface="Aptos Mono"/>
                <a:cs typeface="Aptos Mono"/>
              </a:defRPr>
            </a:pPr>
            <a:r>
              <a:rPr sz="825" b="1">
                <a:solidFill>
                  <a:srgbClr val="F6F2E8"/>
                </a:solidFill>
                <a:latin typeface="Aptos Mono"/>
                <a:ea typeface="Aptos Mono"/>
                <a:cs typeface="Aptos Mono"/>
              </a:rPr>
              <a:t>Static image</a:t>
            </a:r>
          </a:p>
        </p:txBody>
      </p:sp>
      <p:sp>
        <p:nvSpPr>
          <p:cNvPr id="17" name="Rectangle 16">
            <a:extLst>
              <a:ext uri="{FF2B5EF4-FFF2-40B4-BE49-F238E27FC236}">
                <a16:creationId xmlns:a16="http://schemas.microsoft.com/office/drawing/2014/main" id="{D97A2DA1-A885-4D16-A351-5838F622FFCF}"/>
              </a:ext>
            </a:extLst>
          </p:cNvPr>
          <p:cNvSpPr>
            <a:spLocks noGrp="1"/>
          </p:cNvSpPr>
          <p:nvPr/>
        </p:nvSpPr>
        <p:spPr>
          <a:xfrm>
            <a:off x="8614410" y="2819400"/>
            <a:ext cx="265176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B6B1CE"/>
                </a:solidFill>
                <a:latin typeface="Aptos"/>
                <a:ea typeface="Aptos"/>
                <a:cs typeface="Aptos"/>
              </a:defRPr>
            </a:pPr>
            <a:r>
              <a:rPr sz="825" b="0">
                <a:solidFill>
                  <a:srgbClr val="B6B1CE"/>
                </a:solidFill>
                <a:latin typeface="Aptos"/>
                <a:ea typeface="Aptos"/>
                <a:cs typeface="Aptos"/>
              </a:rPr>
              <a:t>Stopping power, hierarchy, brand prominence, CTA clarity.</a:t>
            </a:r>
          </a:p>
        </p:txBody>
      </p:sp>
      <p:sp>
        <p:nvSpPr>
          <p:cNvPr id="18" name="Rectangle 17">
            <a:extLst>
              <a:ext uri="{FF2B5EF4-FFF2-40B4-BE49-F238E27FC236}">
                <a16:creationId xmlns:a16="http://schemas.microsoft.com/office/drawing/2014/main" id="{3A20C925-508F-4659-9294-4862E266BDCE}"/>
              </a:ext>
            </a:extLst>
          </p:cNvPr>
          <p:cNvSpPr>
            <a:spLocks noGrp="1"/>
          </p:cNvSpPr>
          <p:nvPr/>
        </p:nvSpPr>
        <p:spPr>
          <a:xfrm>
            <a:off x="6877050" y="3448050"/>
            <a:ext cx="4572000" cy="723900"/>
          </a:xfrm>
          <a:prstGeom prst="rect">
            <a:avLst/>
          </a:prstGeom>
          <a:solidFill>
            <a:srgbClr val="FFFFFF">
              <a:alpha val="2745"/>
            </a:srgbClr>
          </a:solidFill>
          <a:ln w="9525">
            <a:solidFill>
              <a:srgbClr val="FFFFFF">
                <a:alpha val="9412"/>
              </a:srgbClr>
            </a:solidFill>
            <a:prstDash val="solid"/>
          </a:ln>
        </p:spPr>
        <p:txBody>
          <a:bodyPr/>
          <a:lstStyle/>
          <a:p>
            <a:endParaRPr lang="en-US"/>
          </a:p>
        </p:txBody>
      </p:sp>
      <p:sp>
        <p:nvSpPr>
          <p:cNvPr id="19" name="Rectangle 18">
            <a:extLst>
              <a:ext uri="{FF2B5EF4-FFF2-40B4-BE49-F238E27FC236}">
                <a16:creationId xmlns:a16="http://schemas.microsoft.com/office/drawing/2014/main" id="{F54D1FF6-6176-49F3-A5D9-BB6093106A6A}"/>
              </a:ext>
            </a:extLst>
          </p:cNvPr>
          <p:cNvSpPr>
            <a:spLocks noGrp="1"/>
          </p:cNvSpPr>
          <p:nvPr/>
        </p:nvSpPr>
        <p:spPr>
          <a:xfrm>
            <a:off x="7010400" y="3562350"/>
            <a:ext cx="155448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F6F2E8"/>
                </a:solidFill>
                <a:latin typeface="Aptos Mono"/>
                <a:ea typeface="Aptos Mono"/>
                <a:cs typeface="Aptos Mono"/>
              </a:defRPr>
            </a:pPr>
            <a:r>
              <a:rPr sz="825" b="1">
                <a:solidFill>
                  <a:srgbClr val="F6F2E8"/>
                </a:solidFill>
                <a:latin typeface="Aptos Mono"/>
                <a:ea typeface="Aptos Mono"/>
                <a:cs typeface="Aptos Mono"/>
              </a:rPr>
              <a:t>Motion / GIF</a:t>
            </a:r>
          </a:p>
        </p:txBody>
      </p:sp>
      <p:sp>
        <p:nvSpPr>
          <p:cNvPr id="20" name="Rectangle 19">
            <a:extLst>
              <a:ext uri="{FF2B5EF4-FFF2-40B4-BE49-F238E27FC236}">
                <a16:creationId xmlns:a16="http://schemas.microsoft.com/office/drawing/2014/main" id="{952C040A-992A-4D69-BE9A-77091B1C9D4F}"/>
              </a:ext>
            </a:extLst>
          </p:cNvPr>
          <p:cNvSpPr>
            <a:spLocks noGrp="1"/>
          </p:cNvSpPr>
          <p:nvPr/>
        </p:nvSpPr>
        <p:spPr>
          <a:xfrm>
            <a:off x="8614410" y="3562350"/>
            <a:ext cx="265176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B6B1CE"/>
                </a:solidFill>
                <a:latin typeface="Aptos"/>
                <a:ea typeface="Aptos"/>
                <a:cs typeface="Aptos"/>
              </a:defRPr>
            </a:pPr>
            <a:r>
              <a:rPr sz="825" b="0">
                <a:solidFill>
                  <a:srgbClr val="B6B1CE"/>
                </a:solidFill>
                <a:latin typeface="Aptos"/>
                <a:ea typeface="Aptos"/>
                <a:cs typeface="Aptos"/>
              </a:rPr>
              <a:t>First frame, loop clarity, motion salience, fatigue.</a:t>
            </a:r>
          </a:p>
        </p:txBody>
      </p:sp>
      <p:sp>
        <p:nvSpPr>
          <p:cNvPr id="21" name="Rectangle 20">
            <a:extLst>
              <a:ext uri="{FF2B5EF4-FFF2-40B4-BE49-F238E27FC236}">
                <a16:creationId xmlns:a16="http://schemas.microsoft.com/office/drawing/2014/main" id="{17843B34-748F-4FBA-8EB8-0475B9AC2DD4}"/>
              </a:ext>
            </a:extLst>
          </p:cNvPr>
          <p:cNvSpPr>
            <a:spLocks noGrp="1"/>
          </p:cNvSpPr>
          <p:nvPr/>
        </p:nvSpPr>
        <p:spPr>
          <a:xfrm>
            <a:off x="6877050" y="4191000"/>
            <a:ext cx="4572000" cy="723900"/>
          </a:xfrm>
          <a:prstGeom prst="rect">
            <a:avLst/>
          </a:prstGeom>
          <a:solidFill>
            <a:srgbClr val="FFFFFF">
              <a:alpha val="2745"/>
            </a:srgbClr>
          </a:solidFill>
          <a:ln w="9525">
            <a:solidFill>
              <a:srgbClr val="FFFFFF">
                <a:alpha val="9412"/>
              </a:srgbClr>
            </a:solidFill>
            <a:prstDash val="solid"/>
          </a:ln>
        </p:spPr>
        <p:txBody>
          <a:bodyPr/>
          <a:lstStyle/>
          <a:p>
            <a:endParaRPr lang="en-US"/>
          </a:p>
        </p:txBody>
      </p:sp>
      <p:sp>
        <p:nvSpPr>
          <p:cNvPr id="22" name="Rectangle 21">
            <a:extLst>
              <a:ext uri="{FF2B5EF4-FFF2-40B4-BE49-F238E27FC236}">
                <a16:creationId xmlns:a16="http://schemas.microsoft.com/office/drawing/2014/main" id="{9CE6F195-001A-425A-8EFE-7F0CBF574B9D}"/>
              </a:ext>
            </a:extLst>
          </p:cNvPr>
          <p:cNvSpPr>
            <a:spLocks noGrp="1"/>
          </p:cNvSpPr>
          <p:nvPr/>
        </p:nvSpPr>
        <p:spPr>
          <a:xfrm>
            <a:off x="7010400" y="4305300"/>
            <a:ext cx="155448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F6F2E8"/>
                </a:solidFill>
                <a:latin typeface="Aptos Mono"/>
                <a:ea typeface="Aptos Mono"/>
                <a:cs typeface="Aptos Mono"/>
              </a:defRPr>
            </a:pPr>
            <a:r>
              <a:rPr sz="825" b="1">
                <a:solidFill>
                  <a:srgbClr val="F6F2E8"/>
                </a:solidFill>
                <a:latin typeface="Aptos Mono"/>
                <a:ea typeface="Aptos Mono"/>
                <a:cs typeface="Aptos Mono"/>
              </a:rPr>
              <a:t>Audio / text</a:t>
            </a:r>
          </a:p>
        </p:txBody>
      </p:sp>
      <p:sp>
        <p:nvSpPr>
          <p:cNvPr id="23" name="Rectangle 22">
            <a:extLst>
              <a:ext uri="{FF2B5EF4-FFF2-40B4-BE49-F238E27FC236}">
                <a16:creationId xmlns:a16="http://schemas.microsoft.com/office/drawing/2014/main" id="{5BFC0320-73A7-495E-9DFA-CB6DEB6EAE18}"/>
              </a:ext>
            </a:extLst>
          </p:cNvPr>
          <p:cNvSpPr>
            <a:spLocks noGrp="1"/>
          </p:cNvSpPr>
          <p:nvPr/>
        </p:nvSpPr>
        <p:spPr>
          <a:xfrm>
            <a:off x="8614410" y="4305300"/>
            <a:ext cx="265176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B6B1CE"/>
                </a:solidFill>
                <a:latin typeface="Aptos"/>
                <a:ea typeface="Aptos"/>
                <a:cs typeface="Aptos"/>
              </a:defRPr>
            </a:pPr>
            <a:r>
              <a:rPr sz="825" b="0">
                <a:solidFill>
                  <a:srgbClr val="B6B1CE"/>
                </a:solidFill>
                <a:latin typeface="Aptos"/>
                <a:ea typeface="Aptos"/>
                <a:cs typeface="Aptos"/>
              </a:rPr>
              <a:t>Sonic memory, voice clarity, proposition, readability, claim risk.</a:t>
            </a:r>
          </a:p>
        </p:txBody>
      </p:sp>
      <p:sp>
        <p:nvSpPr>
          <p:cNvPr id="24" name="Rectangle 23">
            <a:extLst>
              <a:ext uri="{FF2B5EF4-FFF2-40B4-BE49-F238E27FC236}">
                <a16:creationId xmlns:a16="http://schemas.microsoft.com/office/drawing/2014/main" id="{5057D008-5FA6-4839-AE72-BC59B24AEFB6}"/>
              </a:ext>
            </a:extLst>
          </p:cNvPr>
          <p:cNvSpPr>
            <a:spLocks noGrp="1"/>
          </p:cNvSpPr>
          <p:nvPr/>
        </p:nvSpPr>
        <p:spPr>
          <a:xfrm>
            <a:off x="552450" y="6286500"/>
            <a:ext cx="8096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7728F"/>
                </a:solidFill>
                <a:latin typeface="Aptos Mono"/>
                <a:ea typeface="Aptos Mono"/>
                <a:cs typeface="Aptos Mono"/>
              </a:defRPr>
            </a:pPr>
            <a:r>
              <a:rPr sz="750" b="0">
                <a:solidFill>
                  <a:srgbClr val="77728F"/>
                </a:solidFill>
                <a:latin typeface="Aptos Mono"/>
                <a:ea typeface="Aptos Mono"/>
                <a:cs typeface="Aptos Mono"/>
              </a:rPr>
              <a:t>AdCritIQ Methodology Evidence Deck  ·  AdCritIQ™  ·  Just the signal before the spend.</a:t>
            </a:r>
          </a:p>
        </p:txBody>
      </p:sp>
      <p:sp>
        <p:nvSpPr>
          <p:cNvPr id="25" name="Rectangle 24">
            <a:extLst>
              <a:ext uri="{FF2B5EF4-FFF2-40B4-BE49-F238E27FC236}">
                <a16:creationId xmlns:a16="http://schemas.microsoft.com/office/drawing/2014/main" id="{F058D440-6B42-464A-B588-495193EBCDF8}"/>
              </a:ext>
            </a:extLst>
          </p:cNvPr>
          <p:cNvSpPr>
            <a:spLocks noGrp="1"/>
          </p:cNvSpPr>
          <p:nvPr/>
        </p:nvSpPr>
        <p:spPr>
          <a:xfrm>
            <a:off x="11144250" y="6257925"/>
            <a:ext cx="476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0">
                <a:solidFill>
                  <a:srgbClr val="D7B762"/>
                </a:solidFill>
                <a:latin typeface="Aptos Mono"/>
                <a:ea typeface="Aptos Mono"/>
                <a:cs typeface="Aptos Mono"/>
              </a:defRPr>
            </a:pPr>
            <a:r>
              <a:rPr sz="825" b="0">
                <a:solidFill>
                  <a:srgbClr val="D7B762"/>
                </a:solidFill>
                <a:latin typeface="Aptos Mono"/>
                <a:ea typeface="Aptos Mono"/>
                <a:cs typeface="Aptos Mono"/>
              </a:rPr>
              <a:t>05</a:t>
            </a:r>
          </a:p>
        </p:txBody>
      </p:sp>
    </p:spTree>
    <p:extLst>
      <p:ext uri="{BB962C8B-B14F-4D97-AF65-F5344CB8AC3E}">
        <p14:creationId xmlns:p14="http://schemas.microsoft.com/office/powerpoint/2010/main" val="12798019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9CB86CE3-6390-4F2D-8F79-47A4455F2C72}"/>
              </a:ext>
            </a:extLst>
          </p:cNvPr>
          <p:cNvSpPr>
            <a:spLocks noGrp="1"/>
          </p:cNvSpPr>
          <p:nvPr/>
        </p:nvSpPr>
        <p:spPr>
          <a:xfrm>
            <a:off x="0" y="0"/>
            <a:ext cx="12192000" cy="6858000"/>
          </a:xfrm>
          <a:prstGeom prst="rect">
            <a:avLst/>
          </a:prstGeom>
          <a:solidFill>
            <a:srgbClr val="07070D"/>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543FB8B8-26F9-4CAF-8498-CAC258C6DACB}"/>
              </a:ext>
            </a:extLst>
          </p:cNvPr>
          <p:cNvSpPr>
            <a:spLocks noGrp="1"/>
          </p:cNvSpPr>
          <p:nvPr/>
        </p:nvSpPr>
        <p:spPr>
          <a:xfrm>
            <a:off x="0" y="0"/>
            <a:ext cx="12192000" cy="6858000"/>
          </a:xfrm>
          <a:prstGeom prst="rect">
            <a:avLst/>
          </a:prstGeom>
          <a:gradFill>
            <a:gsLst>
              <a:gs pos="0">
                <a:srgbClr val="07070D"/>
              </a:gs>
              <a:gs pos="55000">
                <a:srgbClr val="11111A"/>
              </a:gs>
              <a:gs pos="100000">
                <a:srgbClr val="050509"/>
              </a:gs>
            </a:gsLst>
            <a:lin ang="8100000"/>
          </a:gradFill>
          <a:ln w="0">
            <a:solidFill>
              <a:srgbClr val="000000">
                <a:alpha val="0"/>
              </a:srgbClr>
            </a:solidFill>
            <a:prstDash val="solid"/>
          </a:ln>
        </p:spPr>
        <p:txBody>
          <a:bodyPr/>
          <a:lstStyle/>
          <a:p>
            <a:endParaRPr lang="en-US"/>
          </a:p>
        </p:txBody>
      </p:sp>
      <p:sp>
        <p:nvSpPr>
          <p:cNvPr id="3" name="Oval 2">
            <a:extLst>
              <a:ext uri="{FF2B5EF4-FFF2-40B4-BE49-F238E27FC236}">
                <a16:creationId xmlns:a16="http://schemas.microsoft.com/office/drawing/2014/main" id="{9CFCE5AE-428A-4191-BF5D-3979F792C4B0}"/>
              </a:ext>
            </a:extLst>
          </p:cNvPr>
          <p:cNvSpPr>
            <a:spLocks noGrp="1"/>
          </p:cNvSpPr>
          <p:nvPr/>
        </p:nvSpPr>
        <p:spPr>
          <a:xfrm>
            <a:off x="-1143000" y="-1714500"/>
            <a:ext cx="4953000" cy="4953000"/>
          </a:xfrm>
          <a:prstGeom prst="ellipse">
            <a:avLst/>
          </a:prstGeom>
          <a:solidFill>
            <a:srgbClr val="D7B762">
              <a:alpha val="8627"/>
            </a:srgbClr>
          </a:solidFill>
          <a:ln w="0">
            <a:solidFill>
              <a:srgbClr val="000000">
                <a:alpha val="0"/>
              </a:srgbClr>
            </a:solidFill>
            <a:prstDash val="solid"/>
          </a:ln>
        </p:spPr>
        <p:txBody>
          <a:bodyPr/>
          <a:lstStyle/>
          <a:p>
            <a:endParaRPr lang="en-US"/>
          </a:p>
        </p:txBody>
      </p:sp>
      <p:sp>
        <p:nvSpPr>
          <p:cNvPr id="4" name="Oval 3">
            <a:extLst>
              <a:ext uri="{FF2B5EF4-FFF2-40B4-BE49-F238E27FC236}">
                <a16:creationId xmlns:a16="http://schemas.microsoft.com/office/drawing/2014/main" id="{2C2EA233-D27D-4E90-96AB-E263E894BEC2}"/>
              </a:ext>
            </a:extLst>
          </p:cNvPr>
          <p:cNvSpPr>
            <a:spLocks noGrp="1"/>
          </p:cNvSpPr>
          <p:nvPr/>
        </p:nvSpPr>
        <p:spPr>
          <a:xfrm>
            <a:off x="8763000" y="4762500"/>
            <a:ext cx="4762500" cy="4762500"/>
          </a:xfrm>
          <a:prstGeom prst="ellipse">
            <a:avLst/>
          </a:prstGeom>
          <a:solidFill>
            <a:srgbClr val="23C7D9">
              <a:alpha val="7059"/>
            </a:srgbClr>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D835AC14-55CC-4EA3-9CB4-BB8AB4B3E911}"/>
              </a:ext>
            </a:extLst>
          </p:cNvPr>
          <p:cNvSpPr>
            <a:spLocks noGrp="1"/>
          </p:cNvSpPr>
          <p:nvPr/>
        </p:nvSpPr>
        <p:spPr>
          <a:xfrm>
            <a:off x="552450" y="6096000"/>
            <a:ext cx="11087100" cy="9525"/>
          </a:xfrm>
          <a:prstGeom prst="rect">
            <a:avLst/>
          </a:prstGeom>
          <a:solidFill>
            <a:srgbClr val="D7B762">
              <a:alpha val="33333"/>
            </a:srgbClr>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C17DB0AD-9F84-4F4C-94BC-34BDF6C371BA}"/>
              </a:ext>
            </a:extLst>
          </p:cNvPr>
          <p:cNvSpPr>
            <a:spLocks noGrp="1"/>
          </p:cNvSpPr>
          <p:nvPr/>
        </p:nvSpPr>
        <p:spPr>
          <a:xfrm>
            <a:off x="666750" y="876300"/>
            <a:ext cx="723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D7B762"/>
                </a:solidFill>
                <a:latin typeface="Aptos Mono"/>
                <a:ea typeface="Aptos Mono"/>
                <a:cs typeface="Aptos Mono"/>
              </a:defRPr>
            </a:pPr>
            <a:r>
              <a:rPr sz="975" b="1">
                <a:solidFill>
                  <a:srgbClr val="D7B762"/>
                </a:solidFill>
                <a:latin typeface="Aptos Mono"/>
                <a:ea typeface="Aptos Mono"/>
                <a:cs typeface="Aptos Mono"/>
              </a:rPr>
              <a:t>PLATFORM AWARENESS</a:t>
            </a:r>
          </a:p>
        </p:txBody>
      </p:sp>
      <p:sp>
        <p:nvSpPr>
          <p:cNvPr id="7" name="Rectangle 6">
            <a:extLst>
              <a:ext uri="{FF2B5EF4-FFF2-40B4-BE49-F238E27FC236}">
                <a16:creationId xmlns:a16="http://schemas.microsoft.com/office/drawing/2014/main" id="{C6D3B1CE-5A0B-42D9-8BC7-2B1CB08E08D6}"/>
              </a:ext>
            </a:extLst>
          </p:cNvPr>
          <p:cNvSpPr>
            <a:spLocks noGrp="1"/>
          </p:cNvSpPr>
          <p:nvPr/>
        </p:nvSpPr>
        <p:spPr>
          <a:xfrm>
            <a:off x="666750" y="1181100"/>
            <a:ext cx="6572250" cy="1809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850" b="1">
                <a:solidFill>
                  <a:srgbClr val="F6F2E8"/>
                </a:solidFill>
                <a:latin typeface="Aptos Display"/>
                <a:ea typeface="Aptos Display"/>
                <a:cs typeface="Aptos Display"/>
              </a:defRPr>
            </a:pPr>
            <a:r>
              <a:rPr sz="2850" b="1">
                <a:solidFill>
                  <a:srgbClr val="F6F2E8"/>
                </a:solidFill>
                <a:latin typeface="Aptos Display"/>
                <a:ea typeface="Aptos Display"/>
                <a:cs typeface="Aptos Display"/>
              </a:rPr>
              <a:t>Platform fit changes the probability of outcome.</a:t>
            </a:r>
          </a:p>
        </p:txBody>
      </p:sp>
      <p:sp>
        <p:nvSpPr>
          <p:cNvPr id="8" name="Rectangle 7">
            <a:extLst>
              <a:ext uri="{FF2B5EF4-FFF2-40B4-BE49-F238E27FC236}">
                <a16:creationId xmlns:a16="http://schemas.microsoft.com/office/drawing/2014/main" id="{97EA7FE7-E5BC-47D2-AD05-7EE3D8FFAD86}"/>
              </a:ext>
            </a:extLst>
          </p:cNvPr>
          <p:cNvSpPr>
            <a:spLocks noGrp="1"/>
          </p:cNvSpPr>
          <p:nvPr/>
        </p:nvSpPr>
        <p:spPr>
          <a:xfrm>
            <a:off x="666750" y="3095625"/>
            <a:ext cx="6191250" cy="1028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B6B1CE"/>
                </a:solidFill>
                <a:latin typeface="Aptos"/>
                <a:ea typeface="Aptos"/>
                <a:cs typeface="Aptos"/>
              </a:defRPr>
            </a:pPr>
            <a:r>
              <a:rPr sz="1575" b="0">
                <a:solidFill>
                  <a:srgbClr val="B6B1CE"/>
                </a:solidFill>
                <a:latin typeface="Aptos"/>
                <a:ea typeface="Aptos"/>
                <a:cs typeface="Aptos"/>
              </a:rPr>
              <a:t>A strong TV asset may underperform in TikTok if the hook, crop, pace or sound-off behavior are wrong. Platform outcome forecasts are not a media plan; they are creative suitability signals by platform context.</a:t>
            </a:r>
          </a:p>
        </p:txBody>
      </p:sp>
      <p:sp>
        <p:nvSpPr>
          <p:cNvPr id="9" name="Rectangle 8">
            <a:extLst>
              <a:ext uri="{FF2B5EF4-FFF2-40B4-BE49-F238E27FC236}">
                <a16:creationId xmlns:a16="http://schemas.microsoft.com/office/drawing/2014/main" id="{FE11CDFA-F67B-491C-8F2C-2F36BBC64ECB}"/>
              </a:ext>
            </a:extLst>
          </p:cNvPr>
          <p:cNvSpPr>
            <a:spLocks noGrp="1"/>
          </p:cNvSpPr>
          <p:nvPr/>
        </p:nvSpPr>
        <p:spPr>
          <a:xfrm>
            <a:off x="7381875" y="1162050"/>
            <a:ext cx="2238375" cy="914400"/>
          </a:xfrm>
          <a:prstGeom prst="rect">
            <a:avLst/>
          </a:prstGeom>
          <a:solidFill>
            <a:srgbClr val="FFFFFF">
              <a:alpha val="3137"/>
            </a:srgbClr>
          </a:solidFill>
          <a:ln w="9525">
            <a:solidFill>
              <a:srgbClr val="FFFFFF">
                <a:alpha val="9412"/>
              </a:srgbClr>
            </a:solidFill>
            <a:prstDash val="solid"/>
          </a:ln>
        </p:spPr>
        <p:txBody>
          <a:bodyPr/>
          <a:lstStyle/>
          <a:p>
            <a:endParaRPr lang="en-US"/>
          </a:p>
        </p:txBody>
      </p:sp>
      <p:sp>
        <p:nvSpPr>
          <p:cNvPr id="10" name="Rectangle 9">
            <a:extLst>
              <a:ext uri="{FF2B5EF4-FFF2-40B4-BE49-F238E27FC236}">
                <a16:creationId xmlns:a16="http://schemas.microsoft.com/office/drawing/2014/main" id="{943A6A31-0E68-486D-9A83-BEC2E87EADB2}"/>
              </a:ext>
            </a:extLst>
          </p:cNvPr>
          <p:cNvSpPr>
            <a:spLocks noGrp="1"/>
          </p:cNvSpPr>
          <p:nvPr/>
        </p:nvSpPr>
        <p:spPr>
          <a:xfrm>
            <a:off x="7381875" y="1162050"/>
            <a:ext cx="38100" cy="914400"/>
          </a:xfrm>
          <a:prstGeom prst="rect">
            <a:avLst/>
          </a:prstGeom>
          <a:solidFill>
            <a:srgbClr val="D7B762"/>
          </a:solidFill>
          <a:ln w="0">
            <a:solidFill>
              <a:srgbClr val="000000">
                <a:alpha val="0"/>
              </a:srgbClr>
            </a:solidFill>
            <a:prstDash val="solid"/>
          </a:ln>
        </p:spPr>
        <p:txBody>
          <a:bodyPr/>
          <a:lstStyle/>
          <a:p>
            <a:endParaRPr lang="en-US"/>
          </a:p>
        </p:txBody>
      </p:sp>
      <p:sp>
        <p:nvSpPr>
          <p:cNvPr id="11" name="Rectangle 10">
            <a:extLst>
              <a:ext uri="{FF2B5EF4-FFF2-40B4-BE49-F238E27FC236}">
                <a16:creationId xmlns:a16="http://schemas.microsoft.com/office/drawing/2014/main" id="{3CD938CB-50B3-4D29-852C-77C5457B3E34}"/>
              </a:ext>
            </a:extLst>
          </p:cNvPr>
          <p:cNvSpPr>
            <a:spLocks noGrp="1"/>
          </p:cNvSpPr>
          <p:nvPr/>
        </p:nvSpPr>
        <p:spPr>
          <a:xfrm>
            <a:off x="7553325" y="1304925"/>
            <a:ext cx="1895475"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D7B762"/>
                </a:solidFill>
                <a:latin typeface="Aptos Mono"/>
                <a:ea typeface="Aptos Mono"/>
                <a:cs typeface="Aptos Mono"/>
              </a:defRPr>
            </a:pPr>
            <a:r>
              <a:rPr sz="1050" b="1">
                <a:solidFill>
                  <a:srgbClr val="D7B762"/>
                </a:solidFill>
                <a:latin typeface="Aptos Mono"/>
                <a:ea typeface="Aptos Mono"/>
                <a:cs typeface="Aptos Mono"/>
              </a:rPr>
              <a:t>YouTube</a:t>
            </a:r>
          </a:p>
        </p:txBody>
      </p:sp>
      <p:sp>
        <p:nvSpPr>
          <p:cNvPr id="12" name="Rectangle 11">
            <a:extLst>
              <a:ext uri="{FF2B5EF4-FFF2-40B4-BE49-F238E27FC236}">
                <a16:creationId xmlns:a16="http://schemas.microsoft.com/office/drawing/2014/main" id="{DB1D6EF4-A64D-4AF8-9CFD-0AA9FAA6E988}"/>
              </a:ext>
            </a:extLst>
          </p:cNvPr>
          <p:cNvSpPr>
            <a:spLocks noGrp="1"/>
          </p:cNvSpPr>
          <p:nvPr/>
        </p:nvSpPr>
        <p:spPr>
          <a:xfrm>
            <a:off x="7553325" y="1562100"/>
            <a:ext cx="189547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6B1CE"/>
                </a:solidFill>
                <a:latin typeface="Aptos"/>
                <a:ea typeface="Aptos"/>
                <a:cs typeface="Aptos"/>
              </a:defRPr>
            </a:pPr>
            <a:r>
              <a:rPr sz="975" b="0">
                <a:solidFill>
                  <a:srgbClr val="B6B1CE"/>
                </a:solidFill>
                <a:latin typeface="Aptos"/>
                <a:ea typeface="Aptos"/>
                <a:cs typeface="Aptos"/>
              </a:rPr>
              <a:t>Hook, hold and audio-visual memory.</a:t>
            </a:r>
          </a:p>
        </p:txBody>
      </p:sp>
      <p:sp>
        <p:nvSpPr>
          <p:cNvPr id="13" name="Rectangle 12">
            <a:extLst>
              <a:ext uri="{FF2B5EF4-FFF2-40B4-BE49-F238E27FC236}">
                <a16:creationId xmlns:a16="http://schemas.microsoft.com/office/drawing/2014/main" id="{2F317946-826D-49AA-8B55-5CC13E51E8CB}"/>
              </a:ext>
            </a:extLst>
          </p:cNvPr>
          <p:cNvSpPr>
            <a:spLocks noGrp="1"/>
          </p:cNvSpPr>
          <p:nvPr/>
        </p:nvSpPr>
        <p:spPr>
          <a:xfrm>
            <a:off x="9810750" y="1162050"/>
            <a:ext cx="2238375" cy="914400"/>
          </a:xfrm>
          <a:prstGeom prst="rect">
            <a:avLst/>
          </a:prstGeom>
          <a:solidFill>
            <a:srgbClr val="FFFFFF">
              <a:alpha val="3137"/>
            </a:srgbClr>
          </a:solidFill>
          <a:ln w="9525">
            <a:solidFill>
              <a:srgbClr val="FFFFFF">
                <a:alpha val="9412"/>
              </a:srgbClr>
            </a:solidFill>
            <a:prstDash val="solid"/>
          </a:ln>
        </p:spPr>
        <p:txBody>
          <a:bodyPr/>
          <a:lstStyle/>
          <a:p>
            <a:endParaRPr lang="en-US"/>
          </a:p>
        </p:txBody>
      </p:sp>
      <p:sp>
        <p:nvSpPr>
          <p:cNvPr id="14" name="Rectangle 13">
            <a:extLst>
              <a:ext uri="{FF2B5EF4-FFF2-40B4-BE49-F238E27FC236}">
                <a16:creationId xmlns:a16="http://schemas.microsoft.com/office/drawing/2014/main" id="{DB777A24-5347-4215-A2C2-23AEB7B492DC}"/>
              </a:ext>
            </a:extLst>
          </p:cNvPr>
          <p:cNvSpPr>
            <a:spLocks noGrp="1"/>
          </p:cNvSpPr>
          <p:nvPr/>
        </p:nvSpPr>
        <p:spPr>
          <a:xfrm>
            <a:off x="9810750" y="1162050"/>
            <a:ext cx="38100" cy="914400"/>
          </a:xfrm>
          <a:prstGeom prst="rect">
            <a:avLst/>
          </a:prstGeom>
          <a:solidFill>
            <a:srgbClr val="23C7D9"/>
          </a:solidFill>
          <a:ln w="0">
            <a:solidFill>
              <a:srgbClr val="000000">
                <a:alpha val="0"/>
              </a:srgbClr>
            </a:solidFill>
            <a:prstDash val="solid"/>
          </a:ln>
        </p:spPr>
        <p:txBody>
          <a:bodyPr/>
          <a:lstStyle/>
          <a:p>
            <a:endParaRPr lang="en-US"/>
          </a:p>
        </p:txBody>
      </p:sp>
      <p:sp>
        <p:nvSpPr>
          <p:cNvPr id="15" name="Rectangle 14">
            <a:extLst>
              <a:ext uri="{FF2B5EF4-FFF2-40B4-BE49-F238E27FC236}">
                <a16:creationId xmlns:a16="http://schemas.microsoft.com/office/drawing/2014/main" id="{B0F48AE4-2480-4BD2-8C3C-2BFD77E3D0DD}"/>
              </a:ext>
            </a:extLst>
          </p:cNvPr>
          <p:cNvSpPr>
            <a:spLocks noGrp="1"/>
          </p:cNvSpPr>
          <p:nvPr/>
        </p:nvSpPr>
        <p:spPr>
          <a:xfrm>
            <a:off x="9982200" y="1304925"/>
            <a:ext cx="1895475"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23C7D9"/>
                </a:solidFill>
                <a:latin typeface="Aptos Mono"/>
                <a:ea typeface="Aptos Mono"/>
                <a:cs typeface="Aptos Mono"/>
              </a:defRPr>
            </a:pPr>
            <a:r>
              <a:rPr sz="1050" b="1">
                <a:solidFill>
                  <a:srgbClr val="23C7D9"/>
                </a:solidFill>
                <a:latin typeface="Aptos Mono"/>
                <a:ea typeface="Aptos Mono"/>
                <a:cs typeface="Aptos Mono"/>
              </a:rPr>
              <a:t>Meta / Instagram</a:t>
            </a:r>
          </a:p>
        </p:txBody>
      </p:sp>
      <p:sp>
        <p:nvSpPr>
          <p:cNvPr id="16" name="Rectangle 15">
            <a:extLst>
              <a:ext uri="{FF2B5EF4-FFF2-40B4-BE49-F238E27FC236}">
                <a16:creationId xmlns:a16="http://schemas.microsoft.com/office/drawing/2014/main" id="{EC719328-CA90-4D74-9F21-C190F0BC4BAD}"/>
              </a:ext>
            </a:extLst>
          </p:cNvPr>
          <p:cNvSpPr>
            <a:spLocks noGrp="1"/>
          </p:cNvSpPr>
          <p:nvPr/>
        </p:nvSpPr>
        <p:spPr>
          <a:xfrm>
            <a:off x="9982200" y="1562100"/>
            <a:ext cx="189547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6B1CE"/>
                </a:solidFill>
                <a:latin typeface="Aptos"/>
                <a:ea typeface="Aptos"/>
                <a:cs typeface="Aptos"/>
              </a:defRPr>
            </a:pPr>
            <a:r>
              <a:rPr sz="975" b="0">
                <a:solidFill>
                  <a:srgbClr val="B6B1CE"/>
                </a:solidFill>
                <a:latin typeface="Aptos"/>
                <a:ea typeface="Aptos"/>
                <a:cs typeface="Aptos"/>
              </a:rPr>
              <a:t>Thumb-stop, visual clarity and sound-off survival.</a:t>
            </a:r>
          </a:p>
        </p:txBody>
      </p:sp>
      <p:sp>
        <p:nvSpPr>
          <p:cNvPr id="17" name="Rectangle 16">
            <a:extLst>
              <a:ext uri="{FF2B5EF4-FFF2-40B4-BE49-F238E27FC236}">
                <a16:creationId xmlns:a16="http://schemas.microsoft.com/office/drawing/2014/main" id="{17E71037-D0FA-40BC-94FD-933E860D0455}"/>
              </a:ext>
            </a:extLst>
          </p:cNvPr>
          <p:cNvSpPr>
            <a:spLocks noGrp="1"/>
          </p:cNvSpPr>
          <p:nvPr/>
        </p:nvSpPr>
        <p:spPr>
          <a:xfrm>
            <a:off x="7381875" y="2286000"/>
            <a:ext cx="2238375" cy="914400"/>
          </a:xfrm>
          <a:prstGeom prst="rect">
            <a:avLst/>
          </a:prstGeom>
          <a:solidFill>
            <a:srgbClr val="FFFFFF">
              <a:alpha val="3137"/>
            </a:srgbClr>
          </a:solidFill>
          <a:ln w="9525">
            <a:solidFill>
              <a:srgbClr val="FFFFFF">
                <a:alpha val="9412"/>
              </a:srgbClr>
            </a:solidFill>
            <a:prstDash val="solid"/>
          </a:ln>
        </p:spPr>
        <p:txBody>
          <a:bodyPr/>
          <a:lstStyle/>
          <a:p>
            <a:endParaRPr lang="en-US"/>
          </a:p>
        </p:txBody>
      </p:sp>
      <p:sp>
        <p:nvSpPr>
          <p:cNvPr id="18" name="Rectangle 17">
            <a:extLst>
              <a:ext uri="{FF2B5EF4-FFF2-40B4-BE49-F238E27FC236}">
                <a16:creationId xmlns:a16="http://schemas.microsoft.com/office/drawing/2014/main" id="{E80D208C-44FF-4C89-BB52-C4FD93F5DBFF}"/>
              </a:ext>
            </a:extLst>
          </p:cNvPr>
          <p:cNvSpPr>
            <a:spLocks noGrp="1"/>
          </p:cNvSpPr>
          <p:nvPr/>
        </p:nvSpPr>
        <p:spPr>
          <a:xfrm>
            <a:off x="7381875" y="2286000"/>
            <a:ext cx="38100" cy="914400"/>
          </a:xfrm>
          <a:prstGeom prst="rect">
            <a:avLst/>
          </a:prstGeom>
          <a:solidFill>
            <a:srgbClr val="63D394"/>
          </a:solidFill>
          <a:ln w="0">
            <a:solidFill>
              <a:srgbClr val="000000">
                <a:alpha val="0"/>
              </a:srgbClr>
            </a:solidFill>
            <a:prstDash val="solid"/>
          </a:ln>
        </p:spPr>
        <p:txBody>
          <a:bodyPr/>
          <a:lstStyle/>
          <a:p>
            <a:endParaRPr lang="en-US"/>
          </a:p>
        </p:txBody>
      </p:sp>
      <p:sp>
        <p:nvSpPr>
          <p:cNvPr id="19" name="Rectangle 18">
            <a:extLst>
              <a:ext uri="{FF2B5EF4-FFF2-40B4-BE49-F238E27FC236}">
                <a16:creationId xmlns:a16="http://schemas.microsoft.com/office/drawing/2014/main" id="{3B86DC95-B4E3-46DF-A45B-3CF6CE5735E7}"/>
              </a:ext>
            </a:extLst>
          </p:cNvPr>
          <p:cNvSpPr>
            <a:spLocks noGrp="1"/>
          </p:cNvSpPr>
          <p:nvPr/>
        </p:nvSpPr>
        <p:spPr>
          <a:xfrm>
            <a:off x="7553325" y="2428875"/>
            <a:ext cx="1895475"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63D394"/>
                </a:solidFill>
                <a:latin typeface="Aptos Mono"/>
                <a:ea typeface="Aptos Mono"/>
                <a:cs typeface="Aptos Mono"/>
              </a:defRPr>
            </a:pPr>
            <a:r>
              <a:rPr sz="1050" b="1">
                <a:solidFill>
                  <a:srgbClr val="63D394"/>
                </a:solidFill>
                <a:latin typeface="Aptos Mono"/>
                <a:ea typeface="Aptos Mono"/>
                <a:cs typeface="Aptos Mono"/>
              </a:rPr>
              <a:t>TV / CTV</a:t>
            </a:r>
          </a:p>
        </p:txBody>
      </p:sp>
      <p:sp>
        <p:nvSpPr>
          <p:cNvPr id="20" name="Rectangle 19">
            <a:extLst>
              <a:ext uri="{FF2B5EF4-FFF2-40B4-BE49-F238E27FC236}">
                <a16:creationId xmlns:a16="http://schemas.microsoft.com/office/drawing/2014/main" id="{879D40BD-F617-469F-9C70-F8C463A42E11}"/>
              </a:ext>
            </a:extLst>
          </p:cNvPr>
          <p:cNvSpPr>
            <a:spLocks noGrp="1"/>
          </p:cNvSpPr>
          <p:nvPr/>
        </p:nvSpPr>
        <p:spPr>
          <a:xfrm>
            <a:off x="7553325" y="2686050"/>
            <a:ext cx="189547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6B1CE"/>
                </a:solidFill>
                <a:latin typeface="Aptos"/>
                <a:ea typeface="Aptos"/>
                <a:cs typeface="Aptos"/>
              </a:defRPr>
            </a:pPr>
            <a:r>
              <a:rPr sz="975" b="0">
                <a:solidFill>
                  <a:srgbClr val="B6B1CE"/>
                </a:solidFill>
                <a:latin typeface="Aptos"/>
                <a:ea typeface="Aptos"/>
                <a:cs typeface="Aptos"/>
              </a:rPr>
              <a:t>Narrative, emotion and memory.</a:t>
            </a:r>
          </a:p>
        </p:txBody>
      </p:sp>
      <p:sp>
        <p:nvSpPr>
          <p:cNvPr id="21" name="Rectangle 20">
            <a:extLst>
              <a:ext uri="{FF2B5EF4-FFF2-40B4-BE49-F238E27FC236}">
                <a16:creationId xmlns:a16="http://schemas.microsoft.com/office/drawing/2014/main" id="{F03417C1-F365-4CE8-B88D-0DFCF9899CDF}"/>
              </a:ext>
            </a:extLst>
          </p:cNvPr>
          <p:cNvSpPr>
            <a:spLocks noGrp="1"/>
          </p:cNvSpPr>
          <p:nvPr/>
        </p:nvSpPr>
        <p:spPr>
          <a:xfrm>
            <a:off x="9810750" y="2286000"/>
            <a:ext cx="2238375" cy="914400"/>
          </a:xfrm>
          <a:prstGeom prst="rect">
            <a:avLst/>
          </a:prstGeom>
          <a:solidFill>
            <a:srgbClr val="FFFFFF">
              <a:alpha val="3137"/>
            </a:srgbClr>
          </a:solidFill>
          <a:ln w="9525">
            <a:solidFill>
              <a:srgbClr val="FFFFFF">
                <a:alpha val="9412"/>
              </a:srgbClr>
            </a:solidFill>
            <a:prstDash val="solid"/>
          </a:ln>
        </p:spPr>
        <p:txBody>
          <a:bodyPr/>
          <a:lstStyle/>
          <a:p>
            <a:endParaRPr lang="en-US"/>
          </a:p>
        </p:txBody>
      </p:sp>
      <p:sp>
        <p:nvSpPr>
          <p:cNvPr id="22" name="Rectangle 21">
            <a:extLst>
              <a:ext uri="{FF2B5EF4-FFF2-40B4-BE49-F238E27FC236}">
                <a16:creationId xmlns:a16="http://schemas.microsoft.com/office/drawing/2014/main" id="{717538A4-EEED-4FA6-9DC0-41164DD90789}"/>
              </a:ext>
            </a:extLst>
          </p:cNvPr>
          <p:cNvSpPr>
            <a:spLocks noGrp="1"/>
          </p:cNvSpPr>
          <p:nvPr/>
        </p:nvSpPr>
        <p:spPr>
          <a:xfrm>
            <a:off x="9810750" y="2286000"/>
            <a:ext cx="38100" cy="914400"/>
          </a:xfrm>
          <a:prstGeom prst="rect">
            <a:avLst/>
          </a:prstGeom>
          <a:solidFill>
            <a:srgbClr val="A78BFA"/>
          </a:solidFill>
          <a:ln w="0">
            <a:solidFill>
              <a:srgbClr val="000000">
                <a:alpha val="0"/>
              </a:srgbClr>
            </a:solidFill>
            <a:prstDash val="solid"/>
          </a:ln>
        </p:spPr>
        <p:txBody>
          <a:bodyPr/>
          <a:lstStyle/>
          <a:p>
            <a:endParaRPr lang="en-US"/>
          </a:p>
        </p:txBody>
      </p:sp>
      <p:sp>
        <p:nvSpPr>
          <p:cNvPr id="23" name="Rectangle 22">
            <a:extLst>
              <a:ext uri="{FF2B5EF4-FFF2-40B4-BE49-F238E27FC236}">
                <a16:creationId xmlns:a16="http://schemas.microsoft.com/office/drawing/2014/main" id="{154077B2-843A-419E-B05A-7EB50488D213}"/>
              </a:ext>
            </a:extLst>
          </p:cNvPr>
          <p:cNvSpPr>
            <a:spLocks noGrp="1"/>
          </p:cNvSpPr>
          <p:nvPr/>
        </p:nvSpPr>
        <p:spPr>
          <a:xfrm>
            <a:off x="9982200" y="2428875"/>
            <a:ext cx="1895475"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A78BFA"/>
                </a:solidFill>
                <a:latin typeface="Aptos Mono"/>
                <a:ea typeface="Aptos Mono"/>
                <a:cs typeface="Aptos Mono"/>
              </a:defRPr>
            </a:pPr>
            <a:r>
              <a:rPr sz="1050" b="1">
                <a:solidFill>
                  <a:srgbClr val="A78BFA"/>
                </a:solidFill>
                <a:latin typeface="Aptos Mono"/>
                <a:ea typeface="Aptos Mono"/>
                <a:cs typeface="Aptos Mono"/>
              </a:rPr>
              <a:t>DOOH / Display</a:t>
            </a:r>
          </a:p>
        </p:txBody>
      </p:sp>
      <p:sp>
        <p:nvSpPr>
          <p:cNvPr id="24" name="Rectangle 23">
            <a:extLst>
              <a:ext uri="{FF2B5EF4-FFF2-40B4-BE49-F238E27FC236}">
                <a16:creationId xmlns:a16="http://schemas.microsoft.com/office/drawing/2014/main" id="{DADF06A9-83D9-4EEE-AA55-035F9C395720}"/>
              </a:ext>
            </a:extLst>
          </p:cNvPr>
          <p:cNvSpPr>
            <a:spLocks noGrp="1"/>
          </p:cNvSpPr>
          <p:nvPr/>
        </p:nvSpPr>
        <p:spPr>
          <a:xfrm>
            <a:off x="9982200" y="2686050"/>
            <a:ext cx="189547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6B1CE"/>
                </a:solidFill>
                <a:latin typeface="Aptos"/>
                <a:ea typeface="Aptos"/>
                <a:cs typeface="Aptos"/>
              </a:defRPr>
            </a:pPr>
            <a:r>
              <a:rPr sz="975" b="0">
                <a:solidFill>
                  <a:srgbClr val="B6B1CE"/>
                </a:solidFill>
                <a:latin typeface="Aptos"/>
                <a:ea typeface="Aptos"/>
                <a:cs typeface="Aptos"/>
              </a:rPr>
              <a:t>Instant decode and brand prominence.</a:t>
            </a:r>
          </a:p>
        </p:txBody>
      </p:sp>
      <p:sp>
        <p:nvSpPr>
          <p:cNvPr id="25" name="Rectangle 24">
            <a:extLst>
              <a:ext uri="{FF2B5EF4-FFF2-40B4-BE49-F238E27FC236}">
                <a16:creationId xmlns:a16="http://schemas.microsoft.com/office/drawing/2014/main" id="{28D5A477-AE0C-435F-865B-92E4D9C8070C}"/>
              </a:ext>
            </a:extLst>
          </p:cNvPr>
          <p:cNvSpPr>
            <a:spLocks noGrp="1"/>
          </p:cNvSpPr>
          <p:nvPr/>
        </p:nvSpPr>
        <p:spPr>
          <a:xfrm>
            <a:off x="552450" y="6286500"/>
            <a:ext cx="8096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7728F"/>
                </a:solidFill>
                <a:latin typeface="Aptos Mono"/>
                <a:ea typeface="Aptos Mono"/>
                <a:cs typeface="Aptos Mono"/>
              </a:defRPr>
            </a:pPr>
            <a:r>
              <a:rPr sz="750" b="0">
                <a:solidFill>
                  <a:srgbClr val="77728F"/>
                </a:solidFill>
                <a:latin typeface="Aptos Mono"/>
                <a:ea typeface="Aptos Mono"/>
                <a:cs typeface="Aptos Mono"/>
              </a:rPr>
              <a:t>AdCritIQ Methodology Evidence Deck  ·  AdCritIQ™  ·  Just the signal before the spend.</a:t>
            </a:r>
          </a:p>
        </p:txBody>
      </p:sp>
      <p:sp>
        <p:nvSpPr>
          <p:cNvPr id="26" name="Rectangle 25">
            <a:extLst>
              <a:ext uri="{FF2B5EF4-FFF2-40B4-BE49-F238E27FC236}">
                <a16:creationId xmlns:a16="http://schemas.microsoft.com/office/drawing/2014/main" id="{6633FAF6-689B-43A5-AB13-449407423444}"/>
              </a:ext>
            </a:extLst>
          </p:cNvPr>
          <p:cNvSpPr>
            <a:spLocks noGrp="1"/>
          </p:cNvSpPr>
          <p:nvPr/>
        </p:nvSpPr>
        <p:spPr>
          <a:xfrm>
            <a:off x="11144250" y="6257925"/>
            <a:ext cx="476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0">
                <a:solidFill>
                  <a:srgbClr val="D7B762"/>
                </a:solidFill>
                <a:latin typeface="Aptos Mono"/>
                <a:ea typeface="Aptos Mono"/>
                <a:cs typeface="Aptos Mono"/>
              </a:defRPr>
            </a:pPr>
            <a:r>
              <a:rPr sz="825" b="0">
                <a:solidFill>
                  <a:srgbClr val="D7B762"/>
                </a:solidFill>
                <a:latin typeface="Aptos Mono"/>
                <a:ea typeface="Aptos Mono"/>
                <a:cs typeface="Aptos Mono"/>
              </a:rPr>
              <a:t>06</a:t>
            </a:r>
          </a:p>
        </p:txBody>
      </p:sp>
    </p:spTree>
    <p:extLst>
      <p:ext uri="{BB962C8B-B14F-4D97-AF65-F5344CB8AC3E}">
        <p14:creationId xmlns:p14="http://schemas.microsoft.com/office/powerpoint/2010/main" val="11981190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CD508C99-B217-427C-B2FF-F5FDE05B7371}"/>
              </a:ext>
            </a:extLst>
          </p:cNvPr>
          <p:cNvSpPr>
            <a:spLocks noGrp="1"/>
          </p:cNvSpPr>
          <p:nvPr/>
        </p:nvSpPr>
        <p:spPr>
          <a:xfrm>
            <a:off x="0" y="0"/>
            <a:ext cx="12192000" cy="6858000"/>
          </a:xfrm>
          <a:prstGeom prst="rect">
            <a:avLst/>
          </a:prstGeom>
          <a:solidFill>
            <a:srgbClr val="07070D"/>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50234661-06CF-41F4-B6A9-1C02C603CC71}"/>
              </a:ext>
            </a:extLst>
          </p:cNvPr>
          <p:cNvSpPr>
            <a:spLocks noGrp="1"/>
          </p:cNvSpPr>
          <p:nvPr/>
        </p:nvSpPr>
        <p:spPr>
          <a:xfrm>
            <a:off x="0" y="0"/>
            <a:ext cx="12192000" cy="6858000"/>
          </a:xfrm>
          <a:prstGeom prst="rect">
            <a:avLst/>
          </a:prstGeom>
          <a:gradFill>
            <a:gsLst>
              <a:gs pos="0">
                <a:srgbClr val="07070D"/>
              </a:gs>
              <a:gs pos="55000">
                <a:srgbClr val="11111A"/>
              </a:gs>
              <a:gs pos="100000">
                <a:srgbClr val="050509"/>
              </a:gs>
            </a:gsLst>
            <a:lin ang="8100000"/>
          </a:gradFill>
          <a:ln w="0">
            <a:solidFill>
              <a:srgbClr val="000000">
                <a:alpha val="0"/>
              </a:srgbClr>
            </a:solidFill>
            <a:prstDash val="solid"/>
          </a:ln>
        </p:spPr>
        <p:txBody>
          <a:bodyPr/>
          <a:lstStyle/>
          <a:p>
            <a:endParaRPr lang="en-US"/>
          </a:p>
        </p:txBody>
      </p:sp>
      <p:sp>
        <p:nvSpPr>
          <p:cNvPr id="3" name="Oval 2">
            <a:extLst>
              <a:ext uri="{FF2B5EF4-FFF2-40B4-BE49-F238E27FC236}">
                <a16:creationId xmlns:a16="http://schemas.microsoft.com/office/drawing/2014/main" id="{B7B87A99-76BC-47A8-A547-932B66832508}"/>
              </a:ext>
            </a:extLst>
          </p:cNvPr>
          <p:cNvSpPr>
            <a:spLocks noGrp="1"/>
          </p:cNvSpPr>
          <p:nvPr/>
        </p:nvSpPr>
        <p:spPr>
          <a:xfrm>
            <a:off x="-1143000" y="-1714500"/>
            <a:ext cx="4953000" cy="4953000"/>
          </a:xfrm>
          <a:prstGeom prst="ellipse">
            <a:avLst/>
          </a:prstGeom>
          <a:solidFill>
            <a:srgbClr val="D7B762">
              <a:alpha val="8627"/>
            </a:srgbClr>
          </a:solidFill>
          <a:ln w="0">
            <a:solidFill>
              <a:srgbClr val="000000">
                <a:alpha val="0"/>
              </a:srgbClr>
            </a:solidFill>
            <a:prstDash val="solid"/>
          </a:ln>
        </p:spPr>
        <p:txBody>
          <a:bodyPr/>
          <a:lstStyle/>
          <a:p>
            <a:endParaRPr lang="en-US"/>
          </a:p>
        </p:txBody>
      </p:sp>
      <p:sp>
        <p:nvSpPr>
          <p:cNvPr id="4" name="Oval 3">
            <a:extLst>
              <a:ext uri="{FF2B5EF4-FFF2-40B4-BE49-F238E27FC236}">
                <a16:creationId xmlns:a16="http://schemas.microsoft.com/office/drawing/2014/main" id="{59842765-EF4B-4EEC-965F-5E542E2F92FA}"/>
              </a:ext>
            </a:extLst>
          </p:cNvPr>
          <p:cNvSpPr>
            <a:spLocks noGrp="1"/>
          </p:cNvSpPr>
          <p:nvPr/>
        </p:nvSpPr>
        <p:spPr>
          <a:xfrm>
            <a:off x="8763000" y="4762500"/>
            <a:ext cx="4762500" cy="4762500"/>
          </a:xfrm>
          <a:prstGeom prst="ellipse">
            <a:avLst/>
          </a:prstGeom>
          <a:solidFill>
            <a:srgbClr val="23C7D9">
              <a:alpha val="7059"/>
            </a:srgbClr>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A0FD709F-82F7-45E6-A5EA-A40541066C3D}"/>
              </a:ext>
            </a:extLst>
          </p:cNvPr>
          <p:cNvSpPr>
            <a:spLocks noGrp="1"/>
          </p:cNvSpPr>
          <p:nvPr/>
        </p:nvSpPr>
        <p:spPr>
          <a:xfrm>
            <a:off x="552450" y="6096000"/>
            <a:ext cx="11087100" cy="9525"/>
          </a:xfrm>
          <a:prstGeom prst="rect">
            <a:avLst/>
          </a:prstGeom>
          <a:solidFill>
            <a:srgbClr val="D7B762">
              <a:alpha val="33333"/>
            </a:srgbClr>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3D812458-FEE5-4A25-A38C-D9A6D27370F3}"/>
              </a:ext>
            </a:extLst>
          </p:cNvPr>
          <p:cNvSpPr>
            <a:spLocks noGrp="1"/>
          </p:cNvSpPr>
          <p:nvPr/>
        </p:nvSpPr>
        <p:spPr>
          <a:xfrm>
            <a:off x="666750" y="876300"/>
            <a:ext cx="723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D7B762"/>
                </a:solidFill>
                <a:latin typeface="Aptos Mono"/>
                <a:ea typeface="Aptos Mono"/>
                <a:cs typeface="Aptos Mono"/>
              </a:defRPr>
            </a:pPr>
            <a:r>
              <a:rPr sz="975" b="1">
                <a:solidFill>
                  <a:srgbClr val="D7B762"/>
                </a:solidFill>
                <a:latin typeface="Aptos Mono"/>
                <a:ea typeface="Aptos Mono"/>
                <a:cs typeface="Aptos Mono"/>
              </a:rPr>
              <a:t>NEURAL CALIBRATION</a:t>
            </a:r>
          </a:p>
        </p:txBody>
      </p:sp>
      <p:sp>
        <p:nvSpPr>
          <p:cNvPr id="7" name="Rectangle 6">
            <a:extLst>
              <a:ext uri="{FF2B5EF4-FFF2-40B4-BE49-F238E27FC236}">
                <a16:creationId xmlns:a16="http://schemas.microsoft.com/office/drawing/2014/main" id="{83CDF8C0-ADE4-4355-80DC-432D2D2D5265}"/>
              </a:ext>
            </a:extLst>
          </p:cNvPr>
          <p:cNvSpPr>
            <a:spLocks noGrp="1"/>
          </p:cNvSpPr>
          <p:nvPr/>
        </p:nvSpPr>
        <p:spPr>
          <a:xfrm>
            <a:off x="666750" y="1181100"/>
            <a:ext cx="6572250" cy="1809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850" b="1">
                <a:solidFill>
                  <a:srgbClr val="F6F2E8"/>
                </a:solidFill>
                <a:latin typeface="Aptos Display"/>
                <a:ea typeface="Aptos Display"/>
                <a:cs typeface="Aptos Display"/>
              </a:defRPr>
            </a:pPr>
            <a:r>
              <a:rPr sz="2850" b="1">
                <a:solidFill>
                  <a:srgbClr val="F6F2E8"/>
                </a:solidFill>
                <a:latin typeface="Aptos Display"/>
                <a:ea typeface="Aptos Display"/>
                <a:cs typeface="Aptos Display"/>
              </a:rPr>
              <a:t>TRIBE v2 informs the language of multimodal response, not a live model claim.</a:t>
            </a:r>
          </a:p>
        </p:txBody>
      </p:sp>
      <p:sp>
        <p:nvSpPr>
          <p:cNvPr id="8" name="Rectangle 7">
            <a:extLst>
              <a:ext uri="{FF2B5EF4-FFF2-40B4-BE49-F238E27FC236}">
                <a16:creationId xmlns:a16="http://schemas.microsoft.com/office/drawing/2014/main" id="{8A5C4748-4642-4B43-BC0A-5A8FE50ED7E9}"/>
              </a:ext>
            </a:extLst>
          </p:cNvPr>
          <p:cNvSpPr>
            <a:spLocks noGrp="1"/>
          </p:cNvSpPr>
          <p:nvPr/>
        </p:nvSpPr>
        <p:spPr>
          <a:xfrm>
            <a:off x="666750" y="3095625"/>
            <a:ext cx="6191250" cy="1028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B6B1CE"/>
                </a:solidFill>
                <a:latin typeface="Aptos"/>
                <a:ea typeface="Aptos"/>
                <a:cs typeface="Aptos"/>
              </a:defRPr>
            </a:pPr>
            <a:r>
              <a:rPr sz="1575" b="0">
                <a:solidFill>
                  <a:srgbClr val="B6B1CE"/>
                </a:solidFill>
                <a:latin typeface="Aptos"/>
                <a:ea typeface="Aptos"/>
                <a:cs typeface="Aptos"/>
              </a:rPr>
              <a:t>TRIBE v2 is a published foundation model for vision, audition and language in in-silico neuroscience. AdCritIQ references published findings as calibration language; it does not claim to run live TRIBE v2 inference unless product implementation changes.</a:t>
            </a:r>
          </a:p>
        </p:txBody>
      </p:sp>
      <p:sp>
        <p:nvSpPr>
          <p:cNvPr id="9" name="Rectangle 8">
            <a:extLst>
              <a:ext uri="{FF2B5EF4-FFF2-40B4-BE49-F238E27FC236}">
                <a16:creationId xmlns:a16="http://schemas.microsoft.com/office/drawing/2014/main" id="{A64004A7-1EFB-486D-AD6F-D04D984D4467}"/>
              </a:ext>
            </a:extLst>
          </p:cNvPr>
          <p:cNvSpPr>
            <a:spLocks noGrp="1"/>
          </p:cNvSpPr>
          <p:nvPr/>
        </p:nvSpPr>
        <p:spPr>
          <a:xfrm>
            <a:off x="7381875" y="1162050"/>
            <a:ext cx="4191000" cy="914400"/>
          </a:xfrm>
          <a:prstGeom prst="rect">
            <a:avLst/>
          </a:prstGeom>
          <a:solidFill>
            <a:srgbClr val="FFFFFF">
              <a:alpha val="3137"/>
            </a:srgbClr>
          </a:solidFill>
          <a:ln w="9525">
            <a:solidFill>
              <a:srgbClr val="FFFFFF">
                <a:alpha val="9412"/>
              </a:srgbClr>
            </a:solidFill>
            <a:prstDash val="solid"/>
          </a:ln>
        </p:spPr>
        <p:txBody>
          <a:bodyPr/>
          <a:lstStyle/>
          <a:p>
            <a:endParaRPr lang="en-US"/>
          </a:p>
        </p:txBody>
      </p:sp>
      <p:sp>
        <p:nvSpPr>
          <p:cNvPr id="10" name="Rectangle 9">
            <a:extLst>
              <a:ext uri="{FF2B5EF4-FFF2-40B4-BE49-F238E27FC236}">
                <a16:creationId xmlns:a16="http://schemas.microsoft.com/office/drawing/2014/main" id="{A8BE3D21-613B-4259-BF1C-2B1EDD714727}"/>
              </a:ext>
            </a:extLst>
          </p:cNvPr>
          <p:cNvSpPr>
            <a:spLocks noGrp="1"/>
          </p:cNvSpPr>
          <p:nvPr/>
        </p:nvSpPr>
        <p:spPr>
          <a:xfrm>
            <a:off x="7381875" y="1162050"/>
            <a:ext cx="38100" cy="914400"/>
          </a:xfrm>
          <a:prstGeom prst="rect">
            <a:avLst/>
          </a:prstGeom>
          <a:solidFill>
            <a:srgbClr val="63D394"/>
          </a:solidFill>
          <a:ln w="0">
            <a:solidFill>
              <a:srgbClr val="000000">
                <a:alpha val="0"/>
              </a:srgbClr>
            </a:solidFill>
            <a:prstDash val="solid"/>
          </a:ln>
        </p:spPr>
        <p:txBody>
          <a:bodyPr/>
          <a:lstStyle/>
          <a:p>
            <a:endParaRPr lang="en-US"/>
          </a:p>
        </p:txBody>
      </p:sp>
      <p:sp>
        <p:nvSpPr>
          <p:cNvPr id="11" name="Rectangle 10">
            <a:extLst>
              <a:ext uri="{FF2B5EF4-FFF2-40B4-BE49-F238E27FC236}">
                <a16:creationId xmlns:a16="http://schemas.microsoft.com/office/drawing/2014/main" id="{D6547D81-B81E-476D-815D-5200A4F8865C}"/>
              </a:ext>
            </a:extLst>
          </p:cNvPr>
          <p:cNvSpPr>
            <a:spLocks noGrp="1"/>
          </p:cNvSpPr>
          <p:nvPr/>
        </p:nvSpPr>
        <p:spPr>
          <a:xfrm>
            <a:off x="7553325" y="1304925"/>
            <a:ext cx="38481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63D394"/>
                </a:solidFill>
                <a:latin typeface="Aptos Mono"/>
                <a:ea typeface="Aptos Mono"/>
                <a:cs typeface="Aptos Mono"/>
              </a:defRPr>
            </a:pPr>
            <a:r>
              <a:rPr sz="1050" b="1">
                <a:solidFill>
                  <a:srgbClr val="63D394"/>
                </a:solidFill>
                <a:latin typeface="Aptos Mono"/>
                <a:ea typeface="Aptos Mono"/>
                <a:cs typeface="Aptos Mono"/>
              </a:rPr>
              <a:t>Vision</a:t>
            </a:r>
          </a:p>
        </p:txBody>
      </p:sp>
      <p:sp>
        <p:nvSpPr>
          <p:cNvPr id="12" name="Rectangle 11">
            <a:extLst>
              <a:ext uri="{FF2B5EF4-FFF2-40B4-BE49-F238E27FC236}">
                <a16:creationId xmlns:a16="http://schemas.microsoft.com/office/drawing/2014/main" id="{6CA2F6E9-AFBF-4B61-9B60-8C3CE6C57713}"/>
              </a:ext>
            </a:extLst>
          </p:cNvPr>
          <p:cNvSpPr>
            <a:spLocks noGrp="1"/>
          </p:cNvSpPr>
          <p:nvPr/>
        </p:nvSpPr>
        <p:spPr>
          <a:xfrm>
            <a:off x="7553325" y="1562100"/>
            <a:ext cx="38481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6B1CE"/>
                </a:solidFill>
                <a:latin typeface="Aptos"/>
                <a:ea typeface="Aptos"/>
                <a:cs typeface="Aptos"/>
              </a:defRPr>
            </a:pPr>
            <a:r>
              <a:rPr sz="975" b="0">
                <a:solidFill>
                  <a:srgbClr val="B6B1CE"/>
                </a:solidFill>
                <a:latin typeface="Aptos"/>
                <a:ea typeface="Aptos"/>
                <a:cs typeface="Aptos"/>
              </a:rPr>
              <a:t>Visual hierarchy, salience and object recognition cues.</a:t>
            </a:r>
          </a:p>
        </p:txBody>
      </p:sp>
      <p:sp>
        <p:nvSpPr>
          <p:cNvPr id="13" name="Rectangle 12">
            <a:extLst>
              <a:ext uri="{FF2B5EF4-FFF2-40B4-BE49-F238E27FC236}">
                <a16:creationId xmlns:a16="http://schemas.microsoft.com/office/drawing/2014/main" id="{B3EFC892-C406-43C9-BADA-E46BBCA2A255}"/>
              </a:ext>
            </a:extLst>
          </p:cNvPr>
          <p:cNvSpPr>
            <a:spLocks noGrp="1"/>
          </p:cNvSpPr>
          <p:nvPr/>
        </p:nvSpPr>
        <p:spPr>
          <a:xfrm>
            <a:off x="7381875" y="2286000"/>
            <a:ext cx="4191000" cy="914400"/>
          </a:xfrm>
          <a:prstGeom prst="rect">
            <a:avLst/>
          </a:prstGeom>
          <a:solidFill>
            <a:srgbClr val="FFFFFF">
              <a:alpha val="3137"/>
            </a:srgbClr>
          </a:solidFill>
          <a:ln w="9525">
            <a:solidFill>
              <a:srgbClr val="FFFFFF">
                <a:alpha val="9412"/>
              </a:srgbClr>
            </a:solidFill>
            <a:prstDash val="solid"/>
          </a:ln>
        </p:spPr>
        <p:txBody>
          <a:bodyPr/>
          <a:lstStyle/>
          <a:p>
            <a:endParaRPr lang="en-US"/>
          </a:p>
        </p:txBody>
      </p:sp>
      <p:sp>
        <p:nvSpPr>
          <p:cNvPr id="14" name="Rectangle 13">
            <a:extLst>
              <a:ext uri="{FF2B5EF4-FFF2-40B4-BE49-F238E27FC236}">
                <a16:creationId xmlns:a16="http://schemas.microsoft.com/office/drawing/2014/main" id="{23843D37-D666-4ED7-8C3A-D313F8B33F1B}"/>
              </a:ext>
            </a:extLst>
          </p:cNvPr>
          <p:cNvSpPr>
            <a:spLocks noGrp="1"/>
          </p:cNvSpPr>
          <p:nvPr/>
        </p:nvSpPr>
        <p:spPr>
          <a:xfrm>
            <a:off x="7381875" y="2286000"/>
            <a:ext cx="38100" cy="914400"/>
          </a:xfrm>
          <a:prstGeom prst="rect">
            <a:avLst/>
          </a:prstGeom>
          <a:solidFill>
            <a:srgbClr val="A78BFA"/>
          </a:solidFill>
          <a:ln w="0">
            <a:solidFill>
              <a:srgbClr val="000000">
                <a:alpha val="0"/>
              </a:srgbClr>
            </a:solidFill>
            <a:prstDash val="solid"/>
          </a:ln>
        </p:spPr>
        <p:txBody>
          <a:bodyPr/>
          <a:lstStyle/>
          <a:p>
            <a:endParaRPr lang="en-US"/>
          </a:p>
        </p:txBody>
      </p:sp>
      <p:sp>
        <p:nvSpPr>
          <p:cNvPr id="15" name="Rectangle 14">
            <a:extLst>
              <a:ext uri="{FF2B5EF4-FFF2-40B4-BE49-F238E27FC236}">
                <a16:creationId xmlns:a16="http://schemas.microsoft.com/office/drawing/2014/main" id="{2B9EE7CA-1C71-4412-827A-C6DAF8D386CD}"/>
              </a:ext>
            </a:extLst>
          </p:cNvPr>
          <p:cNvSpPr>
            <a:spLocks noGrp="1"/>
          </p:cNvSpPr>
          <p:nvPr/>
        </p:nvSpPr>
        <p:spPr>
          <a:xfrm>
            <a:off x="7553325" y="2428875"/>
            <a:ext cx="38481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A78BFA"/>
                </a:solidFill>
                <a:latin typeface="Aptos Mono"/>
                <a:ea typeface="Aptos Mono"/>
                <a:cs typeface="Aptos Mono"/>
              </a:defRPr>
            </a:pPr>
            <a:r>
              <a:rPr sz="1050" b="1">
                <a:solidFill>
                  <a:srgbClr val="A78BFA"/>
                </a:solidFill>
                <a:latin typeface="Aptos Mono"/>
                <a:ea typeface="Aptos Mono"/>
                <a:cs typeface="Aptos Mono"/>
              </a:rPr>
              <a:t>Audio</a:t>
            </a:r>
          </a:p>
        </p:txBody>
      </p:sp>
      <p:sp>
        <p:nvSpPr>
          <p:cNvPr id="16" name="Rectangle 15">
            <a:extLst>
              <a:ext uri="{FF2B5EF4-FFF2-40B4-BE49-F238E27FC236}">
                <a16:creationId xmlns:a16="http://schemas.microsoft.com/office/drawing/2014/main" id="{E47FDBF9-D65F-4E2B-8AE1-FBF232BABF51}"/>
              </a:ext>
            </a:extLst>
          </p:cNvPr>
          <p:cNvSpPr>
            <a:spLocks noGrp="1"/>
          </p:cNvSpPr>
          <p:nvPr/>
        </p:nvSpPr>
        <p:spPr>
          <a:xfrm>
            <a:off x="7553325" y="2686050"/>
            <a:ext cx="38481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6B1CE"/>
                </a:solidFill>
                <a:latin typeface="Aptos"/>
                <a:ea typeface="Aptos"/>
                <a:cs typeface="Aptos"/>
              </a:defRPr>
            </a:pPr>
            <a:r>
              <a:rPr sz="975" b="0">
                <a:solidFill>
                  <a:srgbClr val="B6B1CE"/>
                </a:solidFill>
                <a:latin typeface="Aptos"/>
                <a:ea typeface="Aptos"/>
                <a:cs typeface="Aptos"/>
              </a:rPr>
              <a:t>Speech, music and multisensory binding cues.</a:t>
            </a:r>
          </a:p>
        </p:txBody>
      </p:sp>
      <p:sp>
        <p:nvSpPr>
          <p:cNvPr id="17" name="Rectangle 16">
            <a:extLst>
              <a:ext uri="{FF2B5EF4-FFF2-40B4-BE49-F238E27FC236}">
                <a16:creationId xmlns:a16="http://schemas.microsoft.com/office/drawing/2014/main" id="{BC58096D-9656-4933-A0C2-45316BC19DEE}"/>
              </a:ext>
            </a:extLst>
          </p:cNvPr>
          <p:cNvSpPr>
            <a:spLocks noGrp="1"/>
          </p:cNvSpPr>
          <p:nvPr/>
        </p:nvSpPr>
        <p:spPr>
          <a:xfrm>
            <a:off x="7381875" y="3409950"/>
            <a:ext cx="4191000" cy="914400"/>
          </a:xfrm>
          <a:prstGeom prst="rect">
            <a:avLst/>
          </a:prstGeom>
          <a:solidFill>
            <a:srgbClr val="FFFFFF">
              <a:alpha val="3137"/>
            </a:srgbClr>
          </a:solidFill>
          <a:ln w="9525">
            <a:solidFill>
              <a:srgbClr val="FFFFFF">
                <a:alpha val="9412"/>
              </a:srgbClr>
            </a:solidFill>
            <a:prstDash val="solid"/>
          </a:ln>
        </p:spPr>
        <p:txBody>
          <a:bodyPr/>
          <a:lstStyle/>
          <a:p>
            <a:endParaRPr lang="en-US"/>
          </a:p>
        </p:txBody>
      </p:sp>
      <p:sp>
        <p:nvSpPr>
          <p:cNvPr id="18" name="Rectangle 17">
            <a:extLst>
              <a:ext uri="{FF2B5EF4-FFF2-40B4-BE49-F238E27FC236}">
                <a16:creationId xmlns:a16="http://schemas.microsoft.com/office/drawing/2014/main" id="{427E1A14-E5AB-490C-89F7-085689BC0871}"/>
              </a:ext>
            </a:extLst>
          </p:cNvPr>
          <p:cNvSpPr>
            <a:spLocks noGrp="1"/>
          </p:cNvSpPr>
          <p:nvPr/>
        </p:nvSpPr>
        <p:spPr>
          <a:xfrm>
            <a:off x="7381875" y="3409950"/>
            <a:ext cx="38100" cy="914400"/>
          </a:xfrm>
          <a:prstGeom prst="rect">
            <a:avLst/>
          </a:prstGeom>
          <a:solidFill>
            <a:srgbClr val="23C7D9"/>
          </a:solidFill>
          <a:ln w="0">
            <a:solidFill>
              <a:srgbClr val="000000">
                <a:alpha val="0"/>
              </a:srgbClr>
            </a:solidFill>
            <a:prstDash val="solid"/>
          </a:ln>
        </p:spPr>
        <p:txBody>
          <a:bodyPr/>
          <a:lstStyle/>
          <a:p>
            <a:endParaRPr lang="en-US"/>
          </a:p>
        </p:txBody>
      </p:sp>
      <p:sp>
        <p:nvSpPr>
          <p:cNvPr id="19" name="Rectangle 18">
            <a:extLst>
              <a:ext uri="{FF2B5EF4-FFF2-40B4-BE49-F238E27FC236}">
                <a16:creationId xmlns:a16="http://schemas.microsoft.com/office/drawing/2014/main" id="{14C3F571-6FD0-4274-A728-421B7A9298DF}"/>
              </a:ext>
            </a:extLst>
          </p:cNvPr>
          <p:cNvSpPr>
            <a:spLocks noGrp="1"/>
          </p:cNvSpPr>
          <p:nvPr/>
        </p:nvSpPr>
        <p:spPr>
          <a:xfrm>
            <a:off x="7553325" y="3552825"/>
            <a:ext cx="38481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23C7D9"/>
                </a:solidFill>
                <a:latin typeface="Aptos Mono"/>
                <a:ea typeface="Aptos Mono"/>
                <a:cs typeface="Aptos Mono"/>
              </a:defRPr>
            </a:pPr>
            <a:r>
              <a:rPr sz="1050" b="1">
                <a:solidFill>
                  <a:srgbClr val="23C7D9"/>
                </a:solidFill>
                <a:latin typeface="Aptos Mono"/>
                <a:ea typeface="Aptos Mono"/>
                <a:cs typeface="Aptos Mono"/>
              </a:rPr>
              <a:t>Language</a:t>
            </a:r>
          </a:p>
        </p:txBody>
      </p:sp>
      <p:sp>
        <p:nvSpPr>
          <p:cNvPr id="20" name="Rectangle 19">
            <a:extLst>
              <a:ext uri="{FF2B5EF4-FFF2-40B4-BE49-F238E27FC236}">
                <a16:creationId xmlns:a16="http://schemas.microsoft.com/office/drawing/2014/main" id="{88B4C8DC-7AF6-4796-9DDA-74969B5AD1D4}"/>
              </a:ext>
            </a:extLst>
          </p:cNvPr>
          <p:cNvSpPr>
            <a:spLocks noGrp="1"/>
          </p:cNvSpPr>
          <p:nvPr/>
        </p:nvSpPr>
        <p:spPr>
          <a:xfrm>
            <a:off x="7553325" y="3810000"/>
            <a:ext cx="38481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6B1CE"/>
                </a:solidFill>
                <a:latin typeface="Aptos"/>
                <a:ea typeface="Aptos"/>
                <a:cs typeface="Aptos"/>
              </a:defRPr>
            </a:pPr>
            <a:r>
              <a:rPr sz="975" b="0">
                <a:solidFill>
                  <a:srgbClr val="B6B1CE"/>
                </a:solidFill>
                <a:latin typeface="Aptos"/>
                <a:ea typeface="Aptos"/>
                <a:cs typeface="Aptos"/>
              </a:rPr>
              <a:t>Tagline, copy and semantic memory cues.</a:t>
            </a:r>
          </a:p>
        </p:txBody>
      </p:sp>
      <p:sp>
        <p:nvSpPr>
          <p:cNvPr id="21" name="Rectangle 20">
            <a:extLst>
              <a:ext uri="{FF2B5EF4-FFF2-40B4-BE49-F238E27FC236}">
                <a16:creationId xmlns:a16="http://schemas.microsoft.com/office/drawing/2014/main" id="{2FD17AE8-74EF-433C-8F3F-BD9BAB4986B7}"/>
              </a:ext>
            </a:extLst>
          </p:cNvPr>
          <p:cNvSpPr>
            <a:spLocks noGrp="1"/>
          </p:cNvSpPr>
          <p:nvPr/>
        </p:nvSpPr>
        <p:spPr>
          <a:xfrm>
            <a:off x="552450" y="6286500"/>
            <a:ext cx="8096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7728F"/>
                </a:solidFill>
                <a:latin typeface="Aptos Mono"/>
                <a:ea typeface="Aptos Mono"/>
                <a:cs typeface="Aptos Mono"/>
              </a:defRPr>
            </a:pPr>
            <a:r>
              <a:rPr sz="750" b="0">
                <a:solidFill>
                  <a:srgbClr val="77728F"/>
                </a:solidFill>
                <a:latin typeface="Aptos Mono"/>
                <a:ea typeface="Aptos Mono"/>
                <a:cs typeface="Aptos Mono"/>
              </a:rPr>
              <a:t>AdCritIQ Methodology Evidence Deck  ·  AdCritIQ™  ·  Just the signal before the spend.</a:t>
            </a:r>
          </a:p>
        </p:txBody>
      </p:sp>
      <p:sp>
        <p:nvSpPr>
          <p:cNvPr id="22" name="Rectangle 21">
            <a:extLst>
              <a:ext uri="{FF2B5EF4-FFF2-40B4-BE49-F238E27FC236}">
                <a16:creationId xmlns:a16="http://schemas.microsoft.com/office/drawing/2014/main" id="{039B2D0F-87FE-41C5-AB0D-B0E9B1B865AE}"/>
              </a:ext>
            </a:extLst>
          </p:cNvPr>
          <p:cNvSpPr>
            <a:spLocks noGrp="1"/>
          </p:cNvSpPr>
          <p:nvPr/>
        </p:nvSpPr>
        <p:spPr>
          <a:xfrm>
            <a:off x="11144250" y="6257925"/>
            <a:ext cx="476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0">
                <a:solidFill>
                  <a:srgbClr val="D7B762"/>
                </a:solidFill>
                <a:latin typeface="Aptos Mono"/>
                <a:ea typeface="Aptos Mono"/>
                <a:cs typeface="Aptos Mono"/>
              </a:defRPr>
            </a:pPr>
            <a:r>
              <a:rPr sz="825" b="0">
                <a:solidFill>
                  <a:srgbClr val="D7B762"/>
                </a:solidFill>
                <a:latin typeface="Aptos Mono"/>
                <a:ea typeface="Aptos Mono"/>
                <a:cs typeface="Aptos Mono"/>
              </a:rPr>
              <a:t>07</a:t>
            </a:r>
          </a:p>
        </p:txBody>
      </p:sp>
    </p:spTree>
    <p:extLst>
      <p:ext uri="{BB962C8B-B14F-4D97-AF65-F5344CB8AC3E}">
        <p14:creationId xmlns:p14="http://schemas.microsoft.com/office/powerpoint/2010/main" val="12113222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C18BD5-A229-4C9A-8B79-BE2E78671F05}"/>
              </a:ext>
            </a:extLst>
          </p:cNvPr>
          <p:cNvSpPr>
            <a:spLocks noGrp="1"/>
          </p:cNvSpPr>
          <p:nvPr/>
        </p:nvSpPr>
        <p:spPr>
          <a:xfrm>
            <a:off x="0" y="0"/>
            <a:ext cx="12192000" cy="6858000"/>
          </a:xfrm>
          <a:prstGeom prst="rect">
            <a:avLst/>
          </a:prstGeom>
          <a:solidFill>
            <a:srgbClr val="07070D"/>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A1BF949B-5361-4891-BEE5-096F3AD68AA4}"/>
              </a:ext>
            </a:extLst>
          </p:cNvPr>
          <p:cNvSpPr>
            <a:spLocks noGrp="1"/>
          </p:cNvSpPr>
          <p:nvPr/>
        </p:nvSpPr>
        <p:spPr>
          <a:xfrm>
            <a:off x="0" y="0"/>
            <a:ext cx="12192000" cy="6858000"/>
          </a:xfrm>
          <a:prstGeom prst="rect">
            <a:avLst/>
          </a:prstGeom>
          <a:gradFill>
            <a:gsLst>
              <a:gs pos="0">
                <a:srgbClr val="07070D"/>
              </a:gs>
              <a:gs pos="55000">
                <a:srgbClr val="11111A"/>
              </a:gs>
              <a:gs pos="100000">
                <a:srgbClr val="050509"/>
              </a:gs>
            </a:gsLst>
            <a:lin ang="8100000"/>
          </a:gradFill>
          <a:ln w="0">
            <a:solidFill>
              <a:srgbClr val="000000">
                <a:alpha val="0"/>
              </a:srgbClr>
            </a:solidFill>
            <a:prstDash val="solid"/>
          </a:ln>
        </p:spPr>
        <p:txBody>
          <a:bodyPr/>
          <a:lstStyle/>
          <a:p>
            <a:endParaRPr lang="en-US"/>
          </a:p>
        </p:txBody>
      </p:sp>
      <p:sp>
        <p:nvSpPr>
          <p:cNvPr id="3" name="Oval 2">
            <a:extLst>
              <a:ext uri="{FF2B5EF4-FFF2-40B4-BE49-F238E27FC236}">
                <a16:creationId xmlns:a16="http://schemas.microsoft.com/office/drawing/2014/main" id="{9C7F4D97-23F6-4044-BCEB-A54FE9EF5D41}"/>
              </a:ext>
            </a:extLst>
          </p:cNvPr>
          <p:cNvSpPr>
            <a:spLocks noGrp="1"/>
          </p:cNvSpPr>
          <p:nvPr/>
        </p:nvSpPr>
        <p:spPr>
          <a:xfrm>
            <a:off x="-1143000" y="-1714500"/>
            <a:ext cx="4953000" cy="4953000"/>
          </a:xfrm>
          <a:prstGeom prst="ellipse">
            <a:avLst/>
          </a:prstGeom>
          <a:solidFill>
            <a:srgbClr val="D7B762">
              <a:alpha val="8627"/>
            </a:srgbClr>
          </a:solidFill>
          <a:ln w="0">
            <a:solidFill>
              <a:srgbClr val="000000">
                <a:alpha val="0"/>
              </a:srgbClr>
            </a:solidFill>
            <a:prstDash val="solid"/>
          </a:ln>
        </p:spPr>
        <p:txBody>
          <a:bodyPr/>
          <a:lstStyle/>
          <a:p>
            <a:endParaRPr lang="en-US"/>
          </a:p>
        </p:txBody>
      </p:sp>
      <p:sp>
        <p:nvSpPr>
          <p:cNvPr id="4" name="Oval 3">
            <a:extLst>
              <a:ext uri="{FF2B5EF4-FFF2-40B4-BE49-F238E27FC236}">
                <a16:creationId xmlns:a16="http://schemas.microsoft.com/office/drawing/2014/main" id="{387DCFF3-1F7F-4E0D-8436-74F6C3833EF5}"/>
              </a:ext>
            </a:extLst>
          </p:cNvPr>
          <p:cNvSpPr>
            <a:spLocks noGrp="1"/>
          </p:cNvSpPr>
          <p:nvPr/>
        </p:nvSpPr>
        <p:spPr>
          <a:xfrm>
            <a:off x="8763000" y="4762500"/>
            <a:ext cx="4762500" cy="4762500"/>
          </a:xfrm>
          <a:prstGeom prst="ellipse">
            <a:avLst/>
          </a:prstGeom>
          <a:solidFill>
            <a:srgbClr val="23C7D9">
              <a:alpha val="7059"/>
            </a:srgbClr>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BC981CE2-51D7-467B-B74B-FC88A4C43795}"/>
              </a:ext>
            </a:extLst>
          </p:cNvPr>
          <p:cNvSpPr>
            <a:spLocks noGrp="1"/>
          </p:cNvSpPr>
          <p:nvPr/>
        </p:nvSpPr>
        <p:spPr>
          <a:xfrm>
            <a:off x="552450" y="6096000"/>
            <a:ext cx="11087100" cy="9525"/>
          </a:xfrm>
          <a:prstGeom prst="rect">
            <a:avLst/>
          </a:prstGeom>
          <a:solidFill>
            <a:srgbClr val="D7B762">
              <a:alpha val="33333"/>
            </a:srgbClr>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71B95F0C-5508-4558-A174-4D9295692C47}"/>
              </a:ext>
            </a:extLst>
          </p:cNvPr>
          <p:cNvSpPr>
            <a:spLocks noGrp="1"/>
          </p:cNvSpPr>
          <p:nvPr/>
        </p:nvSpPr>
        <p:spPr>
          <a:xfrm>
            <a:off x="666750" y="876300"/>
            <a:ext cx="723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D7B762"/>
                </a:solidFill>
                <a:latin typeface="Aptos Mono"/>
                <a:ea typeface="Aptos Mono"/>
                <a:cs typeface="Aptos Mono"/>
              </a:defRPr>
            </a:pPr>
            <a:r>
              <a:rPr sz="975" b="1">
                <a:solidFill>
                  <a:srgbClr val="D7B762"/>
                </a:solidFill>
                <a:latin typeface="Aptos Mono"/>
                <a:ea typeface="Aptos Mono"/>
                <a:cs typeface="Aptos Mono"/>
              </a:rPr>
              <a:t>MEMORABILITY BASIS</a:t>
            </a:r>
          </a:p>
        </p:txBody>
      </p:sp>
      <p:sp>
        <p:nvSpPr>
          <p:cNvPr id="7" name="Rectangle 6">
            <a:extLst>
              <a:ext uri="{FF2B5EF4-FFF2-40B4-BE49-F238E27FC236}">
                <a16:creationId xmlns:a16="http://schemas.microsoft.com/office/drawing/2014/main" id="{6E53FAA4-180A-4694-851C-A1653A147D34}"/>
              </a:ext>
            </a:extLst>
          </p:cNvPr>
          <p:cNvSpPr>
            <a:spLocks noGrp="1"/>
          </p:cNvSpPr>
          <p:nvPr/>
        </p:nvSpPr>
        <p:spPr>
          <a:xfrm>
            <a:off x="666750" y="1181100"/>
            <a:ext cx="6572250" cy="1809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850" b="1">
                <a:solidFill>
                  <a:srgbClr val="F6F2E8"/>
                </a:solidFill>
                <a:latin typeface="Aptos Display"/>
                <a:ea typeface="Aptos Display"/>
                <a:cs typeface="Aptos Display"/>
              </a:defRPr>
            </a:pPr>
            <a:r>
              <a:rPr sz="2850" b="1">
                <a:solidFill>
                  <a:srgbClr val="F6F2E8"/>
                </a:solidFill>
                <a:latin typeface="Aptos Display"/>
                <a:ea typeface="Aptos Display"/>
                <a:cs typeface="Aptos Display"/>
              </a:rPr>
              <a:t>LAMBDA supports the idea that long-term ad memory can be modeled from multimodal features.</a:t>
            </a:r>
          </a:p>
        </p:txBody>
      </p:sp>
      <p:sp>
        <p:nvSpPr>
          <p:cNvPr id="8" name="Rectangle 7">
            <a:extLst>
              <a:ext uri="{FF2B5EF4-FFF2-40B4-BE49-F238E27FC236}">
                <a16:creationId xmlns:a16="http://schemas.microsoft.com/office/drawing/2014/main" id="{B93980CC-10F3-4EDE-8086-BB64E706271E}"/>
              </a:ext>
            </a:extLst>
          </p:cNvPr>
          <p:cNvSpPr>
            <a:spLocks noGrp="1"/>
          </p:cNvSpPr>
          <p:nvPr/>
        </p:nvSpPr>
        <p:spPr>
          <a:xfrm>
            <a:off x="666750" y="3095625"/>
            <a:ext cx="6191250" cy="1028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B6B1CE"/>
                </a:solidFill>
                <a:latin typeface="Aptos"/>
                <a:ea typeface="Aptos"/>
                <a:cs typeface="Aptos"/>
              </a:defRPr>
            </a:pPr>
            <a:r>
              <a:rPr sz="1575" b="0">
                <a:solidFill>
                  <a:srgbClr val="B6B1CE"/>
                </a:solidFill>
                <a:latin typeface="Aptos"/>
                <a:ea typeface="Aptos"/>
                <a:cs typeface="Aptos"/>
              </a:rPr>
              <a:t>The LAMBDA research referenced in the strategy package covers long-term ad memorability using multimodal ad features across 2,205 ads and 276 brands. It is a supporting research precedent, not proprietary validation of AdCritIQ.</a:t>
            </a:r>
          </a:p>
        </p:txBody>
      </p:sp>
      <p:sp>
        <p:nvSpPr>
          <p:cNvPr id="9" name="Rectangle 8">
            <a:extLst>
              <a:ext uri="{FF2B5EF4-FFF2-40B4-BE49-F238E27FC236}">
                <a16:creationId xmlns:a16="http://schemas.microsoft.com/office/drawing/2014/main" id="{3CE5803B-1F08-4EBD-A8A5-91F6484F7D81}"/>
              </a:ext>
            </a:extLst>
          </p:cNvPr>
          <p:cNvSpPr>
            <a:spLocks noGrp="1"/>
          </p:cNvSpPr>
          <p:nvPr/>
        </p:nvSpPr>
        <p:spPr>
          <a:xfrm>
            <a:off x="7381875" y="1162050"/>
            <a:ext cx="4191000" cy="914400"/>
          </a:xfrm>
          <a:prstGeom prst="rect">
            <a:avLst/>
          </a:prstGeom>
          <a:solidFill>
            <a:srgbClr val="FFFFFF">
              <a:alpha val="3137"/>
            </a:srgbClr>
          </a:solidFill>
          <a:ln w="9525">
            <a:solidFill>
              <a:srgbClr val="FFFFFF">
                <a:alpha val="9412"/>
              </a:srgbClr>
            </a:solidFill>
            <a:prstDash val="solid"/>
          </a:ln>
        </p:spPr>
        <p:txBody>
          <a:bodyPr/>
          <a:lstStyle/>
          <a:p>
            <a:endParaRPr lang="en-US"/>
          </a:p>
        </p:txBody>
      </p:sp>
      <p:sp>
        <p:nvSpPr>
          <p:cNvPr id="10" name="Rectangle 9">
            <a:extLst>
              <a:ext uri="{FF2B5EF4-FFF2-40B4-BE49-F238E27FC236}">
                <a16:creationId xmlns:a16="http://schemas.microsoft.com/office/drawing/2014/main" id="{1D570B47-1DB6-4BCB-8010-9B40321BA053}"/>
              </a:ext>
            </a:extLst>
          </p:cNvPr>
          <p:cNvSpPr>
            <a:spLocks noGrp="1"/>
          </p:cNvSpPr>
          <p:nvPr/>
        </p:nvSpPr>
        <p:spPr>
          <a:xfrm>
            <a:off x="7381875" y="1162050"/>
            <a:ext cx="38100" cy="914400"/>
          </a:xfrm>
          <a:prstGeom prst="rect">
            <a:avLst/>
          </a:prstGeom>
          <a:solidFill>
            <a:srgbClr val="D7B762"/>
          </a:solidFill>
          <a:ln w="0">
            <a:solidFill>
              <a:srgbClr val="000000">
                <a:alpha val="0"/>
              </a:srgbClr>
            </a:solidFill>
            <a:prstDash val="solid"/>
          </a:ln>
        </p:spPr>
        <p:txBody>
          <a:bodyPr/>
          <a:lstStyle/>
          <a:p>
            <a:endParaRPr lang="en-US"/>
          </a:p>
        </p:txBody>
      </p:sp>
      <p:sp>
        <p:nvSpPr>
          <p:cNvPr id="11" name="Rectangle 10">
            <a:extLst>
              <a:ext uri="{FF2B5EF4-FFF2-40B4-BE49-F238E27FC236}">
                <a16:creationId xmlns:a16="http://schemas.microsoft.com/office/drawing/2014/main" id="{CA130E54-F678-4D74-AAAA-A3ED1E2427EF}"/>
              </a:ext>
            </a:extLst>
          </p:cNvPr>
          <p:cNvSpPr>
            <a:spLocks noGrp="1"/>
          </p:cNvSpPr>
          <p:nvPr/>
        </p:nvSpPr>
        <p:spPr>
          <a:xfrm>
            <a:off x="7553325" y="1304925"/>
            <a:ext cx="38481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D7B762"/>
                </a:solidFill>
                <a:latin typeface="Aptos Mono"/>
                <a:ea typeface="Aptos Mono"/>
                <a:cs typeface="Aptos Mono"/>
              </a:defRPr>
            </a:pPr>
            <a:r>
              <a:rPr sz="1050" b="1">
                <a:solidFill>
                  <a:srgbClr val="D7B762"/>
                </a:solidFill>
                <a:latin typeface="Aptos Mono"/>
                <a:ea typeface="Aptos Mono"/>
                <a:cs typeface="Aptos Mono"/>
              </a:rPr>
              <a:t>What it supports</a:t>
            </a:r>
          </a:p>
        </p:txBody>
      </p:sp>
      <p:sp>
        <p:nvSpPr>
          <p:cNvPr id="12" name="Rectangle 11">
            <a:extLst>
              <a:ext uri="{FF2B5EF4-FFF2-40B4-BE49-F238E27FC236}">
                <a16:creationId xmlns:a16="http://schemas.microsoft.com/office/drawing/2014/main" id="{109DE3DF-24FD-49C9-83E1-6D999C972B90}"/>
              </a:ext>
            </a:extLst>
          </p:cNvPr>
          <p:cNvSpPr>
            <a:spLocks noGrp="1"/>
          </p:cNvSpPr>
          <p:nvPr/>
        </p:nvSpPr>
        <p:spPr>
          <a:xfrm>
            <a:off x="7553325" y="1562100"/>
            <a:ext cx="38481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6B1CE"/>
                </a:solidFill>
                <a:latin typeface="Aptos"/>
                <a:ea typeface="Aptos"/>
                <a:cs typeface="Aptos"/>
              </a:defRPr>
            </a:pPr>
            <a:r>
              <a:rPr sz="975" b="0">
                <a:solidFill>
                  <a:srgbClr val="B6B1CE"/>
                </a:solidFill>
                <a:latin typeface="Aptos"/>
                <a:ea typeface="Aptos"/>
                <a:cs typeface="Aptos"/>
              </a:rPr>
              <a:t>Creative features can be linked to memorability outcomes.</a:t>
            </a:r>
          </a:p>
        </p:txBody>
      </p:sp>
      <p:sp>
        <p:nvSpPr>
          <p:cNvPr id="13" name="Rectangle 12">
            <a:extLst>
              <a:ext uri="{FF2B5EF4-FFF2-40B4-BE49-F238E27FC236}">
                <a16:creationId xmlns:a16="http://schemas.microsoft.com/office/drawing/2014/main" id="{A29683A5-25E2-4645-9067-BC14406EE4F2}"/>
              </a:ext>
            </a:extLst>
          </p:cNvPr>
          <p:cNvSpPr>
            <a:spLocks noGrp="1"/>
          </p:cNvSpPr>
          <p:nvPr/>
        </p:nvSpPr>
        <p:spPr>
          <a:xfrm>
            <a:off x="7381875" y="2286000"/>
            <a:ext cx="4191000" cy="914400"/>
          </a:xfrm>
          <a:prstGeom prst="rect">
            <a:avLst/>
          </a:prstGeom>
          <a:solidFill>
            <a:srgbClr val="FFFFFF">
              <a:alpha val="3137"/>
            </a:srgbClr>
          </a:solidFill>
          <a:ln w="9525">
            <a:solidFill>
              <a:srgbClr val="FFFFFF">
                <a:alpha val="9412"/>
              </a:srgbClr>
            </a:solidFill>
            <a:prstDash val="solid"/>
          </a:ln>
        </p:spPr>
        <p:txBody>
          <a:bodyPr/>
          <a:lstStyle/>
          <a:p>
            <a:endParaRPr lang="en-US"/>
          </a:p>
        </p:txBody>
      </p:sp>
      <p:sp>
        <p:nvSpPr>
          <p:cNvPr id="14" name="Rectangle 13">
            <a:extLst>
              <a:ext uri="{FF2B5EF4-FFF2-40B4-BE49-F238E27FC236}">
                <a16:creationId xmlns:a16="http://schemas.microsoft.com/office/drawing/2014/main" id="{DEE1AA9E-0425-4B61-A0BC-0B78416490D2}"/>
              </a:ext>
            </a:extLst>
          </p:cNvPr>
          <p:cNvSpPr>
            <a:spLocks noGrp="1"/>
          </p:cNvSpPr>
          <p:nvPr/>
        </p:nvSpPr>
        <p:spPr>
          <a:xfrm>
            <a:off x="7381875" y="2286000"/>
            <a:ext cx="38100" cy="914400"/>
          </a:xfrm>
          <a:prstGeom prst="rect">
            <a:avLst/>
          </a:prstGeom>
          <a:solidFill>
            <a:srgbClr val="F26D82"/>
          </a:solidFill>
          <a:ln w="0">
            <a:solidFill>
              <a:srgbClr val="000000">
                <a:alpha val="0"/>
              </a:srgbClr>
            </a:solidFill>
            <a:prstDash val="solid"/>
          </a:ln>
        </p:spPr>
        <p:txBody>
          <a:bodyPr/>
          <a:lstStyle/>
          <a:p>
            <a:endParaRPr lang="en-US"/>
          </a:p>
        </p:txBody>
      </p:sp>
      <p:sp>
        <p:nvSpPr>
          <p:cNvPr id="15" name="Rectangle 14">
            <a:extLst>
              <a:ext uri="{FF2B5EF4-FFF2-40B4-BE49-F238E27FC236}">
                <a16:creationId xmlns:a16="http://schemas.microsoft.com/office/drawing/2014/main" id="{76C28F0D-E3D6-4222-8C64-FA164AC2D3D2}"/>
              </a:ext>
            </a:extLst>
          </p:cNvPr>
          <p:cNvSpPr>
            <a:spLocks noGrp="1"/>
          </p:cNvSpPr>
          <p:nvPr/>
        </p:nvSpPr>
        <p:spPr>
          <a:xfrm>
            <a:off x="7553325" y="2428875"/>
            <a:ext cx="38481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F26D82"/>
                </a:solidFill>
                <a:latin typeface="Aptos Mono"/>
                <a:ea typeface="Aptos Mono"/>
                <a:cs typeface="Aptos Mono"/>
              </a:defRPr>
            </a:pPr>
            <a:r>
              <a:rPr sz="1050" b="1">
                <a:solidFill>
                  <a:srgbClr val="F26D82"/>
                </a:solidFill>
                <a:latin typeface="Aptos Mono"/>
                <a:ea typeface="Aptos Mono"/>
                <a:cs typeface="Aptos Mono"/>
              </a:rPr>
              <a:t>What it does not prove</a:t>
            </a:r>
          </a:p>
        </p:txBody>
      </p:sp>
      <p:sp>
        <p:nvSpPr>
          <p:cNvPr id="16" name="Rectangle 15">
            <a:extLst>
              <a:ext uri="{FF2B5EF4-FFF2-40B4-BE49-F238E27FC236}">
                <a16:creationId xmlns:a16="http://schemas.microsoft.com/office/drawing/2014/main" id="{42B1F8D5-2789-46A3-A24E-22F823468513}"/>
              </a:ext>
            </a:extLst>
          </p:cNvPr>
          <p:cNvSpPr>
            <a:spLocks noGrp="1"/>
          </p:cNvSpPr>
          <p:nvPr/>
        </p:nvSpPr>
        <p:spPr>
          <a:xfrm>
            <a:off x="7553325" y="2686050"/>
            <a:ext cx="38481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6B1CE"/>
                </a:solidFill>
                <a:latin typeface="Aptos"/>
                <a:ea typeface="Aptos"/>
                <a:cs typeface="Aptos"/>
              </a:defRPr>
            </a:pPr>
            <a:r>
              <a:rPr sz="975" b="0">
                <a:solidFill>
                  <a:srgbClr val="B6B1CE"/>
                </a:solidFill>
                <a:latin typeface="Aptos"/>
                <a:ea typeface="Aptos"/>
                <a:cs typeface="Aptos"/>
              </a:rPr>
              <a:t>It does not validate every AdCritIQ score automatically.</a:t>
            </a:r>
          </a:p>
        </p:txBody>
      </p:sp>
      <p:sp>
        <p:nvSpPr>
          <p:cNvPr id="17" name="Rectangle 16">
            <a:extLst>
              <a:ext uri="{FF2B5EF4-FFF2-40B4-BE49-F238E27FC236}">
                <a16:creationId xmlns:a16="http://schemas.microsoft.com/office/drawing/2014/main" id="{AF3C9B56-436B-442A-9F6D-5DB01FB90E00}"/>
              </a:ext>
            </a:extLst>
          </p:cNvPr>
          <p:cNvSpPr>
            <a:spLocks noGrp="1"/>
          </p:cNvSpPr>
          <p:nvPr/>
        </p:nvSpPr>
        <p:spPr>
          <a:xfrm>
            <a:off x="552450" y="6286500"/>
            <a:ext cx="8096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7728F"/>
                </a:solidFill>
                <a:latin typeface="Aptos Mono"/>
                <a:ea typeface="Aptos Mono"/>
                <a:cs typeface="Aptos Mono"/>
              </a:defRPr>
            </a:pPr>
            <a:r>
              <a:rPr sz="750" b="0">
                <a:solidFill>
                  <a:srgbClr val="77728F"/>
                </a:solidFill>
                <a:latin typeface="Aptos Mono"/>
                <a:ea typeface="Aptos Mono"/>
                <a:cs typeface="Aptos Mono"/>
              </a:rPr>
              <a:t>AdCritIQ Methodology Evidence Deck  ·  AdCritIQ™  ·  Just the signal before the spend.</a:t>
            </a:r>
          </a:p>
        </p:txBody>
      </p:sp>
      <p:sp>
        <p:nvSpPr>
          <p:cNvPr id="18" name="Rectangle 17">
            <a:extLst>
              <a:ext uri="{FF2B5EF4-FFF2-40B4-BE49-F238E27FC236}">
                <a16:creationId xmlns:a16="http://schemas.microsoft.com/office/drawing/2014/main" id="{55F20997-0AE6-46D5-8E70-1A15F1E150E9}"/>
              </a:ext>
            </a:extLst>
          </p:cNvPr>
          <p:cNvSpPr>
            <a:spLocks noGrp="1"/>
          </p:cNvSpPr>
          <p:nvPr/>
        </p:nvSpPr>
        <p:spPr>
          <a:xfrm>
            <a:off x="11144250" y="6257925"/>
            <a:ext cx="476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0">
                <a:solidFill>
                  <a:srgbClr val="D7B762"/>
                </a:solidFill>
                <a:latin typeface="Aptos Mono"/>
                <a:ea typeface="Aptos Mono"/>
                <a:cs typeface="Aptos Mono"/>
              </a:defRPr>
            </a:pPr>
            <a:r>
              <a:rPr sz="825" b="0">
                <a:solidFill>
                  <a:srgbClr val="D7B762"/>
                </a:solidFill>
                <a:latin typeface="Aptos Mono"/>
                <a:ea typeface="Aptos Mono"/>
                <a:cs typeface="Aptos Mono"/>
              </a:rPr>
              <a:t>08</a:t>
            </a:r>
          </a:p>
        </p:txBody>
      </p:sp>
    </p:spTree>
    <p:extLst>
      <p:ext uri="{BB962C8B-B14F-4D97-AF65-F5344CB8AC3E}">
        <p14:creationId xmlns:p14="http://schemas.microsoft.com/office/powerpoint/2010/main" val="2032483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ECE0A6C2-B6E9-4BAF-9967-02E66A06E481}"/>
              </a:ext>
            </a:extLst>
          </p:cNvPr>
          <p:cNvSpPr>
            <a:spLocks noGrp="1"/>
          </p:cNvSpPr>
          <p:nvPr/>
        </p:nvSpPr>
        <p:spPr>
          <a:xfrm>
            <a:off x="0" y="0"/>
            <a:ext cx="12192000" cy="6858000"/>
          </a:xfrm>
          <a:prstGeom prst="rect">
            <a:avLst/>
          </a:prstGeom>
          <a:solidFill>
            <a:srgbClr val="07070D"/>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08550251-C444-43CA-8D8C-D2F29F53E9F2}"/>
              </a:ext>
            </a:extLst>
          </p:cNvPr>
          <p:cNvSpPr>
            <a:spLocks noGrp="1"/>
          </p:cNvSpPr>
          <p:nvPr/>
        </p:nvSpPr>
        <p:spPr>
          <a:xfrm>
            <a:off x="0" y="0"/>
            <a:ext cx="12192000" cy="6858000"/>
          </a:xfrm>
          <a:prstGeom prst="rect">
            <a:avLst/>
          </a:prstGeom>
          <a:gradFill>
            <a:gsLst>
              <a:gs pos="0">
                <a:srgbClr val="07070D"/>
              </a:gs>
              <a:gs pos="55000">
                <a:srgbClr val="11111A"/>
              </a:gs>
              <a:gs pos="100000">
                <a:srgbClr val="050509"/>
              </a:gs>
            </a:gsLst>
            <a:lin ang="8100000"/>
          </a:gradFill>
          <a:ln w="0">
            <a:solidFill>
              <a:srgbClr val="000000">
                <a:alpha val="0"/>
              </a:srgbClr>
            </a:solidFill>
            <a:prstDash val="solid"/>
          </a:ln>
        </p:spPr>
        <p:txBody>
          <a:bodyPr/>
          <a:lstStyle/>
          <a:p>
            <a:endParaRPr lang="en-US"/>
          </a:p>
        </p:txBody>
      </p:sp>
      <p:sp>
        <p:nvSpPr>
          <p:cNvPr id="3" name="Oval 2">
            <a:extLst>
              <a:ext uri="{FF2B5EF4-FFF2-40B4-BE49-F238E27FC236}">
                <a16:creationId xmlns:a16="http://schemas.microsoft.com/office/drawing/2014/main" id="{A85E9B74-71DB-467B-BED1-802B71040F33}"/>
              </a:ext>
            </a:extLst>
          </p:cNvPr>
          <p:cNvSpPr>
            <a:spLocks noGrp="1"/>
          </p:cNvSpPr>
          <p:nvPr/>
        </p:nvSpPr>
        <p:spPr>
          <a:xfrm>
            <a:off x="-1143000" y="-1714500"/>
            <a:ext cx="4953000" cy="4953000"/>
          </a:xfrm>
          <a:prstGeom prst="ellipse">
            <a:avLst/>
          </a:prstGeom>
          <a:solidFill>
            <a:srgbClr val="D7B762">
              <a:alpha val="8627"/>
            </a:srgbClr>
          </a:solidFill>
          <a:ln w="0">
            <a:solidFill>
              <a:srgbClr val="000000">
                <a:alpha val="0"/>
              </a:srgbClr>
            </a:solidFill>
            <a:prstDash val="solid"/>
          </a:ln>
        </p:spPr>
        <p:txBody>
          <a:bodyPr/>
          <a:lstStyle/>
          <a:p>
            <a:endParaRPr lang="en-US"/>
          </a:p>
        </p:txBody>
      </p:sp>
      <p:sp>
        <p:nvSpPr>
          <p:cNvPr id="4" name="Oval 3">
            <a:extLst>
              <a:ext uri="{FF2B5EF4-FFF2-40B4-BE49-F238E27FC236}">
                <a16:creationId xmlns:a16="http://schemas.microsoft.com/office/drawing/2014/main" id="{E90C6EFF-A368-4AB8-BE4E-62E018084E1B}"/>
              </a:ext>
            </a:extLst>
          </p:cNvPr>
          <p:cNvSpPr>
            <a:spLocks noGrp="1"/>
          </p:cNvSpPr>
          <p:nvPr/>
        </p:nvSpPr>
        <p:spPr>
          <a:xfrm>
            <a:off x="8763000" y="4762500"/>
            <a:ext cx="4762500" cy="4762500"/>
          </a:xfrm>
          <a:prstGeom prst="ellipse">
            <a:avLst/>
          </a:prstGeom>
          <a:solidFill>
            <a:srgbClr val="23C7D9">
              <a:alpha val="7059"/>
            </a:srgbClr>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3BD08ACB-C0B8-47A9-8377-CCEDDF60D77F}"/>
              </a:ext>
            </a:extLst>
          </p:cNvPr>
          <p:cNvSpPr>
            <a:spLocks noGrp="1"/>
          </p:cNvSpPr>
          <p:nvPr/>
        </p:nvSpPr>
        <p:spPr>
          <a:xfrm>
            <a:off x="552450" y="6096000"/>
            <a:ext cx="11087100" cy="9525"/>
          </a:xfrm>
          <a:prstGeom prst="rect">
            <a:avLst/>
          </a:prstGeom>
          <a:solidFill>
            <a:srgbClr val="D7B762">
              <a:alpha val="33333"/>
            </a:srgbClr>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BEB5058F-9CF1-4961-BBC0-640E60796E68}"/>
              </a:ext>
            </a:extLst>
          </p:cNvPr>
          <p:cNvSpPr>
            <a:spLocks noGrp="1"/>
          </p:cNvSpPr>
          <p:nvPr/>
        </p:nvSpPr>
        <p:spPr>
          <a:xfrm>
            <a:off x="666750" y="876300"/>
            <a:ext cx="723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D7B762"/>
                </a:solidFill>
                <a:latin typeface="Aptos Mono"/>
                <a:ea typeface="Aptos Mono"/>
                <a:cs typeface="Aptos Mono"/>
              </a:defRPr>
            </a:pPr>
            <a:r>
              <a:rPr sz="975" b="1">
                <a:solidFill>
                  <a:srgbClr val="D7B762"/>
                </a:solidFill>
                <a:latin typeface="Aptos Mono"/>
                <a:ea typeface="Aptos Mono"/>
                <a:cs typeface="Aptos Mono"/>
              </a:rPr>
              <a:t>BRAND DNA</a:t>
            </a:r>
          </a:p>
        </p:txBody>
      </p:sp>
      <p:sp>
        <p:nvSpPr>
          <p:cNvPr id="7" name="Rectangle 6">
            <a:extLst>
              <a:ext uri="{FF2B5EF4-FFF2-40B4-BE49-F238E27FC236}">
                <a16:creationId xmlns:a16="http://schemas.microsoft.com/office/drawing/2014/main" id="{89C3E24D-CD91-4DA8-BC8D-BF6D8D22224F}"/>
              </a:ext>
            </a:extLst>
          </p:cNvPr>
          <p:cNvSpPr>
            <a:spLocks noGrp="1"/>
          </p:cNvSpPr>
          <p:nvPr/>
        </p:nvSpPr>
        <p:spPr>
          <a:xfrm>
            <a:off x="666750" y="1181100"/>
            <a:ext cx="6572250" cy="1809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850" b="1">
                <a:solidFill>
                  <a:srgbClr val="F6F2E8"/>
                </a:solidFill>
                <a:latin typeface="Aptos Display"/>
                <a:ea typeface="Aptos Display"/>
                <a:cs typeface="Aptos Display"/>
              </a:defRPr>
            </a:pPr>
            <a:r>
              <a:rPr sz="2850" b="1">
                <a:solidFill>
                  <a:srgbClr val="F6F2E8"/>
                </a:solidFill>
                <a:latin typeface="Aptos Display"/>
                <a:ea typeface="Aptos Display"/>
                <a:cs typeface="Aptos Display"/>
              </a:rPr>
              <a:t>Consistency matters because brands need repeatable memory structures.</a:t>
            </a:r>
          </a:p>
        </p:txBody>
      </p:sp>
      <p:sp>
        <p:nvSpPr>
          <p:cNvPr id="8" name="Rectangle 7">
            <a:extLst>
              <a:ext uri="{FF2B5EF4-FFF2-40B4-BE49-F238E27FC236}">
                <a16:creationId xmlns:a16="http://schemas.microsoft.com/office/drawing/2014/main" id="{C5BDD30C-28F1-4E44-8888-088276D9854E}"/>
              </a:ext>
            </a:extLst>
          </p:cNvPr>
          <p:cNvSpPr>
            <a:spLocks noGrp="1"/>
          </p:cNvSpPr>
          <p:nvPr/>
        </p:nvSpPr>
        <p:spPr>
          <a:xfrm>
            <a:off x="666750" y="3095625"/>
            <a:ext cx="6191250" cy="1028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B6B1CE"/>
                </a:solidFill>
                <a:latin typeface="Aptos"/>
                <a:ea typeface="Aptos"/>
                <a:cs typeface="Aptos"/>
              </a:defRPr>
            </a:pPr>
            <a:r>
              <a:rPr sz="1575" b="0">
                <a:solidFill>
                  <a:srgbClr val="B6B1CE"/>
                </a:solidFill>
                <a:latin typeface="Aptos"/>
                <a:ea typeface="Aptos"/>
                <a:cs typeface="Aptos"/>
              </a:rPr>
              <a:t>Brand DNA compares new creative against a brand’s historical creative fingerprint. The principle is that distinctive assets, emotional signatures and memory structures should reinforce brand identity over time.</a:t>
            </a:r>
          </a:p>
        </p:txBody>
      </p:sp>
      <p:sp>
        <p:nvSpPr>
          <p:cNvPr id="9" name="Rectangle 8">
            <a:extLst>
              <a:ext uri="{FF2B5EF4-FFF2-40B4-BE49-F238E27FC236}">
                <a16:creationId xmlns:a16="http://schemas.microsoft.com/office/drawing/2014/main" id="{7DA5837F-08A5-4DF6-846E-4847170666D4}"/>
              </a:ext>
            </a:extLst>
          </p:cNvPr>
          <p:cNvSpPr>
            <a:spLocks noGrp="1"/>
          </p:cNvSpPr>
          <p:nvPr/>
        </p:nvSpPr>
        <p:spPr>
          <a:xfrm>
            <a:off x="6877050" y="1219200"/>
            <a:ext cx="4572000" cy="723900"/>
          </a:xfrm>
          <a:prstGeom prst="rect">
            <a:avLst/>
          </a:prstGeom>
          <a:solidFill>
            <a:srgbClr val="D7B762">
              <a:alpha val="13333"/>
            </a:srgbClr>
          </a:solidFill>
          <a:ln w="9525">
            <a:solidFill>
              <a:srgbClr val="FFFFFF">
                <a:alpha val="9412"/>
              </a:srgbClr>
            </a:solidFill>
            <a:prstDash val="solid"/>
          </a:ln>
        </p:spPr>
        <p:txBody>
          <a:bodyPr/>
          <a:lstStyle/>
          <a:p>
            <a:endParaRPr lang="en-US"/>
          </a:p>
        </p:txBody>
      </p:sp>
      <p:sp>
        <p:nvSpPr>
          <p:cNvPr id="10" name="Rectangle 9">
            <a:extLst>
              <a:ext uri="{FF2B5EF4-FFF2-40B4-BE49-F238E27FC236}">
                <a16:creationId xmlns:a16="http://schemas.microsoft.com/office/drawing/2014/main" id="{0F4E38E7-7BA8-4ADD-9D92-2A25402FD9A9}"/>
              </a:ext>
            </a:extLst>
          </p:cNvPr>
          <p:cNvSpPr>
            <a:spLocks noGrp="1"/>
          </p:cNvSpPr>
          <p:nvPr/>
        </p:nvSpPr>
        <p:spPr>
          <a:xfrm>
            <a:off x="7010400" y="1333500"/>
            <a:ext cx="155448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1">
                <a:solidFill>
                  <a:srgbClr val="D7B762"/>
                </a:solidFill>
                <a:latin typeface="Aptos Mono"/>
                <a:ea typeface="Aptos Mono"/>
                <a:cs typeface="Aptos Mono"/>
              </a:defRPr>
            </a:pPr>
            <a:r>
              <a:rPr sz="900" b="1">
                <a:solidFill>
                  <a:srgbClr val="D7B762"/>
                </a:solidFill>
                <a:latin typeface="Aptos Mono"/>
                <a:ea typeface="Aptos Mono"/>
                <a:cs typeface="Aptos Mono"/>
              </a:rPr>
              <a:t>Trait</a:t>
            </a:r>
          </a:p>
        </p:txBody>
      </p:sp>
      <p:sp>
        <p:nvSpPr>
          <p:cNvPr id="11" name="Rectangle 10">
            <a:extLst>
              <a:ext uri="{FF2B5EF4-FFF2-40B4-BE49-F238E27FC236}">
                <a16:creationId xmlns:a16="http://schemas.microsoft.com/office/drawing/2014/main" id="{B59CD850-13FD-4203-92B7-237E283664B2}"/>
              </a:ext>
            </a:extLst>
          </p:cNvPr>
          <p:cNvSpPr>
            <a:spLocks noGrp="1"/>
          </p:cNvSpPr>
          <p:nvPr/>
        </p:nvSpPr>
        <p:spPr>
          <a:xfrm>
            <a:off x="8614410" y="1333500"/>
            <a:ext cx="265176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00" b="0">
                <a:solidFill>
                  <a:srgbClr val="D7B762"/>
                </a:solidFill>
                <a:latin typeface="Aptos"/>
                <a:ea typeface="Aptos"/>
                <a:cs typeface="Aptos"/>
              </a:defRPr>
            </a:pPr>
            <a:r>
              <a:rPr sz="900" b="0">
                <a:solidFill>
                  <a:srgbClr val="D7B762"/>
                </a:solidFill>
                <a:latin typeface="Aptos"/>
                <a:ea typeface="Aptos"/>
                <a:cs typeface="Aptos"/>
              </a:rPr>
              <a:t>Meaning</a:t>
            </a:r>
          </a:p>
        </p:txBody>
      </p:sp>
      <p:sp>
        <p:nvSpPr>
          <p:cNvPr id="12" name="Rectangle 11">
            <a:extLst>
              <a:ext uri="{FF2B5EF4-FFF2-40B4-BE49-F238E27FC236}">
                <a16:creationId xmlns:a16="http://schemas.microsoft.com/office/drawing/2014/main" id="{56443C2E-12C9-46C3-9927-444A5B7289AA}"/>
              </a:ext>
            </a:extLst>
          </p:cNvPr>
          <p:cNvSpPr>
            <a:spLocks noGrp="1"/>
          </p:cNvSpPr>
          <p:nvPr/>
        </p:nvSpPr>
        <p:spPr>
          <a:xfrm>
            <a:off x="6877050" y="1962150"/>
            <a:ext cx="4572000" cy="723900"/>
          </a:xfrm>
          <a:prstGeom prst="rect">
            <a:avLst/>
          </a:prstGeom>
          <a:solidFill>
            <a:srgbClr val="FFFFFF">
              <a:alpha val="2745"/>
            </a:srgbClr>
          </a:solidFill>
          <a:ln w="9525">
            <a:solidFill>
              <a:srgbClr val="FFFFFF">
                <a:alpha val="9412"/>
              </a:srgbClr>
            </a:solidFill>
            <a:prstDash val="solid"/>
          </a:ln>
        </p:spPr>
        <p:txBody>
          <a:bodyPr/>
          <a:lstStyle/>
          <a:p>
            <a:endParaRPr lang="en-US"/>
          </a:p>
        </p:txBody>
      </p:sp>
      <p:sp>
        <p:nvSpPr>
          <p:cNvPr id="13" name="Rectangle 12">
            <a:extLst>
              <a:ext uri="{FF2B5EF4-FFF2-40B4-BE49-F238E27FC236}">
                <a16:creationId xmlns:a16="http://schemas.microsoft.com/office/drawing/2014/main" id="{769FC364-4F8C-4D3A-A355-EC0EAF5BEB79}"/>
              </a:ext>
            </a:extLst>
          </p:cNvPr>
          <p:cNvSpPr>
            <a:spLocks noGrp="1"/>
          </p:cNvSpPr>
          <p:nvPr/>
        </p:nvSpPr>
        <p:spPr>
          <a:xfrm>
            <a:off x="7010400" y="2076450"/>
            <a:ext cx="155448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F6F2E8"/>
                </a:solidFill>
                <a:latin typeface="Aptos Mono"/>
                <a:ea typeface="Aptos Mono"/>
                <a:cs typeface="Aptos Mono"/>
              </a:defRPr>
            </a:pPr>
            <a:r>
              <a:rPr sz="825" b="1">
                <a:solidFill>
                  <a:srgbClr val="F6F2E8"/>
                </a:solidFill>
                <a:latin typeface="Aptos Mono"/>
                <a:ea typeface="Aptos Mono"/>
                <a:cs typeface="Aptos Mono"/>
              </a:rPr>
              <a:t>Emotional Signature</a:t>
            </a:r>
          </a:p>
        </p:txBody>
      </p:sp>
      <p:sp>
        <p:nvSpPr>
          <p:cNvPr id="14" name="Rectangle 13">
            <a:extLst>
              <a:ext uri="{FF2B5EF4-FFF2-40B4-BE49-F238E27FC236}">
                <a16:creationId xmlns:a16="http://schemas.microsoft.com/office/drawing/2014/main" id="{BE83483B-4F7A-40E0-AB15-068BADC82946}"/>
              </a:ext>
            </a:extLst>
          </p:cNvPr>
          <p:cNvSpPr>
            <a:spLocks noGrp="1"/>
          </p:cNvSpPr>
          <p:nvPr/>
        </p:nvSpPr>
        <p:spPr>
          <a:xfrm>
            <a:off x="8614410" y="2076450"/>
            <a:ext cx="265176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B6B1CE"/>
                </a:solidFill>
                <a:latin typeface="Aptos"/>
                <a:ea typeface="Aptos"/>
                <a:cs typeface="Aptos"/>
              </a:defRPr>
            </a:pPr>
            <a:r>
              <a:rPr sz="825" b="0">
                <a:solidFill>
                  <a:srgbClr val="B6B1CE"/>
                </a:solidFill>
                <a:latin typeface="Aptos"/>
                <a:ea typeface="Aptos"/>
                <a:cs typeface="Aptos"/>
              </a:rPr>
              <a:t>How consistently the brand uses emotional response.</a:t>
            </a:r>
          </a:p>
        </p:txBody>
      </p:sp>
      <p:sp>
        <p:nvSpPr>
          <p:cNvPr id="15" name="Rectangle 14">
            <a:extLst>
              <a:ext uri="{FF2B5EF4-FFF2-40B4-BE49-F238E27FC236}">
                <a16:creationId xmlns:a16="http://schemas.microsoft.com/office/drawing/2014/main" id="{BBE314E1-C0D9-4BE2-B326-72C771548FC6}"/>
              </a:ext>
            </a:extLst>
          </p:cNvPr>
          <p:cNvSpPr>
            <a:spLocks noGrp="1"/>
          </p:cNvSpPr>
          <p:nvPr/>
        </p:nvSpPr>
        <p:spPr>
          <a:xfrm>
            <a:off x="6877050" y="2705100"/>
            <a:ext cx="4572000" cy="723900"/>
          </a:xfrm>
          <a:prstGeom prst="rect">
            <a:avLst/>
          </a:prstGeom>
          <a:solidFill>
            <a:srgbClr val="FFFFFF">
              <a:alpha val="2745"/>
            </a:srgbClr>
          </a:solidFill>
          <a:ln w="9525">
            <a:solidFill>
              <a:srgbClr val="FFFFFF">
                <a:alpha val="9412"/>
              </a:srgbClr>
            </a:solidFill>
            <a:prstDash val="solid"/>
          </a:ln>
        </p:spPr>
        <p:txBody>
          <a:bodyPr/>
          <a:lstStyle/>
          <a:p>
            <a:endParaRPr lang="en-US"/>
          </a:p>
        </p:txBody>
      </p:sp>
      <p:sp>
        <p:nvSpPr>
          <p:cNvPr id="16" name="Rectangle 15">
            <a:extLst>
              <a:ext uri="{FF2B5EF4-FFF2-40B4-BE49-F238E27FC236}">
                <a16:creationId xmlns:a16="http://schemas.microsoft.com/office/drawing/2014/main" id="{D90F9BBB-D25D-49D0-9212-BFD3B43A240B}"/>
              </a:ext>
            </a:extLst>
          </p:cNvPr>
          <p:cNvSpPr>
            <a:spLocks noGrp="1"/>
          </p:cNvSpPr>
          <p:nvPr/>
        </p:nvSpPr>
        <p:spPr>
          <a:xfrm>
            <a:off x="7010400" y="2819400"/>
            <a:ext cx="155448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F6F2E8"/>
                </a:solidFill>
                <a:latin typeface="Aptos Mono"/>
                <a:ea typeface="Aptos Mono"/>
                <a:cs typeface="Aptos Mono"/>
              </a:defRPr>
            </a:pPr>
            <a:r>
              <a:rPr sz="825" b="1">
                <a:solidFill>
                  <a:srgbClr val="F6F2E8"/>
                </a:solidFill>
                <a:latin typeface="Aptos Mono"/>
                <a:ea typeface="Aptos Mono"/>
                <a:cs typeface="Aptos Mono"/>
              </a:rPr>
              <a:t>Memory Architecture</a:t>
            </a:r>
          </a:p>
        </p:txBody>
      </p:sp>
      <p:sp>
        <p:nvSpPr>
          <p:cNvPr id="17" name="Rectangle 16">
            <a:extLst>
              <a:ext uri="{FF2B5EF4-FFF2-40B4-BE49-F238E27FC236}">
                <a16:creationId xmlns:a16="http://schemas.microsoft.com/office/drawing/2014/main" id="{5F534E71-3B3B-4FC3-97B6-99015F57D55D}"/>
              </a:ext>
            </a:extLst>
          </p:cNvPr>
          <p:cNvSpPr>
            <a:spLocks noGrp="1"/>
          </p:cNvSpPr>
          <p:nvPr/>
        </p:nvSpPr>
        <p:spPr>
          <a:xfrm>
            <a:off x="8614410" y="2819400"/>
            <a:ext cx="265176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B6B1CE"/>
                </a:solidFill>
                <a:latin typeface="Aptos"/>
                <a:ea typeface="Aptos"/>
                <a:cs typeface="Aptos"/>
              </a:defRPr>
            </a:pPr>
            <a:r>
              <a:rPr sz="825" b="0">
                <a:solidFill>
                  <a:srgbClr val="B6B1CE"/>
                </a:solidFill>
                <a:latin typeface="Aptos"/>
                <a:ea typeface="Aptos"/>
                <a:cs typeface="Aptos"/>
              </a:rPr>
              <a:t>Brand recall and memory encoding pattern.</a:t>
            </a:r>
          </a:p>
        </p:txBody>
      </p:sp>
      <p:sp>
        <p:nvSpPr>
          <p:cNvPr id="18" name="Rectangle 17">
            <a:extLst>
              <a:ext uri="{FF2B5EF4-FFF2-40B4-BE49-F238E27FC236}">
                <a16:creationId xmlns:a16="http://schemas.microsoft.com/office/drawing/2014/main" id="{6FC911D7-01C1-4A4A-863B-B278BF340023}"/>
              </a:ext>
            </a:extLst>
          </p:cNvPr>
          <p:cNvSpPr>
            <a:spLocks noGrp="1"/>
          </p:cNvSpPr>
          <p:nvPr/>
        </p:nvSpPr>
        <p:spPr>
          <a:xfrm>
            <a:off x="6877050" y="3448050"/>
            <a:ext cx="4572000" cy="723900"/>
          </a:xfrm>
          <a:prstGeom prst="rect">
            <a:avLst/>
          </a:prstGeom>
          <a:solidFill>
            <a:srgbClr val="FFFFFF">
              <a:alpha val="2745"/>
            </a:srgbClr>
          </a:solidFill>
          <a:ln w="9525">
            <a:solidFill>
              <a:srgbClr val="FFFFFF">
                <a:alpha val="9412"/>
              </a:srgbClr>
            </a:solidFill>
            <a:prstDash val="solid"/>
          </a:ln>
        </p:spPr>
        <p:txBody>
          <a:bodyPr/>
          <a:lstStyle/>
          <a:p>
            <a:endParaRPr lang="en-US"/>
          </a:p>
        </p:txBody>
      </p:sp>
      <p:sp>
        <p:nvSpPr>
          <p:cNvPr id="19" name="Rectangle 18">
            <a:extLst>
              <a:ext uri="{FF2B5EF4-FFF2-40B4-BE49-F238E27FC236}">
                <a16:creationId xmlns:a16="http://schemas.microsoft.com/office/drawing/2014/main" id="{D9DEFD76-49FB-4661-9B0C-EFDF32678E9D}"/>
              </a:ext>
            </a:extLst>
          </p:cNvPr>
          <p:cNvSpPr>
            <a:spLocks noGrp="1"/>
          </p:cNvSpPr>
          <p:nvPr/>
        </p:nvSpPr>
        <p:spPr>
          <a:xfrm>
            <a:off x="7010400" y="3562350"/>
            <a:ext cx="155448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F6F2E8"/>
                </a:solidFill>
                <a:latin typeface="Aptos Mono"/>
                <a:ea typeface="Aptos Mono"/>
                <a:cs typeface="Aptos Mono"/>
              </a:defRPr>
            </a:pPr>
            <a:r>
              <a:rPr sz="825" b="1">
                <a:solidFill>
                  <a:srgbClr val="F6F2E8"/>
                </a:solidFill>
                <a:latin typeface="Aptos Mono"/>
                <a:ea typeface="Aptos Mono"/>
                <a:cs typeface="Aptos Mono"/>
              </a:rPr>
              <a:t>Attention Pattern</a:t>
            </a:r>
          </a:p>
        </p:txBody>
      </p:sp>
      <p:sp>
        <p:nvSpPr>
          <p:cNvPr id="20" name="Rectangle 19">
            <a:extLst>
              <a:ext uri="{FF2B5EF4-FFF2-40B4-BE49-F238E27FC236}">
                <a16:creationId xmlns:a16="http://schemas.microsoft.com/office/drawing/2014/main" id="{A23D1919-87C5-4D13-99E8-7D2D62A59E7D}"/>
              </a:ext>
            </a:extLst>
          </p:cNvPr>
          <p:cNvSpPr>
            <a:spLocks noGrp="1"/>
          </p:cNvSpPr>
          <p:nvPr/>
        </p:nvSpPr>
        <p:spPr>
          <a:xfrm>
            <a:off x="8614410" y="3562350"/>
            <a:ext cx="265176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B6B1CE"/>
                </a:solidFill>
                <a:latin typeface="Aptos"/>
                <a:ea typeface="Aptos"/>
                <a:cs typeface="Aptos"/>
              </a:defRPr>
            </a:pPr>
            <a:r>
              <a:rPr sz="825" b="0">
                <a:solidFill>
                  <a:srgbClr val="B6B1CE"/>
                </a:solidFill>
                <a:latin typeface="Aptos"/>
                <a:ea typeface="Aptos"/>
                <a:cs typeface="Aptos"/>
              </a:rPr>
              <a:t>Hook and hold behavior across assets.</a:t>
            </a:r>
          </a:p>
        </p:txBody>
      </p:sp>
      <p:sp>
        <p:nvSpPr>
          <p:cNvPr id="21" name="Rectangle 20">
            <a:extLst>
              <a:ext uri="{FF2B5EF4-FFF2-40B4-BE49-F238E27FC236}">
                <a16:creationId xmlns:a16="http://schemas.microsoft.com/office/drawing/2014/main" id="{10EAF3EE-227F-4D9B-8147-ECF13FDB1475}"/>
              </a:ext>
            </a:extLst>
          </p:cNvPr>
          <p:cNvSpPr>
            <a:spLocks noGrp="1"/>
          </p:cNvSpPr>
          <p:nvPr/>
        </p:nvSpPr>
        <p:spPr>
          <a:xfrm>
            <a:off x="6877050" y="4191000"/>
            <a:ext cx="4572000" cy="723900"/>
          </a:xfrm>
          <a:prstGeom prst="rect">
            <a:avLst/>
          </a:prstGeom>
          <a:solidFill>
            <a:srgbClr val="FFFFFF">
              <a:alpha val="2745"/>
            </a:srgbClr>
          </a:solidFill>
          <a:ln w="9525">
            <a:solidFill>
              <a:srgbClr val="FFFFFF">
                <a:alpha val="9412"/>
              </a:srgbClr>
            </a:solidFill>
            <a:prstDash val="solid"/>
          </a:ln>
        </p:spPr>
        <p:txBody>
          <a:bodyPr/>
          <a:lstStyle/>
          <a:p>
            <a:endParaRPr lang="en-US"/>
          </a:p>
        </p:txBody>
      </p:sp>
      <p:sp>
        <p:nvSpPr>
          <p:cNvPr id="22" name="Rectangle 21">
            <a:extLst>
              <a:ext uri="{FF2B5EF4-FFF2-40B4-BE49-F238E27FC236}">
                <a16:creationId xmlns:a16="http://schemas.microsoft.com/office/drawing/2014/main" id="{059D93F2-A3C9-4F0B-9FFC-95F3F6B83407}"/>
              </a:ext>
            </a:extLst>
          </p:cNvPr>
          <p:cNvSpPr>
            <a:spLocks noGrp="1"/>
          </p:cNvSpPr>
          <p:nvPr/>
        </p:nvSpPr>
        <p:spPr>
          <a:xfrm>
            <a:off x="7010400" y="4305300"/>
            <a:ext cx="155448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1">
                <a:solidFill>
                  <a:srgbClr val="F6F2E8"/>
                </a:solidFill>
                <a:latin typeface="Aptos Mono"/>
                <a:ea typeface="Aptos Mono"/>
                <a:cs typeface="Aptos Mono"/>
              </a:defRPr>
            </a:pPr>
            <a:r>
              <a:rPr sz="825" b="1">
                <a:solidFill>
                  <a:srgbClr val="F6F2E8"/>
                </a:solidFill>
                <a:latin typeface="Aptos Mono"/>
                <a:ea typeface="Aptos Mono"/>
                <a:cs typeface="Aptos Mono"/>
              </a:rPr>
              <a:t>Cultural Rooting</a:t>
            </a:r>
          </a:p>
        </p:txBody>
      </p:sp>
      <p:sp>
        <p:nvSpPr>
          <p:cNvPr id="23" name="Rectangle 22">
            <a:extLst>
              <a:ext uri="{FF2B5EF4-FFF2-40B4-BE49-F238E27FC236}">
                <a16:creationId xmlns:a16="http://schemas.microsoft.com/office/drawing/2014/main" id="{21D55319-402A-41F7-A74B-F4751A6A340B}"/>
              </a:ext>
            </a:extLst>
          </p:cNvPr>
          <p:cNvSpPr>
            <a:spLocks noGrp="1"/>
          </p:cNvSpPr>
          <p:nvPr/>
        </p:nvSpPr>
        <p:spPr>
          <a:xfrm>
            <a:off x="8614410" y="4305300"/>
            <a:ext cx="265176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825" b="0">
                <a:solidFill>
                  <a:srgbClr val="B6B1CE"/>
                </a:solidFill>
                <a:latin typeface="Aptos"/>
                <a:ea typeface="Aptos"/>
                <a:cs typeface="Aptos"/>
              </a:defRPr>
            </a:pPr>
            <a:r>
              <a:rPr sz="825" b="0">
                <a:solidFill>
                  <a:srgbClr val="B6B1CE"/>
                </a:solidFill>
                <a:latin typeface="Aptos"/>
                <a:ea typeface="Aptos"/>
                <a:cs typeface="Aptos"/>
              </a:rPr>
              <a:t>Relevance to market and cultural context.</a:t>
            </a:r>
          </a:p>
        </p:txBody>
      </p:sp>
      <p:sp>
        <p:nvSpPr>
          <p:cNvPr id="24" name="Rectangle 23">
            <a:extLst>
              <a:ext uri="{FF2B5EF4-FFF2-40B4-BE49-F238E27FC236}">
                <a16:creationId xmlns:a16="http://schemas.microsoft.com/office/drawing/2014/main" id="{44891201-020A-4C6F-B4A6-3600D5B33DDA}"/>
              </a:ext>
            </a:extLst>
          </p:cNvPr>
          <p:cNvSpPr>
            <a:spLocks noGrp="1"/>
          </p:cNvSpPr>
          <p:nvPr/>
        </p:nvSpPr>
        <p:spPr>
          <a:xfrm>
            <a:off x="552450" y="6286500"/>
            <a:ext cx="8096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7728F"/>
                </a:solidFill>
                <a:latin typeface="Aptos Mono"/>
                <a:ea typeface="Aptos Mono"/>
                <a:cs typeface="Aptos Mono"/>
              </a:defRPr>
            </a:pPr>
            <a:r>
              <a:rPr sz="750" b="0">
                <a:solidFill>
                  <a:srgbClr val="77728F"/>
                </a:solidFill>
                <a:latin typeface="Aptos Mono"/>
                <a:ea typeface="Aptos Mono"/>
                <a:cs typeface="Aptos Mono"/>
              </a:rPr>
              <a:t>AdCritIQ Methodology Evidence Deck  ·  AdCritIQ™  ·  Just the signal before the spend.</a:t>
            </a:r>
          </a:p>
        </p:txBody>
      </p:sp>
      <p:sp>
        <p:nvSpPr>
          <p:cNvPr id="25" name="Rectangle 24">
            <a:extLst>
              <a:ext uri="{FF2B5EF4-FFF2-40B4-BE49-F238E27FC236}">
                <a16:creationId xmlns:a16="http://schemas.microsoft.com/office/drawing/2014/main" id="{9C02E19C-DE88-44DF-9BAE-22CFA0F6B7B6}"/>
              </a:ext>
            </a:extLst>
          </p:cNvPr>
          <p:cNvSpPr>
            <a:spLocks noGrp="1"/>
          </p:cNvSpPr>
          <p:nvPr/>
        </p:nvSpPr>
        <p:spPr>
          <a:xfrm>
            <a:off x="11144250" y="6257925"/>
            <a:ext cx="476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0">
                <a:solidFill>
                  <a:srgbClr val="D7B762"/>
                </a:solidFill>
                <a:latin typeface="Aptos Mono"/>
                <a:ea typeface="Aptos Mono"/>
                <a:cs typeface="Aptos Mono"/>
              </a:defRPr>
            </a:pPr>
            <a:r>
              <a:rPr sz="825" b="0">
                <a:solidFill>
                  <a:srgbClr val="D7B762"/>
                </a:solidFill>
                <a:latin typeface="Aptos Mono"/>
                <a:ea typeface="Aptos Mono"/>
                <a:cs typeface="Aptos Mono"/>
              </a:rPr>
              <a:t>09</a:t>
            </a:r>
          </a:p>
        </p:txBody>
      </p:sp>
    </p:spTree>
    <p:extLst>
      <p:ext uri="{BB962C8B-B14F-4D97-AF65-F5344CB8AC3E}">
        <p14:creationId xmlns:p14="http://schemas.microsoft.com/office/powerpoint/2010/main" val="6350894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D1A65144-0B1A-42CF-9384-70CA969FD617}"/>
              </a:ext>
            </a:extLst>
          </p:cNvPr>
          <p:cNvSpPr>
            <a:spLocks noGrp="1"/>
          </p:cNvSpPr>
          <p:nvPr/>
        </p:nvSpPr>
        <p:spPr>
          <a:xfrm>
            <a:off x="0" y="0"/>
            <a:ext cx="12192000" cy="6858000"/>
          </a:xfrm>
          <a:prstGeom prst="rect">
            <a:avLst/>
          </a:prstGeom>
          <a:solidFill>
            <a:srgbClr val="07070D"/>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380E8E9B-9DDD-49CC-9D63-A49F3029A19C}"/>
              </a:ext>
            </a:extLst>
          </p:cNvPr>
          <p:cNvSpPr>
            <a:spLocks noGrp="1"/>
          </p:cNvSpPr>
          <p:nvPr/>
        </p:nvSpPr>
        <p:spPr>
          <a:xfrm>
            <a:off x="0" y="0"/>
            <a:ext cx="12192000" cy="6858000"/>
          </a:xfrm>
          <a:prstGeom prst="rect">
            <a:avLst/>
          </a:prstGeom>
          <a:gradFill>
            <a:gsLst>
              <a:gs pos="0">
                <a:srgbClr val="07070D"/>
              </a:gs>
              <a:gs pos="55000">
                <a:srgbClr val="11111A"/>
              </a:gs>
              <a:gs pos="100000">
                <a:srgbClr val="050509"/>
              </a:gs>
            </a:gsLst>
            <a:lin ang="8100000"/>
          </a:gradFill>
          <a:ln w="0">
            <a:solidFill>
              <a:srgbClr val="000000">
                <a:alpha val="0"/>
              </a:srgbClr>
            </a:solidFill>
            <a:prstDash val="solid"/>
          </a:ln>
        </p:spPr>
        <p:txBody>
          <a:bodyPr/>
          <a:lstStyle/>
          <a:p>
            <a:endParaRPr lang="en-US"/>
          </a:p>
        </p:txBody>
      </p:sp>
      <p:sp>
        <p:nvSpPr>
          <p:cNvPr id="3" name="Oval 2">
            <a:extLst>
              <a:ext uri="{FF2B5EF4-FFF2-40B4-BE49-F238E27FC236}">
                <a16:creationId xmlns:a16="http://schemas.microsoft.com/office/drawing/2014/main" id="{FE4F566A-E930-4DF9-9C57-B33371E7CC10}"/>
              </a:ext>
            </a:extLst>
          </p:cNvPr>
          <p:cNvSpPr>
            <a:spLocks noGrp="1"/>
          </p:cNvSpPr>
          <p:nvPr/>
        </p:nvSpPr>
        <p:spPr>
          <a:xfrm>
            <a:off x="-1143000" y="-1714500"/>
            <a:ext cx="4953000" cy="4953000"/>
          </a:xfrm>
          <a:prstGeom prst="ellipse">
            <a:avLst/>
          </a:prstGeom>
          <a:solidFill>
            <a:srgbClr val="D7B762">
              <a:alpha val="8627"/>
            </a:srgbClr>
          </a:solidFill>
          <a:ln w="0">
            <a:solidFill>
              <a:srgbClr val="000000">
                <a:alpha val="0"/>
              </a:srgbClr>
            </a:solidFill>
            <a:prstDash val="solid"/>
          </a:ln>
        </p:spPr>
        <p:txBody>
          <a:bodyPr/>
          <a:lstStyle/>
          <a:p>
            <a:endParaRPr lang="en-US"/>
          </a:p>
        </p:txBody>
      </p:sp>
      <p:sp>
        <p:nvSpPr>
          <p:cNvPr id="4" name="Oval 3">
            <a:extLst>
              <a:ext uri="{FF2B5EF4-FFF2-40B4-BE49-F238E27FC236}">
                <a16:creationId xmlns:a16="http://schemas.microsoft.com/office/drawing/2014/main" id="{A5F4C733-8ACF-4CF5-9BF9-C81F6F55F883}"/>
              </a:ext>
            </a:extLst>
          </p:cNvPr>
          <p:cNvSpPr>
            <a:spLocks noGrp="1"/>
          </p:cNvSpPr>
          <p:nvPr/>
        </p:nvSpPr>
        <p:spPr>
          <a:xfrm>
            <a:off x="8763000" y="4762500"/>
            <a:ext cx="4762500" cy="4762500"/>
          </a:xfrm>
          <a:prstGeom prst="ellipse">
            <a:avLst/>
          </a:prstGeom>
          <a:solidFill>
            <a:srgbClr val="23C7D9">
              <a:alpha val="7059"/>
            </a:srgbClr>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49B1C155-7847-486D-921D-4DEECDE69610}"/>
              </a:ext>
            </a:extLst>
          </p:cNvPr>
          <p:cNvSpPr>
            <a:spLocks noGrp="1"/>
          </p:cNvSpPr>
          <p:nvPr/>
        </p:nvSpPr>
        <p:spPr>
          <a:xfrm>
            <a:off x="552450" y="6096000"/>
            <a:ext cx="11087100" cy="9525"/>
          </a:xfrm>
          <a:prstGeom prst="rect">
            <a:avLst/>
          </a:prstGeom>
          <a:solidFill>
            <a:srgbClr val="D7B762">
              <a:alpha val="33333"/>
            </a:srgbClr>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8420480D-CEA7-4D79-9950-2403E79E8CD2}"/>
              </a:ext>
            </a:extLst>
          </p:cNvPr>
          <p:cNvSpPr>
            <a:spLocks noGrp="1"/>
          </p:cNvSpPr>
          <p:nvPr/>
        </p:nvSpPr>
        <p:spPr>
          <a:xfrm>
            <a:off x="666750" y="876300"/>
            <a:ext cx="723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D7B762"/>
                </a:solidFill>
                <a:latin typeface="Aptos Mono"/>
                <a:ea typeface="Aptos Mono"/>
                <a:cs typeface="Aptos Mono"/>
              </a:defRPr>
            </a:pPr>
            <a:r>
              <a:rPr sz="975" b="1">
                <a:solidFill>
                  <a:srgbClr val="D7B762"/>
                </a:solidFill>
                <a:latin typeface="Aptos Mono"/>
                <a:ea typeface="Aptos Mono"/>
                <a:cs typeface="Aptos Mono"/>
              </a:rPr>
              <a:t>CERTIFICATION</a:t>
            </a:r>
          </a:p>
        </p:txBody>
      </p:sp>
      <p:sp>
        <p:nvSpPr>
          <p:cNvPr id="7" name="Rectangle 6">
            <a:extLst>
              <a:ext uri="{FF2B5EF4-FFF2-40B4-BE49-F238E27FC236}">
                <a16:creationId xmlns:a16="http://schemas.microsoft.com/office/drawing/2014/main" id="{B5B1F0D2-94A7-403C-A517-FA413F7AACE3}"/>
              </a:ext>
            </a:extLst>
          </p:cNvPr>
          <p:cNvSpPr>
            <a:spLocks noGrp="1"/>
          </p:cNvSpPr>
          <p:nvPr/>
        </p:nvSpPr>
        <p:spPr>
          <a:xfrm>
            <a:off x="666750" y="1181100"/>
            <a:ext cx="6572250" cy="1809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850" b="1">
                <a:solidFill>
                  <a:srgbClr val="F6F2E8"/>
                </a:solidFill>
                <a:latin typeface="Aptos Display"/>
                <a:ea typeface="Aptos Display"/>
                <a:cs typeface="Aptos Display"/>
              </a:defRPr>
            </a:pPr>
            <a:r>
              <a:rPr sz="2850" b="1">
                <a:solidFill>
                  <a:srgbClr val="F6F2E8"/>
                </a:solidFill>
                <a:latin typeface="Aptos Display"/>
                <a:ea typeface="Aptos Display"/>
                <a:cs typeface="Aptos Display"/>
              </a:rPr>
              <a:t>Certification should be treated as a readiness signal, not a guarantee.</a:t>
            </a:r>
          </a:p>
        </p:txBody>
      </p:sp>
      <p:sp>
        <p:nvSpPr>
          <p:cNvPr id="8" name="Rectangle 7">
            <a:extLst>
              <a:ext uri="{FF2B5EF4-FFF2-40B4-BE49-F238E27FC236}">
                <a16:creationId xmlns:a16="http://schemas.microsoft.com/office/drawing/2014/main" id="{0A9FD203-28D0-4644-AB72-9C74E014DA04}"/>
              </a:ext>
            </a:extLst>
          </p:cNvPr>
          <p:cNvSpPr>
            <a:spLocks noGrp="1"/>
          </p:cNvSpPr>
          <p:nvPr/>
        </p:nvSpPr>
        <p:spPr>
          <a:xfrm>
            <a:off x="666750" y="3095625"/>
            <a:ext cx="6191250" cy="1028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B6B1CE"/>
                </a:solidFill>
                <a:latin typeface="Aptos"/>
                <a:ea typeface="Aptos"/>
                <a:cs typeface="Aptos"/>
              </a:defRPr>
            </a:pPr>
            <a:r>
              <a:rPr sz="1575" b="0">
                <a:solidFill>
                  <a:srgbClr val="B6B1CE"/>
                </a:solidFill>
                <a:latin typeface="Aptos"/>
                <a:ea typeface="Aptos"/>
                <a:cs typeface="Aptos"/>
              </a:rPr>
              <a:t>Certified Creative can become useful for agencies and brands if the threshold is transparent and conservative. It should mean the asset meets AdCritIQ’s criteria for creative readiness, not guaranteed sales performance.</a:t>
            </a:r>
          </a:p>
        </p:txBody>
      </p:sp>
      <p:sp>
        <p:nvSpPr>
          <p:cNvPr id="9" name="Rectangle 8">
            <a:extLst>
              <a:ext uri="{FF2B5EF4-FFF2-40B4-BE49-F238E27FC236}">
                <a16:creationId xmlns:a16="http://schemas.microsoft.com/office/drawing/2014/main" id="{68884717-A343-45FE-AAD8-C956EF11DB63}"/>
              </a:ext>
            </a:extLst>
          </p:cNvPr>
          <p:cNvSpPr>
            <a:spLocks noGrp="1"/>
          </p:cNvSpPr>
          <p:nvPr/>
        </p:nvSpPr>
        <p:spPr>
          <a:xfrm>
            <a:off x="7381875" y="1162050"/>
            <a:ext cx="4191000" cy="914400"/>
          </a:xfrm>
          <a:prstGeom prst="rect">
            <a:avLst/>
          </a:prstGeom>
          <a:solidFill>
            <a:srgbClr val="FFFFFF">
              <a:alpha val="3137"/>
            </a:srgbClr>
          </a:solidFill>
          <a:ln w="9525">
            <a:solidFill>
              <a:srgbClr val="FFFFFF">
                <a:alpha val="9412"/>
              </a:srgbClr>
            </a:solidFill>
            <a:prstDash val="solid"/>
          </a:ln>
        </p:spPr>
        <p:txBody>
          <a:bodyPr/>
          <a:lstStyle/>
          <a:p>
            <a:endParaRPr lang="en-US"/>
          </a:p>
        </p:txBody>
      </p:sp>
      <p:sp>
        <p:nvSpPr>
          <p:cNvPr id="10" name="Rectangle 9">
            <a:extLst>
              <a:ext uri="{FF2B5EF4-FFF2-40B4-BE49-F238E27FC236}">
                <a16:creationId xmlns:a16="http://schemas.microsoft.com/office/drawing/2014/main" id="{32484C7F-F95E-488F-A173-4050143DBCBB}"/>
              </a:ext>
            </a:extLst>
          </p:cNvPr>
          <p:cNvSpPr>
            <a:spLocks noGrp="1"/>
          </p:cNvSpPr>
          <p:nvPr/>
        </p:nvSpPr>
        <p:spPr>
          <a:xfrm>
            <a:off x="7381875" y="1162050"/>
            <a:ext cx="38100" cy="914400"/>
          </a:xfrm>
          <a:prstGeom prst="rect">
            <a:avLst/>
          </a:prstGeom>
          <a:solidFill>
            <a:srgbClr val="63D394"/>
          </a:solidFill>
          <a:ln w="0">
            <a:solidFill>
              <a:srgbClr val="000000">
                <a:alpha val="0"/>
              </a:srgbClr>
            </a:solidFill>
            <a:prstDash val="solid"/>
          </a:ln>
        </p:spPr>
        <p:txBody>
          <a:bodyPr/>
          <a:lstStyle/>
          <a:p>
            <a:endParaRPr lang="en-US"/>
          </a:p>
        </p:txBody>
      </p:sp>
      <p:sp>
        <p:nvSpPr>
          <p:cNvPr id="11" name="Rectangle 10">
            <a:extLst>
              <a:ext uri="{FF2B5EF4-FFF2-40B4-BE49-F238E27FC236}">
                <a16:creationId xmlns:a16="http://schemas.microsoft.com/office/drawing/2014/main" id="{EC60E56E-3837-4557-B236-681D434EA34E}"/>
              </a:ext>
            </a:extLst>
          </p:cNvPr>
          <p:cNvSpPr>
            <a:spLocks noGrp="1"/>
          </p:cNvSpPr>
          <p:nvPr/>
        </p:nvSpPr>
        <p:spPr>
          <a:xfrm>
            <a:off x="7553325" y="1304925"/>
            <a:ext cx="38481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63D394"/>
                </a:solidFill>
                <a:latin typeface="Aptos Mono"/>
                <a:ea typeface="Aptos Mono"/>
                <a:cs typeface="Aptos Mono"/>
              </a:defRPr>
            </a:pPr>
            <a:r>
              <a:rPr sz="1050" b="1">
                <a:solidFill>
                  <a:srgbClr val="63D394"/>
                </a:solidFill>
                <a:latin typeface="Aptos Mono"/>
                <a:ea typeface="Aptos Mono"/>
                <a:cs typeface="Aptos Mono"/>
              </a:rPr>
              <a:t>Useful for</a:t>
            </a:r>
          </a:p>
        </p:txBody>
      </p:sp>
      <p:sp>
        <p:nvSpPr>
          <p:cNvPr id="12" name="Rectangle 11">
            <a:extLst>
              <a:ext uri="{FF2B5EF4-FFF2-40B4-BE49-F238E27FC236}">
                <a16:creationId xmlns:a16="http://schemas.microsoft.com/office/drawing/2014/main" id="{5454484A-236E-460B-BA78-9CABC2EEB88B}"/>
              </a:ext>
            </a:extLst>
          </p:cNvPr>
          <p:cNvSpPr>
            <a:spLocks noGrp="1"/>
          </p:cNvSpPr>
          <p:nvPr/>
        </p:nvSpPr>
        <p:spPr>
          <a:xfrm>
            <a:off x="7553325" y="1562100"/>
            <a:ext cx="38481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6B1CE"/>
                </a:solidFill>
                <a:latin typeface="Aptos"/>
                <a:ea typeface="Aptos"/>
                <a:cs typeface="Aptos"/>
              </a:defRPr>
            </a:pPr>
            <a:r>
              <a:rPr sz="975" b="0">
                <a:solidFill>
                  <a:srgbClr val="B6B1CE"/>
                </a:solidFill>
                <a:latin typeface="Aptos"/>
                <a:ea typeface="Aptos"/>
                <a:cs typeface="Aptos"/>
              </a:rPr>
              <a:t>Agency handoff, client approval, governance and portfolio review.</a:t>
            </a:r>
          </a:p>
        </p:txBody>
      </p:sp>
      <p:sp>
        <p:nvSpPr>
          <p:cNvPr id="13" name="Rectangle 12">
            <a:extLst>
              <a:ext uri="{FF2B5EF4-FFF2-40B4-BE49-F238E27FC236}">
                <a16:creationId xmlns:a16="http://schemas.microsoft.com/office/drawing/2014/main" id="{EE7AFB41-85D2-4FA6-9170-0535CA843FE5}"/>
              </a:ext>
            </a:extLst>
          </p:cNvPr>
          <p:cNvSpPr>
            <a:spLocks noGrp="1"/>
          </p:cNvSpPr>
          <p:nvPr/>
        </p:nvSpPr>
        <p:spPr>
          <a:xfrm>
            <a:off x="7381875" y="2286000"/>
            <a:ext cx="4191000" cy="914400"/>
          </a:xfrm>
          <a:prstGeom prst="rect">
            <a:avLst/>
          </a:prstGeom>
          <a:solidFill>
            <a:srgbClr val="FFFFFF">
              <a:alpha val="3137"/>
            </a:srgbClr>
          </a:solidFill>
          <a:ln w="9525">
            <a:solidFill>
              <a:srgbClr val="FFFFFF">
                <a:alpha val="9412"/>
              </a:srgbClr>
            </a:solidFill>
            <a:prstDash val="solid"/>
          </a:ln>
        </p:spPr>
        <p:txBody>
          <a:bodyPr/>
          <a:lstStyle/>
          <a:p>
            <a:endParaRPr lang="en-US"/>
          </a:p>
        </p:txBody>
      </p:sp>
      <p:sp>
        <p:nvSpPr>
          <p:cNvPr id="14" name="Rectangle 13">
            <a:extLst>
              <a:ext uri="{FF2B5EF4-FFF2-40B4-BE49-F238E27FC236}">
                <a16:creationId xmlns:a16="http://schemas.microsoft.com/office/drawing/2014/main" id="{D5A9F4C4-9698-4EE6-B977-1A39B45769A5}"/>
              </a:ext>
            </a:extLst>
          </p:cNvPr>
          <p:cNvSpPr>
            <a:spLocks noGrp="1"/>
          </p:cNvSpPr>
          <p:nvPr/>
        </p:nvSpPr>
        <p:spPr>
          <a:xfrm>
            <a:off x="7381875" y="2286000"/>
            <a:ext cx="38100" cy="914400"/>
          </a:xfrm>
          <a:prstGeom prst="rect">
            <a:avLst/>
          </a:prstGeom>
          <a:solidFill>
            <a:srgbClr val="D7B762"/>
          </a:solidFill>
          <a:ln w="0">
            <a:solidFill>
              <a:srgbClr val="000000">
                <a:alpha val="0"/>
              </a:srgbClr>
            </a:solidFill>
            <a:prstDash val="solid"/>
          </a:ln>
        </p:spPr>
        <p:txBody>
          <a:bodyPr/>
          <a:lstStyle/>
          <a:p>
            <a:endParaRPr lang="en-US"/>
          </a:p>
        </p:txBody>
      </p:sp>
      <p:sp>
        <p:nvSpPr>
          <p:cNvPr id="15" name="Rectangle 14">
            <a:extLst>
              <a:ext uri="{FF2B5EF4-FFF2-40B4-BE49-F238E27FC236}">
                <a16:creationId xmlns:a16="http://schemas.microsoft.com/office/drawing/2014/main" id="{D42DC9FA-F3B8-45C4-80EE-E3C1380FFE8E}"/>
              </a:ext>
            </a:extLst>
          </p:cNvPr>
          <p:cNvSpPr>
            <a:spLocks noGrp="1"/>
          </p:cNvSpPr>
          <p:nvPr/>
        </p:nvSpPr>
        <p:spPr>
          <a:xfrm>
            <a:off x="7553325" y="2428875"/>
            <a:ext cx="38481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D7B762"/>
                </a:solidFill>
                <a:latin typeface="Aptos Mono"/>
                <a:ea typeface="Aptos Mono"/>
                <a:cs typeface="Aptos Mono"/>
              </a:defRPr>
            </a:pPr>
            <a:r>
              <a:rPr sz="1050" b="1">
                <a:solidFill>
                  <a:srgbClr val="D7B762"/>
                </a:solidFill>
                <a:latin typeface="Aptos Mono"/>
                <a:ea typeface="Aptos Mono"/>
                <a:cs typeface="Aptos Mono"/>
              </a:rPr>
              <a:t>Requires</a:t>
            </a:r>
          </a:p>
        </p:txBody>
      </p:sp>
      <p:sp>
        <p:nvSpPr>
          <p:cNvPr id="16" name="Rectangle 15">
            <a:extLst>
              <a:ext uri="{FF2B5EF4-FFF2-40B4-BE49-F238E27FC236}">
                <a16:creationId xmlns:a16="http://schemas.microsoft.com/office/drawing/2014/main" id="{A22D97EF-2276-4F91-99A9-47B14D37E2A9}"/>
              </a:ext>
            </a:extLst>
          </p:cNvPr>
          <p:cNvSpPr>
            <a:spLocks noGrp="1"/>
          </p:cNvSpPr>
          <p:nvPr/>
        </p:nvSpPr>
        <p:spPr>
          <a:xfrm>
            <a:off x="7553325" y="2686050"/>
            <a:ext cx="38481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6B1CE"/>
                </a:solidFill>
                <a:latin typeface="Aptos"/>
                <a:ea typeface="Aptos"/>
                <a:cs typeface="Aptos"/>
              </a:defRPr>
            </a:pPr>
            <a:r>
              <a:rPr sz="975" b="0">
                <a:solidFill>
                  <a:srgbClr val="B6B1CE"/>
                </a:solidFill>
                <a:latin typeface="Aptos"/>
                <a:ea typeface="Aptos"/>
                <a:cs typeface="Aptos"/>
              </a:rPr>
              <a:t>Published criteria, audit trail and verification link.</a:t>
            </a:r>
          </a:p>
        </p:txBody>
      </p:sp>
      <p:sp>
        <p:nvSpPr>
          <p:cNvPr id="17" name="Rectangle 16">
            <a:extLst>
              <a:ext uri="{FF2B5EF4-FFF2-40B4-BE49-F238E27FC236}">
                <a16:creationId xmlns:a16="http://schemas.microsoft.com/office/drawing/2014/main" id="{C4830158-1277-4443-8C9E-60C367A2708E}"/>
              </a:ext>
            </a:extLst>
          </p:cNvPr>
          <p:cNvSpPr>
            <a:spLocks noGrp="1"/>
          </p:cNvSpPr>
          <p:nvPr/>
        </p:nvSpPr>
        <p:spPr>
          <a:xfrm>
            <a:off x="7381875" y="3409950"/>
            <a:ext cx="4191000" cy="914400"/>
          </a:xfrm>
          <a:prstGeom prst="rect">
            <a:avLst/>
          </a:prstGeom>
          <a:solidFill>
            <a:srgbClr val="FFFFFF">
              <a:alpha val="3137"/>
            </a:srgbClr>
          </a:solidFill>
          <a:ln w="9525">
            <a:solidFill>
              <a:srgbClr val="FFFFFF">
                <a:alpha val="9412"/>
              </a:srgbClr>
            </a:solidFill>
            <a:prstDash val="solid"/>
          </a:ln>
        </p:spPr>
        <p:txBody>
          <a:bodyPr/>
          <a:lstStyle/>
          <a:p>
            <a:endParaRPr lang="en-US"/>
          </a:p>
        </p:txBody>
      </p:sp>
      <p:sp>
        <p:nvSpPr>
          <p:cNvPr id="18" name="Rectangle 17">
            <a:extLst>
              <a:ext uri="{FF2B5EF4-FFF2-40B4-BE49-F238E27FC236}">
                <a16:creationId xmlns:a16="http://schemas.microsoft.com/office/drawing/2014/main" id="{E9D1CE36-600E-409D-8D71-A7D46A57C90D}"/>
              </a:ext>
            </a:extLst>
          </p:cNvPr>
          <p:cNvSpPr>
            <a:spLocks noGrp="1"/>
          </p:cNvSpPr>
          <p:nvPr/>
        </p:nvSpPr>
        <p:spPr>
          <a:xfrm>
            <a:off x="7381875" y="3409950"/>
            <a:ext cx="38100" cy="914400"/>
          </a:xfrm>
          <a:prstGeom prst="rect">
            <a:avLst/>
          </a:prstGeom>
          <a:solidFill>
            <a:srgbClr val="F26D82"/>
          </a:solidFill>
          <a:ln w="0">
            <a:solidFill>
              <a:srgbClr val="000000">
                <a:alpha val="0"/>
              </a:srgbClr>
            </a:solidFill>
            <a:prstDash val="solid"/>
          </a:ln>
        </p:spPr>
        <p:txBody>
          <a:bodyPr/>
          <a:lstStyle/>
          <a:p>
            <a:endParaRPr lang="en-US"/>
          </a:p>
        </p:txBody>
      </p:sp>
      <p:sp>
        <p:nvSpPr>
          <p:cNvPr id="19" name="Rectangle 18">
            <a:extLst>
              <a:ext uri="{FF2B5EF4-FFF2-40B4-BE49-F238E27FC236}">
                <a16:creationId xmlns:a16="http://schemas.microsoft.com/office/drawing/2014/main" id="{433B8EC9-F60B-4A1E-9E9F-7F4BE3B02195}"/>
              </a:ext>
            </a:extLst>
          </p:cNvPr>
          <p:cNvSpPr>
            <a:spLocks noGrp="1"/>
          </p:cNvSpPr>
          <p:nvPr/>
        </p:nvSpPr>
        <p:spPr>
          <a:xfrm>
            <a:off x="7553325" y="3552825"/>
            <a:ext cx="38481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F26D82"/>
                </a:solidFill>
                <a:latin typeface="Aptos Mono"/>
                <a:ea typeface="Aptos Mono"/>
                <a:cs typeface="Aptos Mono"/>
              </a:defRPr>
            </a:pPr>
            <a:r>
              <a:rPr sz="1050" b="1">
                <a:solidFill>
                  <a:srgbClr val="F26D82"/>
                </a:solidFill>
                <a:latin typeface="Aptos Mono"/>
                <a:ea typeface="Aptos Mono"/>
                <a:cs typeface="Aptos Mono"/>
              </a:rPr>
              <a:t>Avoid</a:t>
            </a:r>
          </a:p>
        </p:txBody>
      </p:sp>
      <p:sp>
        <p:nvSpPr>
          <p:cNvPr id="20" name="Rectangle 19">
            <a:extLst>
              <a:ext uri="{FF2B5EF4-FFF2-40B4-BE49-F238E27FC236}">
                <a16:creationId xmlns:a16="http://schemas.microsoft.com/office/drawing/2014/main" id="{F8B338D7-5161-4C64-A9E3-10899CDB201E}"/>
              </a:ext>
            </a:extLst>
          </p:cNvPr>
          <p:cNvSpPr>
            <a:spLocks noGrp="1"/>
          </p:cNvSpPr>
          <p:nvPr/>
        </p:nvSpPr>
        <p:spPr>
          <a:xfrm>
            <a:off x="7553325" y="3810000"/>
            <a:ext cx="38481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6B1CE"/>
                </a:solidFill>
                <a:latin typeface="Aptos"/>
                <a:ea typeface="Aptos"/>
                <a:cs typeface="Aptos"/>
              </a:defRPr>
            </a:pPr>
            <a:r>
              <a:rPr sz="975" b="0">
                <a:solidFill>
                  <a:srgbClr val="B6B1CE"/>
                </a:solidFill>
                <a:latin typeface="Aptos"/>
                <a:ea typeface="Aptos"/>
                <a:cs typeface="Aptos"/>
              </a:rPr>
              <a:t>Claims of guaranteed lift or biometric proof.</a:t>
            </a:r>
          </a:p>
        </p:txBody>
      </p:sp>
      <p:sp>
        <p:nvSpPr>
          <p:cNvPr id="21" name="Rectangle 20">
            <a:extLst>
              <a:ext uri="{FF2B5EF4-FFF2-40B4-BE49-F238E27FC236}">
                <a16:creationId xmlns:a16="http://schemas.microsoft.com/office/drawing/2014/main" id="{69CF5EC1-A3B9-4839-A8BE-5CD8763ABB35}"/>
              </a:ext>
            </a:extLst>
          </p:cNvPr>
          <p:cNvSpPr>
            <a:spLocks noGrp="1"/>
          </p:cNvSpPr>
          <p:nvPr/>
        </p:nvSpPr>
        <p:spPr>
          <a:xfrm>
            <a:off x="552450" y="6286500"/>
            <a:ext cx="8096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7728F"/>
                </a:solidFill>
                <a:latin typeface="Aptos Mono"/>
                <a:ea typeface="Aptos Mono"/>
                <a:cs typeface="Aptos Mono"/>
              </a:defRPr>
            </a:pPr>
            <a:r>
              <a:rPr sz="750" b="0">
                <a:solidFill>
                  <a:srgbClr val="77728F"/>
                </a:solidFill>
                <a:latin typeface="Aptos Mono"/>
                <a:ea typeface="Aptos Mono"/>
                <a:cs typeface="Aptos Mono"/>
              </a:rPr>
              <a:t>AdCritIQ Methodology Evidence Deck  ·  AdCritIQ™  ·  Just the signal before the spend.</a:t>
            </a:r>
          </a:p>
        </p:txBody>
      </p:sp>
      <p:sp>
        <p:nvSpPr>
          <p:cNvPr id="22" name="Rectangle 21">
            <a:extLst>
              <a:ext uri="{FF2B5EF4-FFF2-40B4-BE49-F238E27FC236}">
                <a16:creationId xmlns:a16="http://schemas.microsoft.com/office/drawing/2014/main" id="{225FF24D-8CED-4013-ADFF-A6615095406B}"/>
              </a:ext>
            </a:extLst>
          </p:cNvPr>
          <p:cNvSpPr>
            <a:spLocks noGrp="1"/>
          </p:cNvSpPr>
          <p:nvPr/>
        </p:nvSpPr>
        <p:spPr>
          <a:xfrm>
            <a:off x="11144250" y="6257925"/>
            <a:ext cx="476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0">
                <a:solidFill>
                  <a:srgbClr val="D7B762"/>
                </a:solidFill>
                <a:latin typeface="Aptos Mono"/>
                <a:ea typeface="Aptos Mono"/>
                <a:cs typeface="Aptos Mono"/>
              </a:defRPr>
            </a:pPr>
            <a:r>
              <a:rPr sz="825" b="0">
                <a:solidFill>
                  <a:srgbClr val="D7B762"/>
                </a:solidFill>
                <a:latin typeface="Aptos Mono"/>
                <a:ea typeface="Aptos Mono"/>
                <a:cs typeface="Aptos Mono"/>
              </a:rPr>
              <a:t>10</a:t>
            </a:r>
          </a:p>
        </p:txBody>
      </p:sp>
    </p:spTree>
    <p:extLst>
      <p:ext uri="{BB962C8B-B14F-4D97-AF65-F5344CB8AC3E}">
        <p14:creationId xmlns:p14="http://schemas.microsoft.com/office/powerpoint/2010/main" val="1001501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9E6AC4DB-FE3A-4F1D-94D1-5D614CBF1CFF}"/>
              </a:ext>
            </a:extLst>
          </p:cNvPr>
          <p:cNvSpPr>
            <a:spLocks noGrp="1"/>
          </p:cNvSpPr>
          <p:nvPr/>
        </p:nvSpPr>
        <p:spPr>
          <a:xfrm>
            <a:off x="0" y="0"/>
            <a:ext cx="12192000" cy="6858000"/>
          </a:xfrm>
          <a:prstGeom prst="rect">
            <a:avLst/>
          </a:prstGeom>
          <a:solidFill>
            <a:srgbClr val="07070D"/>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05BA81D1-45C8-4227-AB4E-5A2B0E9FC717}"/>
              </a:ext>
            </a:extLst>
          </p:cNvPr>
          <p:cNvSpPr>
            <a:spLocks noGrp="1"/>
          </p:cNvSpPr>
          <p:nvPr/>
        </p:nvSpPr>
        <p:spPr>
          <a:xfrm>
            <a:off x="0" y="0"/>
            <a:ext cx="12192000" cy="6858000"/>
          </a:xfrm>
          <a:prstGeom prst="rect">
            <a:avLst/>
          </a:prstGeom>
          <a:gradFill>
            <a:gsLst>
              <a:gs pos="0">
                <a:srgbClr val="07070D"/>
              </a:gs>
              <a:gs pos="55000">
                <a:srgbClr val="11111A"/>
              </a:gs>
              <a:gs pos="100000">
                <a:srgbClr val="050509"/>
              </a:gs>
            </a:gsLst>
            <a:lin ang="8100000"/>
          </a:gradFill>
          <a:ln w="0">
            <a:solidFill>
              <a:srgbClr val="000000">
                <a:alpha val="0"/>
              </a:srgbClr>
            </a:solidFill>
            <a:prstDash val="solid"/>
          </a:ln>
        </p:spPr>
        <p:txBody>
          <a:bodyPr/>
          <a:lstStyle/>
          <a:p>
            <a:endParaRPr lang="en-US"/>
          </a:p>
        </p:txBody>
      </p:sp>
      <p:sp>
        <p:nvSpPr>
          <p:cNvPr id="3" name="Oval 2">
            <a:extLst>
              <a:ext uri="{FF2B5EF4-FFF2-40B4-BE49-F238E27FC236}">
                <a16:creationId xmlns:a16="http://schemas.microsoft.com/office/drawing/2014/main" id="{0897C3BE-86F0-49CF-B5EF-78194C07FE80}"/>
              </a:ext>
            </a:extLst>
          </p:cNvPr>
          <p:cNvSpPr>
            <a:spLocks noGrp="1"/>
          </p:cNvSpPr>
          <p:nvPr/>
        </p:nvSpPr>
        <p:spPr>
          <a:xfrm>
            <a:off x="-1143000" y="-1714500"/>
            <a:ext cx="4953000" cy="4953000"/>
          </a:xfrm>
          <a:prstGeom prst="ellipse">
            <a:avLst/>
          </a:prstGeom>
          <a:solidFill>
            <a:srgbClr val="D7B762">
              <a:alpha val="8627"/>
            </a:srgbClr>
          </a:solidFill>
          <a:ln w="0">
            <a:solidFill>
              <a:srgbClr val="000000">
                <a:alpha val="0"/>
              </a:srgbClr>
            </a:solidFill>
            <a:prstDash val="solid"/>
          </a:ln>
        </p:spPr>
        <p:txBody>
          <a:bodyPr/>
          <a:lstStyle/>
          <a:p>
            <a:endParaRPr lang="en-US"/>
          </a:p>
        </p:txBody>
      </p:sp>
      <p:sp>
        <p:nvSpPr>
          <p:cNvPr id="4" name="Oval 3">
            <a:extLst>
              <a:ext uri="{FF2B5EF4-FFF2-40B4-BE49-F238E27FC236}">
                <a16:creationId xmlns:a16="http://schemas.microsoft.com/office/drawing/2014/main" id="{62F2A9D0-27AB-4FA9-A9C8-B002AF1D642E}"/>
              </a:ext>
            </a:extLst>
          </p:cNvPr>
          <p:cNvSpPr>
            <a:spLocks noGrp="1"/>
          </p:cNvSpPr>
          <p:nvPr/>
        </p:nvSpPr>
        <p:spPr>
          <a:xfrm>
            <a:off x="8763000" y="4762500"/>
            <a:ext cx="4762500" cy="4762500"/>
          </a:xfrm>
          <a:prstGeom prst="ellipse">
            <a:avLst/>
          </a:prstGeom>
          <a:solidFill>
            <a:srgbClr val="23C7D9">
              <a:alpha val="7059"/>
            </a:srgbClr>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8EACDE1D-B7B1-406E-864A-784936AFA96D}"/>
              </a:ext>
            </a:extLst>
          </p:cNvPr>
          <p:cNvSpPr>
            <a:spLocks noGrp="1"/>
          </p:cNvSpPr>
          <p:nvPr/>
        </p:nvSpPr>
        <p:spPr>
          <a:xfrm>
            <a:off x="552450" y="6096000"/>
            <a:ext cx="11087100" cy="9525"/>
          </a:xfrm>
          <a:prstGeom prst="rect">
            <a:avLst/>
          </a:prstGeom>
          <a:solidFill>
            <a:srgbClr val="D7B762">
              <a:alpha val="33333"/>
            </a:srgbClr>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BE4386CF-45E8-4C8D-8255-F11126BD4C9D}"/>
              </a:ext>
            </a:extLst>
          </p:cNvPr>
          <p:cNvSpPr>
            <a:spLocks noGrp="1"/>
          </p:cNvSpPr>
          <p:nvPr/>
        </p:nvSpPr>
        <p:spPr>
          <a:xfrm>
            <a:off x="666750" y="876300"/>
            <a:ext cx="723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D7B762"/>
                </a:solidFill>
                <a:latin typeface="Aptos Mono"/>
                <a:ea typeface="Aptos Mono"/>
                <a:cs typeface="Aptos Mono"/>
              </a:defRPr>
            </a:pPr>
            <a:r>
              <a:rPr sz="975" b="1">
                <a:solidFill>
                  <a:srgbClr val="D7B762"/>
                </a:solidFill>
                <a:latin typeface="Aptos Mono"/>
                <a:ea typeface="Aptos Mono"/>
                <a:cs typeface="Aptos Mono"/>
              </a:rPr>
              <a:t>VALIDATION ROADMAP</a:t>
            </a:r>
          </a:p>
        </p:txBody>
      </p:sp>
      <p:sp>
        <p:nvSpPr>
          <p:cNvPr id="7" name="Rectangle 6">
            <a:extLst>
              <a:ext uri="{FF2B5EF4-FFF2-40B4-BE49-F238E27FC236}">
                <a16:creationId xmlns:a16="http://schemas.microsoft.com/office/drawing/2014/main" id="{E3B72743-E97D-4A61-AFC9-ADDE53255E49}"/>
              </a:ext>
            </a:extLst>
          </p:cNvPr>
          <p:cNvSpPr>
            <a:spLocks noGrp="1"/>
          </p:cNvSpPr>
          <p:nvPr/>
        </p:nvSpPr>
        <p:spPr>
          <a:xfrm>
            <a:off x="666750" y="1181100"/>
            <a:ext cx="6572250" cy="1809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850" b="1">
                <a:solidFill>
                  <a:srgbClr val="F6F2E8"/>
                </a:solidFill>
                <a:latin typeface="Aptos Display"/>
                <a:ea typeface="Aptos Display"/>
                <a:cs typeface="Aptos Display"/>
              </a:defRPr>
            </a:pPr>
            <a:r>
              <a:rPr sz="2850" b="1">
                <a:solidFill>
                  <a:srgbClr val="F6F2E8"/>
                </a:solidFill>
                <a:latin typeface="Aptos Display"/>
                <a:ea typeface="Aptos Display"/>
                <a:cs typeface="Aptos Display"/>
              </a:rPr>
              <a:t>The strongest proof will come from correlation with real campaign outcomes.</a:t>
            </a:r>
          </a:p>
        </p:txBody>
      </p:sp>
      <p:sp>
        <p:nvSpPr>
          <p:cNvPr id="8" name="Rectangle 7">
            <a:extLst>
              <a:ext uri="{FF2B5EF4-FFF2-40B4-BE49-F238E27FC236}">
                <a16:creationId xmlns:a16="http://schemas.microsoft.com/office/drawing/2014/main" id="{A6B45B02-3624-4556-8CED-4BC56EC16FFD}"/>
              </a:ext>
            </a:extLst>
          </p:cNvPr>
          <p:cNvSpPr>
            <a:spLocks noGrp="1"/>
          </p:cNvSpPr>
          <p:nvPr/>
        </p:nvSpPr>
        <p:spPr>
          <a:xfrm>
            <a:off x="666750" y="3095625"/>
            <a:ext cx="6191250" cy="1028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B6B1CE"/>
                </a:solidFill>
                <a:latin typeface="Aptos"/>
                <a:ea typeface="Aptos"/>
                <a:cs typeface="Aptos"/>
              </a:defRPr>
            </a:pPr>
            <a:r>
              <a:rPr sz="1575" b="0">
                <a:solidFill>
                  <a:srgbClr val="B6B1CE"/>
                </a:solidFill>
                <a:latin typeface="Aptos"/>
                <a:ea typeface="Aptos"/>
                <a:cs typeface="Aptos"/>
              </a:rPr>
              <a:t>AdCritIQ should build a validation dataset over time: predicted scores versus VTR, CTR, completion, brand lift, consideration lift, purchase intent and sales proxy where clients provide data.</a:t>
            </a:r>
          </a:p>
        </p:txBody>
      </p:sp>
      <p:sp>
        <p:nvSpPr>
          <p:cNvPr id="9" name="Rectangle 8">
            <a:extLst>
              <a:ext uri="{FF2B5EF4-FFF2-40B4-BE49-F238E27FC236}">
                <a16:creationId xmlns:a16="http://schemas.microsoft.com/office/drawing/2014/main" id="{90DF3418-1935-4DE2-A4E6-E3DBC537AA27}"/>
              </a:ext>
            </a:extLst>
          </p:cNvPr>
          <p:cNvSpPr>
            <a:spLocks noGrp="1"/>
          </p:cNvSpPr>
          <p:nvPr/>
        </p:nvSpPr>
        <p:spPr>
          <a:xfrm>
            <a:off x="7239000" y="1257300"/>
            <a:ext cx="3905250" cy="514350"/>
          </a:xfrm>
          <a:prstGeom prst="rect">
            <a:avLst/>
          </a:prstGeom>
          <a:solidFill>
            <a:srgbClr val="D7B762">
              <a:alpha val="12157"/>
            </a:srgbClr>
          </a:solidFill>
          <a:ln w="9525">
            <a:solidFill>
              <a:srgbClr val="FFFFFF">
                <a:alpha val="9412"/>
              </a:srgbClr>
            </a:solidFill>
            <a:prstDash val="solid"/>
          </a:ln>
        </p:spPr>
        <p:txBody>
          <a:bodyPr/>
          <a:lstStyle/>
          <a:p>
            <a:endParaRPr lang="en-US"/>
          </a:p>
        </p:txBody>
      </p:sp>
      <p:sp>
        <p:nvSpPr>
          <p:cNvPr id="10" name="Rectangle 9">
            <a:extLst>
              <a:ext uri="{FF2B5EF4-FFF2-40B4-BE49-F238E27FC236}">
                <a16:creationId xmlns:a16="http://schemas.microsoft.com/office/drawing/2014/main" id="{83F6DFA7-2A73-486D-BB49-002B5D4DA3B3}"/>
              </a:ext>
            </a:extLst>
          </p:cNvPr>
          <p:cNvSpPr>
            <a:spLocks noGrp="1"/>
          </p:cNvSpPr>
          <p:nvPr/>
        </p:nvSpPr>
        <p:spPr>
          <a:xfrm>
            <a:off x="7410450" y="1400175"/>
            <a:ext cx="35623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6F2E8"/>
                </a:solidFill>
                <a:latin typeface="Aptos"/>
                <a:ea typeface="Aptos"/>
                <a:cs typeface="Aptos"/>
              </a:defRPr>
            </a:pPr>
            <a:r>
              <a:rPr sz="1125" b="1">
                <a:solidFill>
                  <a:srgbClr val="F6F2E8"/>
                </a:solidFill>
                <a:latin typeface="Aptos"/>
                <a:ea typeface="Aptos"/>
                <a:cs typeface="Aptos"/>
              </a:rPr>
              <a:t>Predict</a:t>
            </a:r>
          </a:p>
        </p:txBody>
      </p:sp>
      <p:sp>
        <p:nvSpPr>
          <p:cNvPr id="11" name="Rectangle 10">
            <a:extLst>
              <a:ext uri="{FF2B5EF4-FFF2-40B4-BE49-F238E27FC236}">
                <a16:creationId xmlns:a16="http://schemas.microsoft.com/office/drawing/2014/main" id="{AEF099A5-E974-4E52-9F81-953FE079C996}"/>
              </a:ext>
            </a:extLst>
          </p:cNvPr>
          <p:cNvSpPr>
            <a:spLocks noGrp="1"/>
          </p:cNvSpPr>
          <p:nvPr/>
        </p:nvSpPr>
        <p:spPr>
          <a:xfrm>
            <a:off x="7439025" y="1962150"/>
            <a:ext cx="3505200" cy="514350"/>
          </a:xfrm>
          <a:prstGeom prst="rect">
            <a:avLst/>
          </a:prstGeom>
          <a:solidFill>
            <a:srgbClr val="23C7D9">
              <a:alpha val="10196"/>
            </a:srgbClr>
          </a:solidFill>
          <a:ln w="9525">
            <a:solidFill>
              <a:srgbClr val="FFFFFF">
                <a:alpha val="9412"/>
              </a:srgbClr>
            </a:solidFill>
            <a:prstDash val="solid"/>
          </a:ln>
        </p:spPr>
        <p:txBody>
          <a:bodyPr/>
          <a:lstStyle/>
          <a:p>
            <a:endParaRPr lang="en-US"/>
          </a:p>
        </p:txBody>
      </p:sp>
      <p:sp>
        <p:nvSpPr>
          <p:cNvPr id="12" name="Rectangle 11">
            <a:extLst>
              <a:ext uri="{FF2B5EF4-FFF2-40B4-BE49-F238E27FC236}">
                <a16:creationId xmlns:a16="http://schemas.microsoft.com/office/drawing/2014/main" id="{ACE317AE-5E85-4651-9635-A8EADAFEDD6F}"/>
              </a:ext>
            </a:extLst>
          </p:cNvPr>
          <p:cNvSpPr>
            <a:spLocks noGrp="1"/>
          </p:cNvSpPr>
          <p:nvPr/>
        </p:nvSpPr>
        <p:spPr>
          <a:xfrm>
            <a:off x="7610475" y="2105025"/>
            <a:ext cx="31623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6F2E8"/>
                </a:solidFill>
                <a:latin typeface="Aptos"/>
                <a:ea typeface="Aptos"/>
                <a:cs typeface="Aptos"/>
              </a:defRPr>
            </a:pPr>
            <a:r>
              <a:rPr sz="1125" b="1">
                <a:solidFill>
                  <a:srgbClr val="F6F2E8"/>
                </a:solidFill>
                <a:latin typeface="Aptos"/>
                <a:ea typeface="Aptos"/>
                <a:cs typeface="Aptos"/>
              </a:rPr>
              <a:t>Launch</a:t>
            </a:r>
          </a:p>
        </p:txBody>
      </p:sp>
      <p:sp>
        <p:nvSpPr>
          <p:cNvPr id="13" name="Rectangle 12">
            <a:extLst>
              <a:ext uri="{FF2B5EF4-FFF2-40B4-BE49-F238E27FC236}">
                <a16:creationId xmlns:a16="http://schemas.microsoft.com/office/drawing/2014/main" id="{EC924AAD-6475-4351-A224-0DB5316790B9}"/>
              </a:ext>
            </a:extLst>
          </p:cNvPr>
          <p:cNvSpPr>
            <a:spLocks noGrp="1"/>
          </p:cNvSpPr>
          <p:nvPr/>
        </p:nvSpPr>
        <p:spPr>
          <a:xfrm>
            <a:off x="7639050" y="2667000"/>
            <a:ext cx="3105150" cy="514350"/>
          </a:xfrm>
          <a:prstGeom prst="rect">
            <a:avLst/>
          </a:prstGeom>
          <a:solidFill>
            <a:srgbClr val="63D394">
              <a:alpha val="10196"/>
            </a:srgbClr>
          </a:solidFill>
          <a:ln w="9525">
            <a:solidFill>
              <a:srgbClr val="FFFFFF">
                <a:alpha val="9412"/>
              </a:srgbClr>
            </a:solidFill>
            <a:prstDash val="solid"/>
          </a:ln>
        </p:spPr>
        <p:txBody>
          <a:bodyPr/>
          <a:lstStyle/>
          <a:p>
            <a:endParaRPr lang="en-US"/>
          </a:p>
        </p:txBody>
      </p:sp>
      <p:sp>
        <p:nvSpPr>
          <p:cNvPr id="14" name="Rectangle 13">
            <a:extLst>
              <a:ext uri="{FF2B5EF4-FFF2-40B4-BE49-F238E27FC236}">
                <a16:creationId xmlns:a16="http://schemas.microsoft.com/office/drawing/2014/main" id="{56E1DA62-A7B6-4556-81D6-861C6681B22B}"/>
              </a:ext>
            </a:extLst>
          </p:cNvPr>
          <p:cNvSpPr>
            <a:spLocks noGrp="1"/>
          </p:cNvSpPr>
          <p:nvPr/>
        </p:nvSpPr>
        <p:spPr>
          <a:xfrm>
            <a:off x="7810500" y="2809875"/>
            <a:ext cx="2762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6F2E8"/>
                </a:solidFill>
                <a:latin typeface="Aptos"/>
                <a:ea typeface="Aptos"/>
                <a:cs typeface="Aptos"/>
              </a:defRPr>
            </a:pPr>
            <a:r>
              <a:rPr sz="1125" b="1">
                <a:solidFill>
                  <a:srgbClr val="F6F2E8"/>
                </a:solidFill>
                <a:latin typeface="Aptos"/>
                <a:ea typeface="Aptos"/>
                <a:cs typeface="Aptos"/>
              </a:rPr>
              <a:t>Collect KPIs</a:t>
            </a:r>
          </a:p>
        </p:txBody>
      </p:sp>
      <p:sp>
        <p:nvSpPr>
          <p:cNvPr id="15" name="Rectangle 14">
            <a:extLst>
              <a:ext uri="{FF2B5EF4-FFF2-40B4-BE49-F238E27FC236}">
                <a16:creationId xmlns:a16="http://schemas.microsoft.com/office/drawing/2014/main" id="{4BDA7533-0FA4-4886-8357-CF6E82EE965E}"/>
              </a:ext>
            </a:extLst>
          </p:cNvPr>
          <p:cNvSpPr>
            <a:spLocks noGrp="1"/>
          </p:cNvSpPr>
          <p:nvPr/>
        </p:nvSpPr>
        <p:spPr>
          <a:xfrm>
            <a:off x="7839075" y="3371850"/>
            <a:ext cx="2705100" cy="514350"/>
          </a:xfrm>
          <a:prstGeom prst="rect">
            <a:avLst/>
          </a:prstGeom>
          <a:solidFill>
            <a:srgbClr val="A78BFA">
              <a:alpha val="10196"/>
            </a:srgbClr>
          </a:solidFill>
          <a:ln w="9525">
            <a:solidFill>
              <a:srgbClr val="FFFFFF">
                <a:alpha val="9412"/>
              </a:srgbClr>
            </a:solidFill>
            <a:prstDash val="solid"/>
          </a:ln>
        </p:spPr>
        <p:txBody>
          <a:bodyPr/>
          <a:lstStyle/>
          <a:p>
            <a:endParaRPr lang="en-US"/>
          </a:p>
        </p:txBody>
      </p:sp>
      <p:sp>
        <p:nvSpPr>
          <p:cNvPr id="16" name="Rectangle 15">
            <a:extLst>
              <a:ext uri="{FF2B5EF4-FFF2-40B4-BE49-F238E27FC236}">
                <a16:creationId xmlns:a16="http://schemas.microsoft.com/office/drawing/2014/main" id="{F6BB553E-B6DB-4922-B646-28312D89CBE2}"/>
              </a:ext>
            </a:extLst>
          </p:cNvPr>
          <p:cNvSpPr>
            <a:spLocks noGrp="1"/>
          </p:cNvSpPr>
          <p:nvPr/>
        </p:nvSpPr>
        <p:spPr>
          <a:xfrm>
            <a:off x="8010525" y="3514725"/>
            <a:ext cx="2362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6F2E8"/>
                </a:solidFill>
                <a:latin typeface="Aptos"/>
                <a:ea typeface="Aptos"/>
                <a:cs typeface="Aptos"/>
              </a:defRPr>
            </a:pPr>
            <a:r>
              <a:rPr sz="1125" b="1">
                <a:solidFill>
                  <a:srgbClr val="F6F2E8"/>
                </a:solidFill>
                <a:latin typeface="Aptos"/>
                <a:ea typeface="Aptos"/>
                <a:cs typeface="Aptos"/>
              </a:rPr>
              <a:t>Compare</a:t>
            </a:r>
          </a:p>
        </p:txBody>
      </p:sp>
      <p:sp>
        <p:nvSpPr>
          <p:cNvPr id="17" name="Rectangle 16">
            <a:extLst>
              <a:ext uri="{FF2B5EF4-FFF2-40B4-BE49-F238E27FC236}">
                <a16:creationId xmlns:a16="http://schemas.microsoft.com/office/drawing/2014/main" id="{F7E4E798-01DE-4530-BACC-C2BE3F47520E}"/>
              </a:ext>
            </a:extLst>
          </p:cNvPr>
          <p:cNvSpPr>
            <a:spLocks noGrp="1"/>
          </p:cNvSpPr>
          <p:nvPr/>
        </p:nvSpPr>
        <p:spPr>
          <a:xfrm>
            <a:off x="8039100" y="4076700"/>
            <a:ext cx="2305050" cy="514350"/>
          </a:xfrm>
          <a:prstGeom prst="rect">
            <a:avLst/>
          </a:prstGeom>
          <a:solidFill>
            <a:srgbClr val="F26D82">
              <a:alpha val="9412"/>
            </a:srgbClr>
          </a:solidFill>
          <a:ln w="9525">
            <a:solidFill>
              <a:srgbClr val="FFFFFF">
                <a:alpha val="9412"/>
              </a:srgbClr>
            </a:solidFill>
            <a:prstDash val="solid"/>
          </a:ln>
        </p:spPr>
        <p:txBody>
          <a:bodyPr/>
          <a:lstStyle/>
          <a:p>
            <a:endParaRPr lang="en-US"/>
          </a:p>
        </p:txBody>
      </p:sp>
      <p:sp>
        <p:nvSpPr>
          <p:cNvPr id="18" name="Rectangle 17">
            <a:extLst>
              <a:ext uri="{FF2B5EF4-FFF2-40B4-BE49-F238E27FC236}">
                <a16:creationId xmlns:a16="http://schemas.microsoft.com/office/drawing/2014/main" id="{B85FD1B6-785F-4CC6-A9E5-8AC6F8DEAD4C}"/>
              </a:ext>
            </a:extLst>
          </p:cNvPr>
          <p:cNvSpPr>
            <a:spLocks noGrp="1"/>
          </p:cNvSpPr>
          <p:nvPr/>
        </p:nvSpPr>
        <p:spPr>
          <a:xfrm>
            <a:off x="8210550" y="4219575"/>
            <a:ext cx="19621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6F2E8"/>
                </a:solidFill>
                <a:latin typeface="Aptos"/>
                <a:ea typeface="Aptos"/>
                <a:cs typeface="Aptos"/>
              </a:defRPr>
            </a:pPr>
            <a:r>
              <a:rPr sz="1125" b="1">
                <a:solidFill>
                  <a:srgbClr val="F6F2E8"/>
                </a:solidFill>
                <a:latin typeface="Aptos"/>
                <a:ea typeface="Aptos"/>
                <a:cs typeface="Aptos"/>
              </a:rPr>
              <a:t>Calibrate</a:t>
            </a:r>
          </a:p>
        </p:txBody>
      </p:sp>
      <p:sp>
        <p:nvSpPr>
          <p:cNvPr id="19" name="Rectangle 18">
            <a:extLst>
              <a:ext uri="{FF2B5EF4-FFF2-40B4-BE49-F238E27FC236}">
                <a16:creationId xmlns:a16="http://schemas.microsoft.com/office/drawing/2014/main" id="{22F31CE6-9719-40D0-B039-CEAC723D2205}"/>
              </a:ext>
            </a:extLst>
          </p:cNvPr>
          <p:cNvSpPr>
            <a:spLocks noGrp="1"/>
          </p:cNvSpPr>
          <p:nvPr/>
        </p:nvSpPr>
        <p:spPr>
          <a:xfrm>
            <a:off x="552450" y="6286500"/>
            <a:ext cx="8096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7728F"/>
                </a:solidFill>
                <a:latin typeface="Aptos Mono"/>
                <a:ea typeface="Aptos Mono"/>
                <a:cs typeface="Aptos Mono"/>
              </a:defRPr>
            </a:pPr>
            <a:r>
              <a:rPr sz="750" b="0">
                <a:solidFill>
                  <a:srgbClr val="77728F"/>
                </a:solidFill>
                <a:latin typeface="Aptos Mono"/>
                <a:ea typeface="Aptos Mono"/>
                <a:cs typeface="Aptos Mono"/>
              </a:rPr>
              <a:t>AdCritIQ Methodology Evidence Deck  ·  AdCritIQ™  ·  Just the signal before the spend.</a:t>
            </a:r>
          </a:p>
        </p:txBody>
      </p:sp>
      <p:sp>
        <p:nvSpPr>
          <p:cNvPr id="20" name="Rectangle 19">
            <a:extLst>
              <a:ext uri="{FF2B5EF4-FFF2-40B4-BE49-F238E27FC236}">
                <a16:creationId xmlns:a16="http://schemas.microsoft.com/office/drawing/2014/main" id="{3EF0D7CD-1F90-4469-9F6A-F703799545A9}"/>
              </a:ext>
            </a:extLst>
          </p:cNvPr>
          <p:cNvSpPr>
            <a:spLocks noGrp="1"/>
          </p:cNvSpPr>
          <p:nvPr/>
        </p:nvSpPr>
        <p:spPr>
          <a:xfrm>
            <a:off x="11144250" y="6257925"/>
            <a:ext cx="476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0">
                <a:solidFill>
                  <a:srgbClr val="D7B762"/>
                </a:solidFill>
                <a:latin typeface="Aptos Mono"/>
                <a:ea typeface="Aptos Mono"/>
                <a:cs typeface="Aptos Mono"/>
              </a:defRPr>
            </a:pPr>
            <a:r>
              <a:rPr sz="825" b="0">
                <a:solidFill>
                  <a:srgbClr val="D7B762"/>
                </a:solidFill>
                <a:latin typeface="Aptos Mono"/>
                <a:ea typeface="Aptos Mono"/>
                <a:cs typeface="Aptos Mono"/>
              </a:rPr>
              <a:t>11</a:t>
            </a:r>
          </a:p>
        </p:txBody>
      </p:sp>
    </p:spTree>
    <p:extLst>
      <p:ext uri="{BB962C8B-B14F-4D97-AF65-F5344CB8AC3E}">
        <p14:creationId xmlns:p14="http://schemas.microsoft.com/office/powerpoint/2010/main" val="920037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A5360F8D-AA5F-4A37-B575-4A13B7247B8A}"/>
              </a:ext>
            </a:extLst>
          </p:cNvPr>
          <p:cNvSpPr>
            <a:spLocks noGrp="1"/>
          </p:cNvSpPr>
          <p:nvPr/>
        </p:nvSpPr>
        <p:spPr>
          <a:xfrm>
            <a:off x="0" y="0"/>
            <a:ext cx="12192000" cy="6858000"/>
          </a:xfrm>
          <a:prstGeom prst="rect">
            <a:avLst/>
          </a:prstGeom>
          <a:solidFill>
            <a:srgbClr val="07070D"/>
          </a:solidFill>
          <a:ln w="0">
            <a:solidFill>
              <a:srgbClr val="000000">
                <a:alpha val="0"/>
              </a:srgbClr>
            </a:solidFill>
            <a:prstDash val="solid"/>
          </a:ln>
        </p:spPr>
        <p:txBody>
          <a:bodyPr/>
          <a:lstStyle/>
          <a:p>
            <a:endParaRPr lang="en-US"/>
          </a:p>
        </p:txBody>
      </p:sp>
      <p:sp>
        <p:nvSpPr>
          <p:cNvPr id="2" name="Rectangle 1">
            <a:extLst>
              <a:ext uri="{FF2B5EF4-FFF2-40B4-BE49-F238E27FC236}">
                <a16:creationId xmlns:a16="http://schemas.microsoft.com/office/drawing/2014/main" id="{696D4532-CC66-4CD6-839C-B899F8350B3D}"/>
              </a:ext>
            </a:extLst>
          </p:cNvPr>
          <p:cNvSpPr>
            <a:spLocks noGrp="1"/>
          </p:cNvSpPr>
          <p:nvPr/>
        </p:nvSpPr>
        <p:spPr>
          <a:xfrm>
            <a:off x="0" y="0"/>
            <a:ext cx="12192000" cy="6858000"/>
          </a:xfrm>
          <a:prstGeom prst="rect">
            <a:avLst/>
          </a:prstGeom>
          <a:gradFill>
            <a:gsLst>
              <a:gs pos="0">
                <a:srgbClr val="07070D"/>
              </a:gs>
              <a:gs pos="55000">
                <a:srgbClr val="11111A"/>
              </a:gs>
              <a:gs pos="100000">
                <a:srgbClr val="050509"/>
              </a:gs>
            </a:gsLst>
            <a:lin ang="8100000"/>
          </a:gradFill>
          <a:ln w="0">
            <a:solidFill>
              <a:srgbClr val="000000">
                <a:alpha val="0"/>
              </a:srgbClr>
            </a:solidFill>
            <a:prstDash val="solid"/>
          </a:ln>
        </p:spPr>
        <p:txBody>
          <a:bodyPr/>
          <a:lstStyle/>
          <a:p>
            <a:endParaRPr lang="en-US"/>
          </a:p>
        </p:txBody>
      </p:sp>
      <p:sp>
        <p:nvSpPr>
          <p:cNvPr id="3" name="Oval 2">
            <a:extLst>
              <a:ext uri="{FF2B5EF4-FFF2-40B4-BE49-F238E27FC236}">
                <a16:creationId xmlns:a16="http://schemas.microsoft.com/office/drawing/2014/main" id="{39DD76C9-8733-482F-BAA9-ECDB14CFCEE4}"/>
              </a:ext>
            </a:extLst>
          </p:cNvPr>
          <p:cNvSpPr>
            <a:spLocks noGrp="1"/>
          </p:cNvSpPr>
          <p:nvPr/>
        </p:nvSpPr>
        <p:spPr>
          <a:xfrm>
            <a:off x="-1143000" y="-1714500"/>
            <a:ext cx="4953000" cy="4953000"/>
          </a:xfrm>
          <a:prstGeom prst="ellipse">
            <a:avLst/>
          </a:prstGeom>
          <a:solidFill>
            <a:srgbClr val="D7B762">
              <a:alpha val="8627"/>
            </a:srgbClr>
          </a:solidFill>
          <a:ln w="0">
            <a:solidFill>
              <a:srgbClr val="000000">
                <a:alpha val="0"/>
              </a:srgbClr>
            </a:solidFill>
            <a:prstDash val="solid"/>
          </a:ln>
        </p:spPr>
        <p:txBody>
          <a:bodyPr/>
          <a:lstStyle/>
          <a:p>
            <a:endParaRPr lang="en-US"/>
          </a:p>
        </p:txBody>
      </p:sp>
      <p:sp>
        <p:nvSpPr>
          <p:cNvPr id="4" name="Oval 3">
            <a:extLst>
              <a:ext uri="{FF2B5EF4-FFF2-40B4-BE49-F238E27FC236}">
                <a16:creationId xmlns:a16="http://schemas.microsoft.com/office/drawing/2014/main" id="{BF7BCADE-2B3D-41A2-ACA5-5CFBA96FC212}"/>
              </a:ext>
            </a:extLst>
          </p:cNvPr>
          <p:cNvSpPr>
            <a:spLocks noGrp="1"/>
          </p:cNvSpPr>
          <p:nvPr/>
        </p:nvSpPr>
        <p:spPr>
          <a:xfrm>
            <a:off x="8763000" y="4762500"/>
            <a:ext cx="4762500" cy="4762500"/>
          </a:xfrm>
          <a:prstGeom prst="ellipse">
            <a:avLst/>
          </a:prstGeom>
          <a:solidFill>
            <a:srgbClr val="23C7D9">
              <a:alpha val="7059"/>
            </a:srgbClr>
          </a:solidFill>
          <a:ln w="0">
            <a:solidFill>
              <a:srgbClr val="000000">
                <a:alpha val="0"/>
              </a:srgbClr>
            </a:solidFill>
            <a:prstDash val="solid"/>
          </a:ln>
        </p:spPr>
        <p:txBody>
          <a:bodyPr/>
          <a:lstStyle/>
          <a:p>
            <a:endParaRPr lang="en-US"/>
          </a:p>
        </p:txBody>
      </p:sp>
      <p:sp>
        <p:nvSpPr>
          <p:cNvPr id="5" name="Rectangle 4">
            <a:extLst>
              <a:ext uri="{FF2B5EF4-FFF2-40B4-BE49-F238E27FC236}">
                <a16:creationId xmlns:a16="http://schemas.microsoft.com/office/drawing/2014/main" id="{E5489260-1F1B-44E4-9D1B-549658E910D6}"/>
              </a:ext>
            </a:extLst>
          </p:cNvPr>
          <p:cNvSpPr>
            <a:spLocks noGrp="1"/>
          </p:cNvSpPr>
          <p:nvPr/>
        </p:nvSpPr>
        <p:spPr>
          <a:xfrm>
            <a:off x="552450" y="6096000"/>
            <a:ext cx="11087100" cy="9525"/>
          </a:xfrm>
          <a:prstGeom prst="rect">
            <a:avLst/>
          </a:prstGeom>
          <a:solidFill>
            <a:srgbClr val="D7B762">
              <a:alpha val="33333"/>
            </a:srgbClr>
          </a:solidFill>
          <a:ln w="0">
            <a:solidFill>
              <a:srgbClr val="000000">
                <a:alpha val="0"/>
              </a:srgbClr>
            </a:solidFill>
            <a:prstDash val="solid"/>
          </a:ln>
        </p:spPr>
        <p:txBody>
          <a:bodyPr/>
          <a:lstStyle/>
          <a:p>
            <a:endParaRPr lang="en-US"/>
          </a:p>
        </p:txBody>
      </p:sp>
      <p:sp>
        <p:nvSpPr>
          <p:cNvPr id="6" name="Rectangle 5">
            <a:extLst>
              <a:ext uri="{FF2B5EF4-FFF2-40B4-BE49-F238E27FC236}">
                <a16:creationId xmlns:a16="http://schemas.microsoft.com/office/drawing/2014/main" id="{8B0CFA9A-0D6B-426C-981A-69B88F5FC491}"/>
              </a:ext>
            </a:extLst>
          </p:cNvPr>
          <p:cNvSpPr>
            <a:spLocks noGrp="1"/>
          </p:cNvSpPr>
          <p:nvPr/>
        </p:nvSpPr>
        <p:spPr>
          <a:xfrm>
            <a:off x="666750" y="876300"/>
            <a:ext cx="7239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1">
                <a:solidFill>
                  <a:srgbClr val="D7B762"/>
                </a:solidFill>
                <a:latin typeface="Aptos Mono"/>
                <a:ea typeface="Aptos Mono"/>
                <a:cs typeface="Aptos Mono"/>
              </a:defRPr>
            </a:pPr>
            <a:r>
              <a:rPr sz="975" b="1">
                <a:solidFill>
                  <a:srgbClr val="D7B762"/>
                </a:solidFill>
                <a:latin typeface="Aptos Mono"/>
                <a:ea typeface="Aptos Mono"/>
                <a:cs typeface="Aptos Mono"/>
              </a:rPr>
              <a:t>FOUNDER INPUTS NEEDED</a:t>
            </a:r>
          </a:p>
        </p:txBody>
      </p:sp>
      <p:sp>
        <p:nvSpPr>
          <p:cNvPr id="7" name="Rectangle 6">
            <a:extLst>
              <a:ext uri="{FF2B5EF4-FFF2-40B4-BE49-F238E27FC236}">
                <a16:creationId xmlns:a16="http://schemas.microsoft.com/office/drawing/2014/main" id="{D6428044-BF1D-414C-BB68-7654375015C0}"/>
              </a:ext>
            </a:extLst>
          </p:cNvPr>
          <p:cNvSpPr>
            <a:spLocks noGrp="1"/>
          </p:cNvSpPr>
          <p:nvPr/>
        </p:nvSpPr>
        <p:spPr>
          <a:xfrm>
            <a:off x="666750" y="1181100"/>
            <a:ext cx="6572250" cy="1809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850" b="1">
                <a:solidFill>
                  <a:srgbClr val="F6F2E8"/>
                </a:solidFill>
                <a:latin typeface="Aptos Display"/>
                <a:ea typeface="Aptos Display"/>
                <a:cs typeface="Aptos Display"/>
              </a:defRPr>
            </a:pPr>
            <a:r>
              <a:rPr sz="2850" b="1">
                <a:solidFill>
                  <a:srgbClr val="F6F2E8"/>
                </a:solidFill>
                <a:latin typeface="Aptos Display"/>
                <a:ea typeface="Aptos Display"/>
                <a:cs typeface="Aptos Display"/>
              </a:rPr>
              <a:t>What must be verified before using this externally.</a:t>
            </a:r>
          </a:p>
        </p:txBody>
      </p:sp>
      <p:sp>
        <p:nvSpPr>
          <p:cNvPr id="8" name="Rectangle 7">
            <a:extLst>
              <a:ext uri="{FF2B5EF4-FFF2-40B4-BE49-F238E27FC236}">
                <a16:creationId xmlns:a16="http://schemas.microsoft.com/office/drawing/2014/main" id="{725F9069-B7FD-4BCC-BF7F-261E4EB0ADEE}"/>
              </a:ext>
            </a:extLst>
          </p:cNvPr>
          <p:cNvSpPr>
            <a:spLocks noGrp="1"/>
          </p:cNvSpPr>
          <p:nvPr/>
        </p:nvSpPr>
        <p:spPr>
          <a:xfrm>
            <a:off x="666750" y="3095625"/>
            <a:ext cx="6191250" cy="1028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B6B1CE"/>
                </a:solidFill>
                <a:latin typeface="Aptos"/>
                <a:ea typeface="Aptos"/>
                <a:cs typeface="Aptos"/>
              </a:defRPr>
            </a:pPr>
            <a:r>
              <a:rPr sz="1575" b="0">
                <a:solidFill>
                  <a:srgbClr val="B6B1CE"/>
                </a:solidFill>
                <a:latin typeface="Aptos"/>
                <a:ea typeface="Aptos"/>
                <a:cs typeface="Aptos"/>
              </a:rPr>
              <a:t>The decks are boardroom-ready as a narrative package, but final external use requires founder validation of pricing, formulas, pilots, customers, certification thresholds, security posture and any claimed outcomes.</a:t>
            </a:r>
          </a:p>
        </p:txBody>
      </p:sp>
      <p:sp>
        <p:nvSpPr>
          <p:cNvPr id="9" name="Rectangle 8">
            <a:extLst>
              <a:ext uri="{FF2B5EF4-FFF2-40B4-BE49-F238E27FC236}">
                <a16:creationId xmlns:a16="http://schemas.microsoft.com/office/drawing/2014/main" id="{159D3212-0604-4FD8-B9B5-A7818CA86FF4}"/>
              </a:ext>
            </a:extLst>
          </p:cNvPr>
          <p:cNvSpPr>
            <a:spLocks noGrp="1"/>
          </p:cNvSpPr>
          <p:nvPr/>
        </p:nvSpPr>
        <p:spPr>
          <a:xfrm>
            <a:off x="7381875" y="1162050"/>
            <a:ext cx="2238375" cy="914400"/>
          </a:xfrm>
          <a:prstGeom prst="rect">
            <a:avLst/>
          </a:prstGeom>
          <a:solidFill>
            <a:srgbClr val="FFFFFF">
              <a:alpha val="3137"/>
            </a:srgbClr>
          </a:solidFill>
          <a:ln w="9525">
            <a:solidFill>
              <a:srgbClr val="FFFFFF">
                <a:alpha val="9412"/>
              </a:srgbClr>
            </a:solidFill>
            <a:prstDash val="solid"/>
          </a:ln>
        </p:spPr>
        <p:txBody>
          <a:bodyPr/>
          <a:lstStyle/>
          <a:p>
            <a:endParaRPr lang="en-US"/>
          </a:p>
        </p:txBody>
      </p:sp>
      <p:sp>
        <p:nvSpPr>
          <p:cNvPr id="10" name="Rectangle 9">
            <a:extLst>
              <a:ext uri="{FF2B5EF4-FFF2-40B4-BE49-F238E27FC236}">
                <a16:creationId xmlns:a16="http://schemas.microsoft.com/office/drawing/2014/main" id="{A8787037-EC5E-48B6-8721-8F0B1EBB4BF2}"/>
              </a:ext>
            </a:extLst>
          </p:cNvPr>
          <p:cNvSpPr>
            <a:spLocks noGrp="1"/>
          </p:cNvSpPr>
          <p:nvPr/>
        </p:nvSpPr>
        <p:spPr>
          <a:xfrm>
            <a:off x="7381875" y="1162050"/>
            <a:ext cx="38100" cy="914400"/>
          </a:xfrm>
          <a:prstGeom prst="rect">
            <a:avLst/>
          </a:prstGeom>
          <a:solidFill>
            <a:srgbClr val="23C7D9"/>
          </a:solidFill>
          <a:ln w="0">
            <a:solidFill>
              <a:srgbClr val="000000">
                <a:alpha val="0"/>
              </a:srgbClr>
            </a:solidFill>
            <a:prstDash val="solid"/>
          </a:ln>
        </p:spPr>
        <p:txBody>
          <a:bodyPr/>
          <a:lstStyle/>
          <a:p>
            <a:endParaRPr lang="en-US"/>
          </a:p>
        </p:txBody>
      </p:sp>
      <p:sp>
        <p:nvSpPr>
          <p:cNvPr id="11" name="Rectangle 10">
            <a:extLst>
              <a:ext uri="{FF2B5EF4-FFF2-40B4-BE49-F238E27FC236}">
                <a16:creationId xmlns:a16="http://schemas.microsoft.com/office/drawing/2014/main" id="{E7F4929A-AFC1-477F-9904-8BC78A2E616F}"/>
              </a:ext>
            </a:extLst>
          </p:cNvPr>
          <p:cNvSpPr>
            <a:spLocks noGrp="1"/>
          </p:cNvSpPr>
          <p:nvPr/>
        </p:nvSpPr>
        <p:spPr>
          <a:xfrm>
            <a:off x="7553325" y="1304925"/>
            <a:ext cx="1895475"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23C7D9"/>
                </a:solidFill>
                <a:latin typeface="Aptos Mono"/>
                <a:ea typeface="Aptos Mono"/>
                <a:cs typeface="Aptos Mono"/>
              </a:defRPr>
            </a:pPr>
            <a:r>
              <a:rPr sz="1050" b="1">
                <a:solidFill>
                  <a:srgbClr val="23C7D9"/>
                </a:solidFill>
                <a:latin typeface="Aptos Mono"/>
                <a:ea typeface="Aptos Mono"/>
                <a:cs typeface="Aptos Mono"/>
              </a:rPr>
              <a:t>Data</a:t>
            </a:r>
          </a:p>
        </p:txBody>
      </p:sp>
      <p:sp>
        <p:nvSpPr>
          <p:cNvPr id="12" name="Rectangle 11">
            <a:extLst>
              <a:ext uri="{FF2B5EF4-FFF2-40B4-BE49-F238E27FC236}">
                <a16:creationId xmlns:a16="http://schemas.microsoft.com/office/drawing/2014/main" id="{3F4FEF67-C107-4E64-985A-E0382F8569A7}"/>
              </a:ext>
            </a:extLst>
          </p:cNvPr>
          <p:cNvSpPr>
            <a:spLocks noGrp="1"/>
          </p:cNvSpPr>
          <p:nvPr/>
        </p:nvSpPr>
        <p:spPr>
          <a:xfrm>
            <a:off x="7553325" y="1562100"/>
            <a:ext cx="189547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6B1CE"/>
                </a:solidFill>
                <a:latin typeface="Aptos"/>
                <a:ea typeface="Aptos"/>
                <a:cs typeface="Aptos"/>
              </a:defRPr>
            </a:pPr>
            <a:r>
              <a:rPr sz="975" b="0">
                <a:solidFill>
                  <a:srgbClr val="B6B1CE"/>
                </a:solidFill>
                <a:latin typeface="Aptos"/>
                <a:ea typeface="Aptos"/>
                <a:cs typeface="Aptos"/>
              </a:rPr>
              <a:t>Usage, pilots, campaign correlations.</a:t>
            </a:r>
          </a:p>
        </p:txBody>
      </p:sp>
      <p:sp>
        <p:nvSpPr>
          <p:cNvPr id="13" name="Rectangle 12">
            <a:extLst>
              <a:ext uri="{FF2B5EF4-FFF2-40B4-BE49-F238E27FC236}">
                <a16:creationId xmlns:a16="http://schemas.microsoft.com/office/drawing/2014/main" id="{FF8730B5-D44E-4445-800A-C159B9723B6E}"/>
              </a:ext>
            </a:extLst>
          </p:cNvPr>
          <p:cNvSpPr>
            <a:spLocks noGrp="1"/>
          </p:cNvSpPr>
          <p:nvPr/>
        </p:nvSpPr>
        <p:spPr>
          <a:xfrm>
            <a:off x="9810750" y="1162050"/>
            <a:ext cx="2238375" cy="914400"/>
          </a:xfrm>
          <a:prstGeom prst="rect">
            <a:avLst/>
          </a:prstGeom>
          <a:solidFill>
            <a:srgbClr val="FFFFFF">
              <a:alpha val="3137"/>
            </a:srgbClr>
          </a:solidFill>
          <a:ln w="9525">
            <a:solidFill>
              <a:srgbClr val="FFFFFF">
                <a:alpha val="9412"/>
              </a:srgbClr>
            </a:solidFill>
            <a:prstDash val="solid"/>
          </a:ln>
        </p:spPr>
        <p:txBody>
          <a:bodyPr/>
          <a:lstStyle/>
          <a:p>
            <a:endParaRPr lang="en-US"/>
          </a:p>
        </p:txBody>
      </p:sp>
      <p:sp>
        <p:nvSpPr>
          <p:cNvPr id="14" name="Rectangle 13">
            <a:extLst>
              <a:ext uri="{FF2B5EF4-FFF2-40B4-BE49-F238E27FC236}">
                <a16:creationId xmlns:a16="http://schemas.microsoft.com/office/drawing/2014/main" id="{84535FFF-BC34-4541-85B6-1A9F6AA59A91}"/>
              </a:ext>
            </a:extLst>
          </p:cNvPr>
          <p:cNvSpPr>
            <a:spLocks noGrp="1"/>
          </p:cNvSpPr>
          <p:nvPr/>
        </p:nvSpPr>
        <p:spPr>
          <a:xfrm>
            <a:off x="9810750" y="1162050"/>
            <a:ext cx="38100" cy="914400"/>
          </a:xfrm>
          <a:prstGeom prst="rect">
            <a:avLst/>
          </a:prstGeom>
          <a:solidFill>
            <a:srgbClr val="D7B762"/>
          </a:solidFill>
          <a:ln w="0">
            <a:solidFill>
              <a:srgbClr val="000000">
                <a:alpha val="0"/>
              </a:srgbClr>
            </a:solidFill>
            <a:prstDash val="solid"/>
          </a:ln>
        </p:spPr>
        <p:txBody>
          <a:bodyPr/>
          <a:lstStyle/>
          <a:p>
            <a:endParaRPr lang="en-US"/>
          </a:p>
        </p:txBody>
      </p:sp>
      <p:sp>
        <p:nvSpPr>
          <p:cNvPr id="15" name="Rectangle 14">
            <a:extLst>
              <a:ext uri="{FF2B5EF4-FFF2-40B4-BE49-F238E27FC236}">
                <a16:creationId xmlns:a16="http://schemas.microsoft.com/office/drawing/2014/main" id="{3A9C0907-2DF0-44CF-BFA2-0F21560FF7A8}"/>
              </a:ext>
            </a:extLst>
          </p:cNvPr>
          <p:cNvSpPr>
            <a:spLocks noGrp="1"/>
          </p:cNvSpPr>
          <p:nvPr/>
        </p:nvSpPr>
        <p:spPr>
          <a:xfrm>
            <a:off x="9982200" y="1304925"/>
            <a:ext cx="1895475"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D7B762"/>
                </a:solidFill>
                <a:latin typeface="Aptos Mono"/>
                <a:ea typeface="Aptos Mono"/>
                <a:cs typeface="Aptos Mono"/>
              </a:defRPr>
            </a:pPr>
            <a:r>
              <a:rPr sz="1050" b="1">
                <a:solidFill>
                  <a:srgbClr val="D7B762"/>
                </a:solidFill>
                <a:latin typeface="Aptos Mono"/>
                <a:ea typeface="Aptos Mono"/>
                <a:cs typeface="Aptos Mono"/>
              </a:rPr>
              <a:t>Commercials</a:t>
            </a:r>
          </a:p>
        </p:txBody>
      </p:sp>
      <p:sp>
        <p:nvSpPr>
          <p:cNvPr id="16" name="Rectangle 15">
            <a:extLst>
              <a:ext uri="{FF2B5EF4-FFF2-40B4-BE49-F238E27FC236}">
                <a16:creationId xmlns:a16="http://schemas.microsoft.com/office/drawing/2014/main" id="{882BB9B9-61EF-4A48-8884-4A7181C0B9AC}"/>
              </a:ext>
            </a:extLst>
          </p:cNvPr>
          <p:cNvSpPr>
            <a:spLocks noGrp="1"/>
          </p:cNvSpPr>
          <p:nvPr/>
        </p:nvSpPr>
        <p:spPr>
          <a:xfrm>
            <a:off x="9982200" y="1562100"/>
            <a:ext cx="189547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6B1CE"/>
                </a:solidFill>
                <a:latin typeface="Aptos"/>
                <a:ea typeface="Aptos"/>
                <a:cs typeface="Aptos"/>
              </a:defRPr>
            </a:pPr>
            <a:r>
              <a:rPr sz="975" b="0">
                <a:solidFill>
                  <a:srgbClr val="B6B1CE"/>
                </a:solidFill>
                <a:latin typeface="Aptos"/>
                <a:ea typeface="Aptos"/>
                <a:cs typeface="Aptos"/>
              </a:rPr>
              <a:t>Pricing, margin, ARR goals.</a:t>
            </a:r>
          </a:p>
        </p:txBody>
      </p:sp>
      <p:sp>
        <p:nvSpPr>
          <p:cNvPr id="17" name="Rectangle 16">
            <a:extLst>
              <a:ext uri="{FF2B5EF4-FFF2-40B4-BE49-F238E27FC236}">
                <a16:creationId xmlns:a16="http://schemas.microsoft.com/office/drawing/2014/main" id="{768DAF55-DEF6-4095-9AFB-B0EEFD667B8B}"/>
              </a:ext>
            </a:extLst>
          </p:cNvPr>
          <p:cNvSpPr>
            <a:spLocks noGrp="1"/>
          </p:cNvSpPr>
          <p:nvPr/>
        </p:nvSpPr>
        <p:spPr>
          <a:xfrm>
            <a:off x="7381875" y="2286000"/>
            <a:ext cx="2238375" cy="914400"/>
          </a:xfrm>
          <a:prstGeom prst="rect">
            <a:avLst/>
          </a:prstGeom>
          <a:solidFill>
            <a:srgbClr val="FFFFFF">
              <a:alpha val="3137"/>
            </a:srgbClr>
          </a:solidFill>
          <a:ln w="9525">
            <a:solidFill>
              <a:srgbClr val="FFFFFF">
                <a:alpha val="9412"/>
              </a:srgbClr>
            </a:solidFill>
            <a:prstDash val="solid"/>
          </a:ln>
        </p:spPr>
        <p:txBody>
          <a:bodyPr/>
          <a:lstStyle/>
          <a:p>
            <a:endParaRPr lang="en-US"/>
          </a:p>
        </p:txBody>
      </p:sp>
      <p:sp>
        <p:nvSpPr>
          <p:cNvPr id="18" name="Rectangle 17">
            <a:extLst>
              <a:ext uri="{FF2B5EF4-FFF2-40B4-BE49-F238E27FC236}">
                <a16:creationId xmlns:a16="http://schemas.microsoft.com/office/drawing/2014/main" id="{B727D37B-30BD-4B92-B40A-3DD8A8F96FD9}"/>
              </a:ext>
            </a:extLst>
          </p:cNvPr>
          <p:cNvSpPr>
            <a:spLocks noGrp="1"/>
          </p:cNvSpPr>
          <p:nvPr/>
        </p:nvSpPr>
        <p:spPr>
          <a:xfrm>
            <a:off x="7381875" y="2286000"/>
            <a:ext cx="38100" cy="914400"/>
          </a:xfrm>
          <a:prstGeom prst="rect">
            <a:avLst/>
          </a:prstGeom>
          <a:solidFill>
            <a:srgbClr val="63D394"/>
          </a:solidFill>
          <a:ln w="0">
            <a:solidFill>
              <a:srgbClr val="000000">
                <a:alpha val="0"/>
              </a:srgbClr>
            </a:solidFill>
            <a:prstDash val="solid"/>
          </a:ln>
        </p:spPr>
        <p:txBody>
          <a:bodyPr/>
          <a:lstStyle/>
          <a:p>
            <a:endParaRPr lang="en-US"/>
          </a:p>
        </p:txBody>
      </p:sp>
      <p:sp>
        <p:nvSpPr>
          <p:cNvPr id="19" name="Rectangle 18">
            <a:extLst>
              <a:ext uri="{FF2B5EF4-FFF2-40B4-BE49-F238E27FC236}">
                <a16:creationId xmlns:a16="http://schemas.microsoft.com/office/drawing/2014/main" id="{862CD1BB-2918-4A86-BFA0-2672F2C77206}"/>
              </a:ext>
            </a:extLst>
          </p:cNvPr>
          <p:cNvSpPr>
            <a:spLocks noGrp="1"/>
          </p:cNvSpPr>
          <p:nvPr/>
        </p:nvSpPr>
        <p:spPr>
          <a:xfrm>
            <a:off x="7553325" y="2428875"/>
            <a:ext cx="1895475"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63D394"/>
                </a:solidFill>
                <a:latin typeface="Aptos Mono"/>
                <a:ea typeface="Aptos Mono"/>
                <a:cs typeface="Aptos Mono"/>
              </a:defRPr>
            </a:pPr>
            <a:r>
              <a:rPr sz="1050" b="1">
                <a:solidFill>
                  <a:srgbClr val="63D394"/>
                </a:solidFill>
                <a:latin typeface="Aptos Mono"/>
                <a:ea typeface="Aptos Mono"/>
                <a:cs typeface="Aptos Mono"/>
              </a:rPr>
              <a:t>Governance</a:t>
            </a:r>
          </a:p>
        </p:txBody>
      </p:sp>
      <p:sp>
        <p:nvSpPr>
          <p:cNvPr id="20" name="Rectangle 19">
            <a:extLst>
              <a:ext uri="{FF2B5EF4-FFF2-40B4-BE49-F238E27FC236}">
                <a16:creationId xmlns:a16="http://schemas.microsoft.com/office/drawing/2014/main" id="{2041F0D3-AE57-4A09-AE19-51A26E802BED}"/>
              </a:ext>
            </a:extLst>
          </p:cNvPr>
          <p:cNvSpPr>
            <a:spLocks noGrp="1"/>
          </p:cNvSpPr>
          <p:nvPr/>
        </p:nvSpPr>
        <p:spPr>
          <a:xfrm>
            <a:off x="7553325" y="2686050"/>
            <a:ext cx="189547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6B1CE"/>
                </a:solidFill>
                <a:latin typeface="Aptos"/>
                <a:ea typeface="Aptos"/>
                <a:cs typeface="Aptos"/>
              </a:defRPr>
            </a:pPr>
            <a:r>
              <a:rPr sz="975" b="0">
                <a:solidFill>
                  <a:srgbClr val="B6B1CE"/>
                </a:solidFill>
                <a:latin typeface="Aptos"/>
                <a:ea typeface="Aptos"/>
                <a:cs typeface="Aptos"/>
              </a:rPr>
              <a:t>Privacy, security, claim language.</a:t>
            </a:r>
          </a:p>
        </p:txBody>
      </p:sp>
      <p:sp>
        <p:nvSpPr>
          <p:cNvPr id="21" name="Rectangle 20">
            <a:extLst>
              <a:ext uri="{FF2B5EF4-FFF2-40B4-BE49-F238E27FC236}">
                <a16:creationId xmlns:a16="http://schemas.microsoft.com/office/drawing/2014/main" id="{DBE136B8-87B7-4A0B-985B-20CD2475DE38}"/>
              </a:ext>
            </a:extLst>
          </p:cNvPr>
          <p:cNvSpPr>
            <a:spLocks noGrp="1"/>
          </p:cNvSpPr>
          <p:nvPr/>
        </p:nvSpPr>
        <p:spPr>
          <a:xfrm>
            <a:off x="9810750" y="2286000"/>
            <a:ext cx="2238375" cy="914400"/>
          </a:xfrm>
          <a:prstGeom prst="rect">
            <a:avLst/>
          </a:prstGeom>
          <a:solidFill>
            <a:srgbClr val="FFFFFF">
              <a:alpha val="3137"/>
            </a:srgbClr>
          </a:solidFill>
          <a:ln w="9525">
            <a:solidFill>
              <a:srgbClr val="FFFFFF">
                <a:alpha val="9412"/>
              </a:srgbClr>
            </a:solidFill>
            <a:prstDash val="solid"/>
          </a:ln>
        </p:spPr>
        <p:txBody>
          <a:bodyPr/>
          <a:lstStyle/>
          <a:p>
            <a:endParaRPr lang="en-US"/>
          </a:p>
        </p:txBody>
      </p:sp>
      <p:sp>
        <p:nvSpPr>
          <p:cNvPr id="22" name="Rectangle 21">
            <a:extLst>
              <a:ext uri="{FF2B5EF4-FFF2-40B4-BE49-F238E27FC236}">
                <a16:creationId xmlns:a16="http://schemas.microsoft.com/office/drawing/2014/main" id="{C8829BA4-136F-4C5A-A9D0-FDB3D959A365}"/>
              </a:ext>
            </a:extLst>
          </p:cNvPr>
          <p:cNvSpPr>
            <a:spLocks noGrp="1"/>
          </p:cNvSpPr>
          <p:nvPr/>
        </p:nvSpPr>
        <p:spPr>
          <a:xfrm>
            <a:off x="9810750" y="2286000"/>
            <a:ext cx="38100" cy="914400"/>
          </a:xfrm>
          <a:prstGeom prst="rect">
            <a:avLst/>
          </a:prstGeom>
          <a:solidFill>
            <a:srgbClr val="A78BFA"/>
          </a:solidFill>
          <a:ln w="0">
            <a:solidFill>
              <a:srgbClr val="000000">
                <a:alpha val="0"/>
              </a:srgbClr>
            </a:solidFill>
            <a:prstDash val="solid"/>
          </a:ln>
        </p:spPr>
        <p:txBody>
          <a:bodyPr/>
          <a:lstStyle/>
          <a:p>
            <a:endParaRPr lang="en-US"/>
          </a:p>
        </p:txBody>
      </p:sp>
      <p:sp>
        <p:nvSpPr>
          <p:cNvPr id="23" name="Rectangle 22">
            <a:extLst>
              <a:ext uri="{FF2B5EF4-FFF2-40B4-BE49-F238E27FC236}">
                <a16:creationId xmlns:a16="http://schemas.microsoft.com/office/drawing/2014/main" id="{D635C97F-03E5-4574-BB13-30A689C6C8FC}"/>
              </a:ext>
            </a:extLst>
          </p:cNvPr>
          <p:cNvSpPr>
            <a:spLocks noGrp="1"/>
          </p:cNvSpPr>
          <p:nvPr/>
        </p:nvSpPr>
        <p:spPr>
          <a:xfrm>
            <a:off x="9982200" y="2428875"/>
            <a:ext cx="1895475"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1">
                <a:solidFill>
                  <a:srgbClr val="A78BFA"/>
                </a:solidFill>
                <a:latin typeface="Aptos Mono"/>
                <a:ea typeface="Aptos Mono"/>
                <a:cs typeface="Aptos Mono"/>
              </a:defRPr>
            </a:pPr>
            <a:r>
              <a:rPr sz="1050" b="1">
                <a:solidFill>
                  <a:srgbClr val="A78BFA"/>
                </a:solidFill>
                <a:latin typeface="Aptos Mono"/>
                <a:ea typeface="Aptos Mono"/>
                <a:cs typeface="Aptos Mono"/>
              </a:rPr>
              <a:t>Proof</a:t>
            </a:r>
          </a:p>
        </p:txBody>
      </p:sp>
      <p:sp>
        <p:nvSpPr>
          <p:cNvPr id="24" name="Rectangle 23">
            <a:extLst>
              <a:ext uri="{FF2B5EF4-FFF2-40B4-BE49-F238E27FC236}">
                <a16:creationId xmlns:a16="http://schemas.microsoft.com/office/drawing/2014/main" id="{7C23A22F-7A03-4576-8C1A-1579FBACEEC6}"/>
              </a:ext>
            </a:extLst>
          </p:cNvPr>
          <p:cNvSpPr>
            <a:spLocks noGrp="1"/>
          </p:cNvSpPr>
          <p:nvPr/>
        </p:nvSpPr>
        <p:spPr>
          <a:xfrm>
            <a:off x="9982200" y="2686050"/>
            <a:ext cx="1895475"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6B1CE"/>
                </a:solidFill>
                <a:latin typeface="Aptos"/>
                <a:ea typeface="Aptos"/>
                <a:cs typeface="Aptos"/>
              </a:defRPr>
            </a:pPr>
            <a:r>
              <a:rPr sz="975" b="0">
                <a:solidFill>
                  <a:srgbClr val="B6B1CE"/>
                </a:solidFill>
                <a:latin typeface="Aptos"/>
                <a:ea typeface="Aptos"/>
                <a:cs typeface="Aptos"/>
              </a:rPr>
              <a:t>Case studies and testimonials.</a:t>
            </a:r>
          </a:p>
        </p:txBody>
      </p:sp>
      <p:sp>
        <p:nvSpPr>
          <p:cNvPr id="25" name="Rectangle 24">
            <a:extLst>
              <a:ext uri="{FF2B5EF4-FFF2-40B4-BE49-F238E27FC236}">
                <a16:creationId xmlns:a16="http://schemas.microsoft.com/office/drawing/2014/main" id="{DDBDBA3C-4A48-48B0-9356-FC9AB0F92D2C}"/>
              </a:ext>
            </a:extLst>
          </p:cNvPr>
          <p:cNvSpPr>
            <a:spLocks noGrp="1"/>
          </p:cNvSpPr>
          <p:nvPr/>
        </p:nvSpPr>
        <p:spPr>
          <a:xfrm>
            <a:off x="552450" y="6286500"/>
            <a:ext cx="8096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50" b="0">
                <a:solidFill>
                  <a:srgbClr val="77728F"/>
                </a:solidFill>
                <a:latin typeface="Aptos Mono"/>
                <a:ea typeface="Aptos Mono"/>
                <a:cs typeface="Aptos Mono"/>
              </a:defRPr>
            </a:pPr>
            <a:r>
              <a:rPr sz="750" b="0">
                <a:solidFill>
                  <a:srgbClr val="77728F"/>
                </a:solidFill>
                <a:latin typeface="Aptos Mono"/>
                <a:ea typeface="Aptos Mono"/>
                <a:cs typeface="Aptos Mono"/>
              </a:rPr>
              <a:t>AdCritIQ Methodology Evidence Deck  ·  AdCritIQ™  ·  Just the signal before the spend.</a:t>
            </a:r>
          </a:p>
        </p:txBody>
      </p:sp>
      <p:sp>
        <p:nvSpPr>
          <p:cNvPr id="26" name="Rectangle 25">
            <a:extLst>
              <a:ext uri="{FF2B5EF4-FFF2-40B4-BE49-F238E27FC236}">
                <a16:creationId xmlns:a16="http://schemas.microsoft.com/office/drawing/2014/main" id="{B110FF8C-C725-441B-9D86-656DBD3692D6}"/>
              </a:ext>
            </a:extLst>
          </p:cNvPr>
          <p:cNvSpPr>
            <a:spLocks noGrp="1"/>
          </p:cNvSpPr>
          <p:nvPr/>
        </p:nvSpPr>
        <p:spPr>
          <a:xfrm>
            <a:off x="11144250" y="6257925"/>
            <a:ext cx="476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825" b="0">
                <a:solidFill>
                  <a:srgbClr val="D7B762"/>
                </a:solidFill>
                <a:latin typeface="Aptos Mono"/>
                <a:ea typeface="Aptos Mono"/>
                <a:cs typeface="Aptos Mono"/>
              </a:defRPr>
            </a:pPr>
            <a:r>
              <a:rPr sz="825" b="0">
                <a:solidFill>
                  <a:srgbClr val="D7B762"/>
                </a:solidFill>
                <a:latin typeface="Aptos Mono"/>
                <a:ea typeface="Aptos Mono"/>
                <a:cs typeface="Aptos Mono"/>
              </a:rPr>
              <a:t>12</a:t>
            </a:r>
          </a:p>
        </p:txBody>
      </p:sp>
    </p:spTree>
    <p:extLst>
      <p:ext uri="{BB962C8B-B14F-4D97-AF65-F5344CB8AC3E}">
        <p14:creationId xmlns:p14="http://schemas.microsoft.com/office/powerpoint/2010/main" val="95729751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1137</Words>
  <Application>Microsoft Macintosh PowerPoint</Application>
  <DocSecurity>0</DocSecurity>
  <PresentationFormat>Widescreen</PresentationFormat>
  <Paragraphs>154</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Aptos Mono</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Anil Pandit</cp:lastModifiedBy>
  <cp:revision>1</cp:revision>
  <dcterms:created xsi:type="dcterms:W3CDTF">2026-06-13T13:32:23Z</dcterms:created>
  <dcterms:modified xsi:type="dcterms:W3CDTF">2026-06-13T16:15:47Z</dcterms:modified>
</cp:coreProperties>
</file>