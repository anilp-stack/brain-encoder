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6b54fc66e487a" /><Relationship Type="http://schemas.openxmlformats.org/officeDocument/2006/relationships/extended-properties" Target="/docProps/app.xml" Id="Ree4cb8740e674a95" /><Relationship Type="http://schemas.openxmlformats.org/officeDocument/2006/relationships/officeDocument" Target="/ppt/presentation.xml" Id="R0aaaff12db7c4d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f1e31c4b04ade"/>
  </p:sldMasterIdLst>
  <p:notesMasterIdLst>
    <p:notesMasterId xmlns:r="http://schemas.openxmlformats.org/officeDocument/2006/relationships" r:id="R5ed46b6f7c004e18"/>
  </p:notesMasterIdLst>
  <p:sldIdLst>
    <p:sldId xmlns:r="http://schemas.openxmlformats.org/officeDocument/2006/relationships" id="256" r:id="Reeca308acaa14313"/>
    <p:sldId xmlns:r="http://schemas.openxmlformats.org/officeDocument/2006/relationships" id="257" r:id="R10ab177452644dc8"/>
    <p:sldId xmlns:r="http://schemas.openxmlformats.org/officeDocument/2006/relationships" id="258" r:id="Rf58f1d73a8f548bb"/>
    <p:sldId xmlns:r="http://schemas.openxmlformats.org/officeDocument/2006/relationships" id="259" r:id="R36c683277422466a"/>
    <p:sldId xmlns:r="http://schemas.openxmlformats.org/officeDocument/2006/relationships" id="260" r:id="R4a54d80cd5824671"/>
    <p:sldId xmlns:r="http://schemas.openxmlformats.org/officeDocument/2006/relationships" id="261" r:id="R8e3e326a29574036"/>
    <p:sldId xmlns:r="http://schemas.openxmlformats.org/officeDocument/2006/relationships" id="262" r:id="R5f0601c95a7e4b41"/>
    <p:sldId xmlns:r="http://schemas.openxmlformats.org/officeDocument/2006/relationships" id="263" r:id="R55f856ee901a4dfd"/>
    <p:sldId xmlns:r="http://schemas.openxmlformats.org/officeDocument/2006/relationships" id="264" r:id="R994d3a2a33154601"/>
    <p:sldId xmlns:r="http://schemas.openxmlformats.org/officeDocument/2006/relationships" id="265" r:id="Ra3fcd9c1a80f4165"/>
    <p:sldId xmlns:r="http://schemas.openxmlformats.org/officeDocument/2006/relationships" id="266" r:id="R52034f8f3dae4e4d"/>
    <p:sldId xmlns:r="http://schemas.openxmlformats.org/officeDocument/2006/relationships" id="267" r:id="Rd8752e01f88542cc"/>
    <p:sldId xmlns:r="http://schemas.openxmlformats.org/officeDocument/2006/relationships" id="268" r:id="R575c082ef6234347"/>
    <p:sldId xmlns:r="http://schemas.openxmlformats.org/officeDocument/2006/relationships" id="269" r:id="Rd2f50deefff04178"/>
    <p:sldId xmlns:r="http://schemas.openxmlformats.org/officeDocument/2006/relationships" id="270" r:id="Ra93d835fe8c044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4e2635b6f4b1e" /><Relationship Type="http://schemas.openxmlformats.org/officeDocument/2006/relationships/slideMaster" Target="/ppt/slideMasters/slideMaster1.xml" Id="R783f1e31c4b04ade" /><Relationship Type="http://schemas.openxmlformats.org/officeDocument/2006/relationships/notesMaster" Target="/ppt/notesMasters/notesMaster1.xml" Id="R5ed46b6f7c004e18" /><Relationship Type="http://schemas.openxmlformats.org/officeDocument/2006/relationships/presProps" Target="/ppt/presProps.xml" Id="Rdfc736a2d67b47da" /><Relationship Type="http://schemas.openxmlformats.org/officeDocument/2006/relationships/viewProps" Target="/ppt/viewProps.xml" Id="Re900a64f4f73479b" /><Relationship Type="http://schemas.openxmlformats.org/officeDocument/2006/relationships/tableStyles" Target="/ppt/tableStyles.xml" Id="R543ee6fc282548a9" /><Relationship Type="http://schemas.openxmlformats.org/officeDocument/2006/relationships/slide" Target="/ppt/slides/slide1.xml" Id="Reeca308acaa14313" /><Relationship Type="http://schemas.openxmlformats.org/officeDocument/2006/relationships/slide" Target="/ppt/slides/slide2.xml" Id="R10ab177452644dc8" /><Relationship Type="http://schemas.openxmlformats.org/officeDocument/2006/relationships/slide" Target="/ppt/slides/slide3.xml" Id="Rf58f1d73a8f548bb" /><Relationship Type="http://schemas.openxmlformats.org/officeDocument/2006/relationships/slide" Target="/ppt/slides/slide4.xml" Id="R36c683277422466a" /><Relationship Type="http://schemas.openxmlformats.org/officeDocument/2006/relationships/slide" Target="/ppt/slides/slide5.xml" Id="R4a54d80cd5824671" /><Relationship Type="http://schemas.openxmlformats.org/officeDocument/2006/relationships/slide" Target="/ppt/slides/slide6.xml" Id="R8e3e326a29574036" /><Relationship Type="http://schemas.openxmlformats.org/officeDocument/2006/relationships/slide" Target="/ppt/slides/slide7.xml" Id="R5f0601c95a7e4b41" /><Relationship Type="http://schemas.openxmlformats.org/officeDocument/2006/relationships/slide" Target="/ppt/slides/slide8.xml" Id="R55f856ee901a4dfd" /><Relationship Type="http://schemas.openxmlformats.org/officeDocument/2006/relationships/slide" Target="/ppt/slides/slide9.xml" Id="R994d3a2a33154601" /><Relationship Type="http://schemas.openxmlformats.org/officeDocument/2006/relationships/slide" Target="/ppt/slides/slide10.xml" Id="Ra3fcd9c1a80f4165" /><Relationship Type="http://schemas.openxmlformats.org/officeDocument/2006/relationships/slide" Target="/ppt/slides/slide11.xml" Id="R52034f8f3dae4e4d" /><Relationship Type="http://schemas.openxmlformats.org/officeDocument/2006/relationships/slide" Target="/ppt/slides/slide12.xml" Id="Rd8752e01f88542cc" /><Relationship Type="http://schemas.openxmlformats.org/officeDocument/2006/relationships/slide" Target="/ppt/slides/slide13.xml" Id="R575c082ef6234347" /><Relationship Type="http://schemas.openxmlformats.org/officeDocument/2006/relationships/slide" Target="/ppt/slides/slide14.xml" Id="Rd2f50deefff04178" /><Relationship Type="http://schemas.openxmlformats.org/officeDocument/2006/relationships/slide" Target="/ppt/slides/slide15.xml" Id="Ra93d835fe8c0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7049c156f14f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6f33e61de4652" /><Relationship Type="http://schemas.openxmlformats.org/officeDocument/2006/relationships/notesMaster" Target="/ppt/notesMasters/notesMaster1.xml" Id="Rccaefec0ab01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4c6f406554537" /><Relationship Type="http://schemas.openxmlformats.org/officeDocument/2006/relationships/notesMaster" Target="/ppt/notesMasters/notesMaster1.xml" Id="R3e273438be24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1abd464bc4d9a" /><Relationship Type="http://schemas.openxmlformats.org/officeDocument/2006/relationships/notesMaster" Target="/ppt/notesMasters/notesMaster1.xml" Id="R67b31e5561ca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e7bd044dc45cf" /><Relationship Type="http://schemas.openxmlformats.org/officeDocument/2006/relationships/notesMaster" Target="/ppt/notesMasters/notesMaster1.xml" Id="Ra10220a95e5c40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b33e6d7a684ce9" /><Relationship Type="http://schemas.openxmlformats.org/officeDocument/2006/relationships/notesMaster" Target="/ppt/notesMasters/notesMaster1.xml" Id="R40ca09d159b4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6faaa46c04079" /><Relationship Type="http://schemas.openxmlformats.org/officeDocument/2006/relationships/notesMaster" Target="/ppt/notesMasters/notesMaster1.xml" Id="R62dbcdb743b4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c0ea53eb3431e" /><Relationship Type="http://schemas.openxmlformats.org/officeDocument/2006/relationships/notesMaster" Target="/ppt/notesMasters/notesMaster1.xml" Id="R9068875a1d62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3792b9a88546eb" /><Relationship Type="http://schemas.openxmlformats.org/officeDocument/2006/relationships/notesMaster" Target="/ppt/notesMasters/notesMaster1.xml" Id="R8862803fdac140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13d22d9d224326" /><Relationship Type="http://schemas.openxmlformats.org/officeDocument/2006/relationships/notesMaster" Target="/ppt/notesMasters/notesMaster1.xml" Id="R7eee07ff2e4148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d7eed560d45a3" /><Relationship Type="http://schemas.openxmlformats.org/officeDocument/2006/relationships/notesMaster" Target="/ppt/notesMasters/notesMaster1.xml" Id="R30389142f3d24d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6ab43a23b144a0" /><Relationship Type="http://schemas.openxmlformats.org/officeDocument/2006/relationships/notesMaster" Target="/ppt/notesMasters/notesMaster1.xml" Id="R1f198f969cb842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535af1974846ea" /><Relationship Type="http://schemas.openxmlformats.org/officeDocument/2006/relationships/notesMaster" Target="/ppt/notesMasters/notesMaster1.xml" Id="R2f5805ba5ee744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9936adf92848e2" /><Relationship Type="http://schemas.openxmlformats.org/officeDocument/2006/relationships/notesMaster" Target="/ppt/notesMasters/notesMaster1.xml" Id="Rf7ee82b9747f42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917f6b8bb74e42" /><Relationship Type="http://schemas.openxmlformats.org/officeDocument/2006/relationships/notesMaster" Target="/ppt/notesMasters/notesMaster1.xml" Id="R6a52352860ba44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728451bc64457f" /><Relationship Type="http://schemas.openxmlformats.org/officeDocument/2006/relationships/notesMaster" Target="/ppt/notesMasters/notesMaster1.xml" Id="Red6a350bf264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df147f533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3e98838a84ee4" /><Relationship Type="http://schemas.openxmlformats.org/officeDocument/2006/relationships/slideLayout" Target="/ppt/slideLayouts/slideLayout1.xml" Id="R87d12a1f65e8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d12a1f65e8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deb1c9c7e4c67" /><Relationship Type="http://schemas.openxmlformats.org/officeDocument/2006/relationships/image" Target="/ppt/media/image.png" Id="R9de6314ffb4d47f9" /><Relationship Type="http://schemas.openxmlformats.org/officeDocument/2006/relationships/notesSlide" Target="/ppt/notesSlides/notesSlide1.xml" Id="Re004248c4bbb45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9ede85c9d4c4e" /><Relationship Type="http://schemas.openxmlformats.org/officeDocument/2006/relationships/notesSlide" Target="/ppt/notesSlides/notesSlide2.xml" Id="R5621308be63d49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08d6e99f4079" /><Relationship Type="http://schemas.openxmlformats.org/officeDocument/2006/relationships/notesSlide" Target="/ppt/notesSlides/notesSlide3.xml" Id="Rd899deecd0c44c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4e102bb4c4992" /><Relationship Type="http://schemas.openxmlformats.org/officeDocument/2006/relationships/notesSlide" Target="/ppt/notesSlides/notesSlide4.xml" Id="Reee2a30f51c74e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fc820a1148eb" /><Relationship Type="http://schemas.openxmlformats.org/officeDocument/2006/relationships/notesSlide" Target="/ppt/notesSlides/notesSlide5.xml" Id="R12723d0b3c4c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b89493974891" /><Relationship Type="http://schemas.openxmlformats.org/officeDocument/2006/relationships/notesSlide" Target="/ppt/notesSlides/notesSlide6.xml" Id="R4c05459f0e5740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e689d8cfc445f" /><Relationship Type="http://schemas.openxmlformats.org/officeDocument/2006/relationships/notesSlide" Target="/ppt/notesSlides/notesSlide7.xml" Id="R850e34db904045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d39762d024dae" /><Relationship Type="http://schemas.openxmlformats.org/officeDocument/2006/relationships/notesSlide" Target="/ppt/notesSlides/notesSlide8.xml" Id="R1d3b0b0b508b41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74dbfb8734d11" /><Relationship Type="http://schemas.openxmlformats.org/officeDocument/2006/relationships/notesSlide" Target="/ppt/notesSlides/notesSlide9.xml" Id="R8e05fe7251ea46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39c442a7c4bd4" /><Relationship Type="http://schemas.openxmlformats.org/officeDocument/2006/relationships/notesSlide" Target="/ppt/notesSlides/notesSlide10.xml" Id="R395f232228494e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7cffe61df4395" /><Relationship Type="http://schemas.openxmlformats.org/officeDocument/2006/relationships/notesSlide" Target="/ppt/notesSlides/notesSlide11.xml" Id="Rc2d6062f1e4d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36fa65c354866" /><Relationship Type="http://schemas.openxmlformats.org/officeDocument/2006/relationships/notesSlide" Target="/ppt/notesSlides/notesSlide12.xml" Id="Rbd8b8d3505c04e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e00ef0f04e29" /><Relationship Type="http://schemas.openxmlformats.org/officeDocument/2006/relationships/notesSlide" Target="/ppt/notesSlides/notesSlide13.xml" Id="Rc6e309841bab4d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ae45a2eb44b1b" /><Relationship Type="http://schemas.openxmlformats.org/officeDocument/2006/relationships/notesSlide" Target="/ppt/notesSlides/notesSlide14.xml" Id="R1df659d39dcc48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75169358b474d" /><Relationship Type="http://schemas.openxmlformats.org/officeDocument/2006/relationships/notesSlide" Target="/ppt/notesSlides/notesSlide15.xml" Id="R05d3478ce0474a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53A36-AC96-48E1-A4DF-1EA84006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47603-5BDE-467D-8C70-160109A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5DF3E-1A33-4DF7-83DE-BE59916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06745-724F-4C6F-894B-72652E25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6314ffb4d47f9"/>
          <a:stretch xmlns:a="http://schemas.openxmlformats.org/drawingml/2006/main"/>
        </p:blipFill>
        <p:spPr>
          <a:xfrm xmlns:a="http://schemas.openxmlformats.org/drawingml/2006/main">
            <a:off x="689967" y="514350"/>
            <a:ext cx="2325291" cy="72342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7F407-A09D-496A-B2AA-D03DF77F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GTM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014C6-FACC-42DF-922C-51C690E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Turn AdCritIQ into the creative accountability layer for enterprise marketing.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2DC4B-27C9-4FF0-B877-0C813CD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85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go-to-market strategy focused on FMCG pilots, agency multiplication and expansion into brand intelligence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75241-47DA-4999-BBB4-A0769D3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D7B762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DB5DC-3533-45C6-ADC7-564339F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0C82D-31C0-4FD1-8A47-9349A759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GTM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2B11A-6510-4C51-ADB3-378B47A2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Win focused pilots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Prove decision impact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Convert to enterprise licenses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Build benchmark data loops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E0676-3B10-42A5-AEDB-7488EEE1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June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77B2D-7BF0-40DA-8E38-885A6DE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92ECB-C5C7-4D5E-90AA-0B640C8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6908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6531C-6CF2-4DCC-A03A-90B2B4E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45348-9919-4197-B73E-C5257FC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9BFF0-C626-4F55-9F78-DE136851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B274A-20E0-40E0-B5C0-5C14084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7376B-C6DF-4C17-A557-CAF41B7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0474B-3968-45A6-90DC-59E0DDA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741B9-9C64-4850-AA2A-CDF67ED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Category: creative-to-media outcome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63ED5-264F-4FC9-8E3B-934B4B38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is positioned between pre-testing, creative analytics, media measurement and AI creative tools. The message: forecast creative impact before media spend.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9A3EB-B4B3-4649-85A4-8CD8568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8640D-5FC1-4366-B5E4-F6CD89C3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A037E-ABBF-43DE-8075-4E9371C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Functional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283A2-4335-4F60-86EE-3ED0F09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Predict readiness and risk before spend.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3F2B3-30B8-4155-88A0-8F7FAC73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6A387-D690-4C75-9352-432FB63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BE63D-637D-4CA2-8D52-C0ACF1C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Emotional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BBA96-EBD3-4038-90B8-0EC9592D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Give CMOs confidence in high-stakes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D6BC4-2F15-4A44-9F28-D0E2ECF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74F9D-9701-4776-951E-6C2FA9C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64760-0057-47FE-B376-3C75D0DE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Economic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48C2-616E-47AF-B127-4DC4AC52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Reduce creative rework and media waste.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B4BD9-44E0-461F-97C4-8643794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D7629-0117-4593-B5F4-69EC29F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95816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728D1-BC59-400B-9133-7397FCC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D2A73-7530-46EB-8AC3-CD96B36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1AAF3-6C05-4DC6-B6B6-474A2107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FD48C-9F39-4D21-B12D-6FA5AEB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8A210-92E4-49A2-81DC-67671B2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14984-9F84-4BEE-9564-9CF3B2AB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ICP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42433-A9AB-4517-9062-F1DBDE1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beachhead is high-volume FMCG creative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F28B-8627-4B3D-921A-A1411A0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FMCG brands have recurring campaigns, large media budgets, category competition, local adaptation pressure and senior visibility. They are ideal early adopters.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A0EE0-A3C7-4D18-AB34-088CE12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0C4C9-92E7-4C60-BD18-18005DB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ICP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9B8DE-4EC7-4D10-9EAC-BF10A2B1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6E737-346E-4F22-8B99-076DBC5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6BA85-AD75-460D-8CF2-37363753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Enterprise FMCG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EEE14-4DF2-43E1-84D5-D8B0BF5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Major campaign, launch, adaptation, low brand lift.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7717C-6373-4B66-A450-C132DF6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B1C5B-8E87-4638-97CC-B061A45B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Creative agency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C46A3-81F6-4738-A1F0-D72EF2CD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Pitch, route selection, client evidence need.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68572-9F50-465C-AE1B-66369D6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5540A-B3E5-4678-B010-F0A6738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Media agency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2C81D-DE9C-43F5-8B4E-25B1DD6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Underperforming campaigns and blame separation.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CA960-67F2-4E38-BEE3-9F29AD2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1DDD5-F388-4681-A366-9DF2EA2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Digital-first brand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C3274-4938-4D1F-BB90-CBA0B7F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High asset volume and fast testing cadence.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4A2D1-1E72-47BC-9394-EAB1174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47C9B-BBB0-4B53-944E-73041CC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87432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5373D-D192-46EF-97DA-2E38DAC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0AD7D-A6D0-44BB-A82A-136B6025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CD01A-F72C-4A7E-AEEB-48FBBB9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298BD-D411-4201-9077-13FCD670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1EDF3-B6EE-4A38-AD44-26994C8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8B43D-4AD6-4A1E-8B7F-85E7F83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BUYER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E96DB-FB5B-4134-BDB8-1FD05B8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Sell to the CMO problem, expand through the operating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DB17D-B586-4A93-B1DD-EB1E2B23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economic buyer wants confidence and accountability. The daily users need faster decisions, clearer fixes and reusable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682D-A6AF-476A-88A4-D905D08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AB499-03CA-4740-B240-A2E69F68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Stakeholder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EF839-9F3D-4578-9B1E-6707390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FD509-5E9D-45F2-B181-3DD97ACE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7CAB1-D98E-44F3-B477-FC6D27E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6BB5F-5EF8-4C08-A963-1D298F0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Know whether the creative or media plan is the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9BF62-04CD-45FF-8F66-13E7764C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72DF9-0DD1-44BC-8E51-AB1D247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Brand Director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CC38B-C85A-4A2B-B1AB-A8B4E3D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 assets before spend.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A2CDF-695E-4CE6-84E0-0269F81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C391-056D-40FC-AB8E-F76B969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Media Director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CC718-E1A5-4280-BDD8-4283BC8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Protect media optimization from creative-led failure.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DD9B4-6025-4413-8C71-7A7D260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F5EC5-2812-4A7A-A65C-D468F510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Agency Partner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32597-A571-485A-A3DB-74469768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Defend creative recommendations with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CBC6B-9A56-491E-ACC2-9A9C60C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19F81-BCA9-4DFD-A3DE-688A784B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11403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15D71-EA78-4CFB-9686-4DB49901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852E-FDAC-41F5-B7AB-5D535BDC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B81A-8EDF-4BD4-AC58-2BF5139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BF19-0BB7-4DC3-9108-C6BF665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558B7-26A3-4C94-808E-217A34D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7EFB3-E16E-4598-88E9-2C47B75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 OFFER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B55A8-8296-447D-9014-2174011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Package a focused Creative Outcome Forecast sprint.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8D887-0FFE-408C-B056-F709C98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compelling pilot should be narrow enough to buy quickly and strategic enough to matter. The strongest pilot: one brand, one campaign pipeline, a competitor set and a senior readout.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381E7-1E70-47E9-9D7F-409F9E5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87BFB-D91F-4163-9D82-F28A9FB9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1 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A15DD-1379-4FCB-97C2-7CF05F73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41D5F-83EF-481B-BF9B-976F3B6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20–50 creatives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FC296-0E15-44B5-B61C-A8B6F87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46E38-F79A-4CA4-B70A-F9A6AA0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3 competitors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F500F-C4A4-44AD-B09F-EE72024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44364-35A6-498B-B874-B3F9CF50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14FE-912E-4554-8831-83C9D0C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09B56-43B8-489B-9377-BFF8873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Expansion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7DE9E-97F9-4493-8F74-D6B4B8C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FF095-C950-4006-9A85-BC6A21DF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41374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6FF6A-EB42-48CF-B02B-7201527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126CB-6247-4553-AEFB-4B62F0E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2118D-3897-4802-9006-1586BBF1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21599-BCC3-48B1-9C51-DA77BF3C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D37F2-EF72-4F6A-B215-89CCF36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E75AD-D573-4DE4-9036-368B389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SALES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48148-6C02-4082-912B-180E4CE2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Lead with one campaign risk; land with a repeatable operating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7DA85-6102-4C95-AEEE-8E8F1FD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first sale should not be a broad platform transformation. Start with a visible campaign decision, prove usefulness, then expand into repository, competitive tracking and Brand DNA.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B3E9D-2408-4142-9850-E9B7A6D1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7E995-54AE-46B6-B98E-EEAD961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512C-4724-4FF2-8D37-89DC415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31097-2837-4379-839C-8E3DEE7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Campaign diagnostic sprint.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70370-5F24-4C41-9451-E2137FD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38776-079E-4A69-81FC-C9100B9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3A972-7855-45EB-80C3-6D2F4582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63409-FE01-4918-8A59-A3BF6FA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Decision changes and stakeholder alignment.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AA33A-F936-4F68-B82E-6BC04584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37991-7683-412C-A397-974DD59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A5CB5-A496-46C1-AB0D-C6520FE9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Expand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051DC-CC45-4277-8BF0-09B7241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Repository, competitors, Brand DNA.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31727-9FD7-4778-8867-75907EA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B1C9F-BA93-4305-94D8-EF3FB6CE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2D30D-63CF-45BB-8760-63DBB04F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Standardize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487BD-D4A2-4BBD-B7CD-AE6DB127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Quarterly creative review cadence.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0151A-54B6-4E34-82C9-9A54695C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A2149-551C-427B-BF74-92B5F12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25892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D826F-005A-4174-BAF0-E6040CD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0B1CB-1F93-43E8-A531-1B7D98B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25E30-91D5-4532-A544-8D70A5F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F03F-8D5B-4657-8A13-1A7C2ED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12CFC-7FA6-4D1E-B616-0190A3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04B2D-E614-49AF-B813-088F8D3B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PROOF OF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F27E0-DCBC-4B27-8292-5C627A3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Measure decision impact before claiming business lift.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41BE0-92B6-414D-A26D-905281A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most credible early proof is operational: faster review cycles, clearer creative fixes, fewer subjective escalations, better asset prioritization, and later correlation with VTR, CTR and brand lift.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938FA-1238-401A-A599-99EC297E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81294-8EB7-4A3E-BBFE-F98C4DC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A4D25-097B-4C14-8431-64B4283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8A620-83F6-4559-9FAD-307505A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B5C90-F7F9-4D78-946C-9E4D8EE1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Decision 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8C8CA-CDDF-4FEA-9834-E0D3608A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Shows workflow value before in-market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D036D-26DC-436D-BC49-4BE670A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25533-566C-4B1C-B328-A3B1EE9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Creative changes made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11292-C997-4472-AF8E-F641E67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Proves the output drives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85ED2-2487-4260-A34F-DB6EAC9D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E1A38-E623-418A-86D4-9DD57BA4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Stakeholder alignment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D0FAF-E889-4AB2-B204-8B8207F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Reduces subjective debate.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9EA09-5863-4232-A569-019F194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60457-DDCD-4DBD-B837-9B8E30C1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Correlation with campaign KPIs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EA3B7-A31F-4F65-A363-E47C7274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Builds long-term validation.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0C5B3-F094-4FB4-A823-EA7B7A3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2C6C1-A8FD-49CE-BD76-96BFFE49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22483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F8458-384B-486A-BEE5-C01ACE9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DCC06-0E2F-4B1A-9C7F-D33E21D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A91CC-33B2-4EBB-B2DD-7BB21BFD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3F584-C149-4F05-A9DB-AF1E21B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541E6-B8EC-4B4F-8B17-8B57DBA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3563B-7B90-4A5F-B641-5CAA670B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PARTNERSHIPS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EBBE8-9083-4A15-8F48-229FB18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Agencies can multiply distribution if the product improves their client conversations.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69457-5A3A-4C90-8EC4-934A1D7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Creative and media agencies can use AdCritIQ as a pitch aid, pre-flight review tool and learning repository. The offer should position them as better advisors, not as being replaced.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68EFE-FEC4-4A8C-9662-2AFCA3E8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5E7A9-5818-4D90-B669-FE8888E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00D55-09DD-4407-8B81-12D7DB13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Creative agencies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ED9E0-3C73-496A-95E6-79BECC1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Route testing and strategic defense.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5B857-77AF-43EB-A3A7-0D1759D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B7FA3-8E2B-41B3-9F5F-91761432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83ACB-2850-4EB2-84CB-15C2013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Media agencies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156C6-44FF-4C4A-A2D2-166A7A6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Creative-readiness input before media plans.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6400F-089D-4E86-80E4-8FA1F2E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84081-79DB-4813-B7FD-ADB7D72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0B48F-B868-47D5-BDA5-451B629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Insights firms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5C552-EB29-4DDE-8E20-301B8F3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Fast pre-test layer before deeper research.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CCE2D-E6F1-4AEE-A3EC-1E688EE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0DE74-8D1D-4F4A-9522-C9D48DD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5201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3BC98-E19C-4BAC-8874-E65B4FE1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5BAD3-0C9D-4FBC-90AC-809FD3D5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88AB1-95D4-428C-BF5E-12B0A9A5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26493-38DC-46EC-9E56-4ACE993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ABE76-43B5-401F-835D-E666F17D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696CF-C78C-4027-96D0-F1CC189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PRICING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7D1B-E5FF-4DD8-8FFE-FBB40301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Start with pilots, then convert to platform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68A00-0249-4EE2-90F2-D2A94CAC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Use a simple ladder: paid pilot, brand license, market license, regional/global license. Keep per-analysis credits for self-serve and smaller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D7294-7ADA-4DAC-B6ED-FF05947A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A607F-2441-4553-8E81-FA143AB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8A3A1-E930-44B0-82C7-15168FB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Recommended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65B71-724D-4612-9C7C-8C12C5A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BBA9F-091A-4AEB-B3FC-12FAE497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Paid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76458-1D25-43F8-A6F4-CD33B2B2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Low-friction proof and boardroom readout.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7503E-A845-4577-8E44-078A92B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69353-902E-4844-9E7D-09F0203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Brand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15CAA-01BB-4F54-903D-D751BEE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One brand team and agency partners.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A27EB-2CC5-40AD-AAB1-8DDB26A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DA32E-D94B-4ECD-B083-5D4A7F33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Market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890E3-289D-494E-9B52-32C6D412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Multiple brands and local adaptation.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2F1BD-19E4-45C7-92E7-5943CB7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9B845-13F9-473E-875F-CCFCCD89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Global enterprise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F8721-A702-4993-9DF9-DA6DD087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Repository, governance, benchmarks and integrations.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52AF8-5AEF-4D62-BC1C-CB5859D6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10B36-0C42-4CC4-8C2B-F4D8F8C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9169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C4304-D3AA-45E5-9EF2-26E66E8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A9610-62F9-4F78-956B-746CEA5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582D3-4A9C-4EFF-8618-89A6362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50A4B-5CB6-4204-9F3A-2F4C16C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C065A-0528-4A6A-9681-9A04810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4C281-0DCA-416C-B2DE-F09B967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GROWTH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551B4-C419-43AD-9245-3FF93978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Every analysis should make the platform more useful.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E5E62-278D-4D0A-8C0C-DEF5FB8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GTM flywheel is not only new users; it is accumulated creative intelligence. Repository data powers Brand DNA, competitive benchmarks, certification thresholds and stronger enterprise renewal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BBF8C-7DED-4620-80BD-98EA4A8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383ED-7C93-4A6C-88E7-7108C0B7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More analyses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DB877-7876-4ED3-94EC-6AD6F5C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F667-6A75-44D3-AA6A-FE07562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More benchmarks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28461-08B0-4B14-8215-AC6E761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802E7-0BB5-420C-99FA-A54387A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Better DNA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61B98-6318-4853-88C4-FBB213E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BCB04-4D71-4AB8-B64C-84C7E38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More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08652-D6EE-405B-867F-48139EA4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A7881-6FD8-4909-ADE9-1E0927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Higher renewal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9C6B1-0A12-49FC-8406-E0CCF11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51AB1-5822-4905-80BD-FA69211F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75880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E1E24-BBD0-4851-BED0-367A17B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A996-1A0C-43FF-8B38-8C26231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BD0D3-81AA-4CE5-90FD-03D7745D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B422A-8CEF-4BE7-81A3-29965EB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1E9B5-D198-4701-AA69-D5F8232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B48D6-4150-4F2A-AC9F-3637429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12-MONTH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2B2D6-6A59-4E37-8F50-3312E6B1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Sequence from proof to repeatable enterprise 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51DB2-5473-4F30-80B8-92014A1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first year should prioritize validation, category benchmarks, enterprise trust and agency partnerships over broad feature sprawl.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64E09-C872-4BAD-BBC2-7525C62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253BA-9819-49CB-83FA-B44C66E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Quarter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6E102-0E6C-46C7-89E1-0034CDE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Milestone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3C3A7-4433-4B2D-8298-BB9EA104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DCD75-5FA1-43E6-8D1C-BF7F5365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Q1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54451-A94C-4553-B5B5-C26F1A67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3 lighthouse pilots and product proof deck.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0439C-41B8-462C-A0A6-47AF8D9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090E3-8156-4617-AB96-5F5451D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Q2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C9BCF-EFA1-4BF8-917F-C4CC661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10 paid pilots and first agency partnership.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5CDD4-6BB4-4BD5-B50B-DA0F9CD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B2C08-1DCA-4821-A0C5-D84164D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Q3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E6DD8-B080-407D-A107-D8344AA0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Category benchmarks and enterprise security package.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B919F-6C3E-403D-A79F-CF8A4DF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5CC00-9680-4B65-A681-AB7F8C7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Q4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3C16E-2D5D-4699-A661-9CB65C5E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3 annual contracts and global rollout playbook.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5DD7C-5517-41D5-8C5A-19AC633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9A954-49D1-4572-9CA0-5529C0B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79032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7E7C0-9F22-493A-AC11-2B921E0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2F99A-7A05-495E-B89D-DDBC610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63ED8-F3BC-4D02-A62C-3FC1359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B3C37-3279-4B73-A934-B4A728A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F53EE-BF9E-4F63-9C98-87F21F80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B0820-62F3-453B-858F-4913B9C8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0AE90-FA9E-4304-B83A-CF1B225E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objections are predictable and manageable.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603C8-A4B5-4FD6-BF38-2785DD9B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Sophisticated buyers will ask about methodology, validation, overclaiming, data privacy and fit with existing research. The answer is conservative positioning and a clear validation roadmap.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3499A-F485-41CB-B7EA-0E30D8F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47F0-73D8-4D1E-A815-EDB2A22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D4280-D368-4888-B292-7484AF2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Methodology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6E04F-2B22-42EC-A572-B0A4B16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Document formulas and research basis.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50F25-9456-4C81-B2E7-FD5C4DA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8220-3B23-4C77-AD28-7E7C7AAC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9502D-5635-4391-8215-890D86EB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74779-3357-46CE-A131-A44C1BBB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Correlate forecasts with campaign KPIs over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DC757-0315-463A-8FCD-E4CB758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592AF-D5C3-4835-89E8-102416C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8F2AC-3E1C-47A1-BE2C-7CA5E3BA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8370D-F8AA-4645-B9D3-451E1FA7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Enterprise data handling and access controls.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86B8C-FE45-411B-9A5E-9B709B60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1AD43-44DF-4F9F-8BD7-9EBC0F4A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FCA66-D9B1-45F0-8973-4AF1BDD7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9CFBC-A07B-4D2A-9D8F-96BEC19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Decision support, not guaranteed lift.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84BCF-7A0D-4DDE-AB13-0A90AC04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FE020-EC3B-46EC-B5BC-2D7E9E5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7103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B75FC-2EB4-44A2-A735-79849398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46D41-761A-4E06-9530-02A9F51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F873E-AF0D-4B60-AD2A-69E0E38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4DD7-6406-489C-94A4-C69AC49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0A918-F458-47F8-8F5C-48EDC1C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48AD2-9D07-4F50-8ADF-4E0CF345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FIRST 10 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1E0E1-0372-47B9-A26D-FAB6FB33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Target accounts where creative spend, politics and learning needs are high.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FCC89-9F65-419A-AA53-9EEA519E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first pipeline should focus on global FMCG and agency ecosystems: Unilever, P&amp;G, Nestlé, Mondelez, Coca-Cola, PepsiCo, L’Oréal, Reckitt/Haleon, WPP/Publicis/Omnicom agencies, and retail media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ACA05-41ED-4956-B667-AEE4A790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561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Prioritize known warm relationships and brands with active campaign pipelines.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Bring a sample forecast and one category-specific competitor example into every pitch.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Avoid selling a generic AI tool; sell the decision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B6C3B-C9D7-4BC1-8A43-0568925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00E42-8839-45B3-B0D6-0828913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21273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9F52F-F49E-4D02-83E7-73542771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38DF-D398-474B-A9BE-953A829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26B8A-089D-4615-A5DD-B2801EA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A435A-E24E-4B9E-B60B-C26CACF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D7340-EA92-43A7-AA41-91BF4EF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64341-634E-4D4F-B111-F81CF978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COMMERCIAL NARRATIVE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6F586-61DF-4C0F-8A3F-80AED5B0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buyer should feel this is risk control, not software experimentation.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B2B58-CA14-4020-A890-4CF6FEB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strongest close is: use AdCritIQ before the next media commitment and identify whether the creative is ready, fixable, risky or wasteful.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71036-C804-40D2-BEA6-AC347D8C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BF74C-1059-446D-9CCD-0E57C9C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7B710-164E-48DC-81F1-03E8752B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 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FE8A3-D4C3-45E4-8E72-6B43263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Clearer go/no-go decisions within weeks.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D3E1E-51EC-4716-98F1-DD16D809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573D5-3AFC-4B9C-8A97-62870529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DA00-C35B-4C28-80A5-48978B80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Enterprise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C66BE-5FB5-431E-B609-C3EA845C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repeatable creative accountability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42569-747D-40D9-A5E3-4CAB5834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2CD74-8D45-4BE9-AEFF-047C517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9A40D-9BCB-437A-ABFF-72DDAF6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Category promise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09E8D-6D9E-4FBA-9D16-028AF41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Benchmarks and competitor movement over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7C0E3-22A1-4E46-976F-D4D5276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BB2F0-0F3B-4789-9E55-30A535F4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51742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67E84-E46A-4F88-A3EB-461B03BE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F9D9D-A12E-4252-BDDC-8CCC304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7E75F-5238-4FF8-98B9-D8804C9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E76FB-1DA2-44D6-8421-CFAA56B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2C65D-C350-47D1-8166-99D6C7C3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715A3-C48E-4F3A-A72F-8F7B2A4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NEXT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81D2D-F86E-49D9-99D3-8BFB0F8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Run one high-stakes pilot and make the output boardroom-visible.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E26FB-C58E-4B70-BF81-72F398C6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Select one upcoming campaign, 20–50 creative assets, and three competitors. Deliver a CMO-ready readout: what to fix, what to scale, where media may be wasted and what learning should enter the brand repository.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A9DAA-C516-4FF5-9A71-D21A73F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14774-57EF-4AF5-B82B-9683D61A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321BF-6109-45FD-9234-51D9005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D7D37-92D5-4F96-8214-D1F7054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D2F30-31C2-4DC4-B1E3-E96F7F89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market, format, production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F7A5F-041C-4417-BC47-1766A005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2F88B-004A-4A6E-832B-D608A96F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612DF-A0F4-4D57-B9BD-760FFCE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5D615-B967-4AF7-AD2C-4EB50860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Signal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64CD2-146E-4C4B-A77E-0452C8A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memory, emotion,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ADAC0-F0DD-40EF-905C-945CE8D4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5D91D-26A3-4D03-A3D5-EDA35D3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FB3B6-1D13-4C1E-B3E4-5693C5F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578E4-15C2-4E45-9272-328776C5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F427E-7B5F-448B-A162-56251537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awareness, intent, response, waste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8C7AB-D1F4-4057-8109-099ECA5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10E14-4E23-440B-A6EC-8B0D148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2B928-048A-457D-B812-8E8E049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957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38867-E236-4281-ACF3-EE5DAD9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A0F65-7502-431B-A2A4-8879BA55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fix, scale, certify, or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841DF-4899-4E0B-BAC5-1AABEA81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GTM Strategy Deck  ·  AdCritIQ™  ·  Just the signal before the spend.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0B6EBE-1996-4DF7-8F20-52246E0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4041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2026-06-13T13:32:22.6080000Z</dcterms:created>
  <dcterms:modified xsi:type="dcterms:W3CDTF">2026-06-13T13:32:22.6080000Z</dcterms:modified>
</coreProperties>
</file>