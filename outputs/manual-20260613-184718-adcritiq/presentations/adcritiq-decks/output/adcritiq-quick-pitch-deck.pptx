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40bb426d7a4812" /><Relationship Type="http://schemas.openxmlformats.org/officeDocument/2006/relationships/extended-properties" Target="/docProps/app.xml" Id="Rcac9d221e05b44e0" /><Relationship Type="http://schemas.openxmlformats.org/officeDocument/2006/relationships/officeDocument" Target="/ppt/presentation.xml" Id="R0e6f176efd054f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bc486e1f104bb5"/>
  </p:sldMasterIdLst>
  <p:notesMasterIdLst>
    <p:notesMasterId xmlns:r="http://schemas.openxmlformats.org/officeDocument/2006/relationships" r:id="R03522c63d7d34f99"/>
  </p:notesMasterIdLst>
  <p:sldIdLst>
    <p:sldId xmlns:r="http://schemas.openxmlformats.org/officeDocument/2006/relationships" id="256" r:id="R09bd6cf7c8bc47eb"/>
    <p:sldId xmlns:r="http://schemas.openxmlformats.org/officeDocument/2006/relationships" id="257" r:id="R2e92db14dc0c41da"/>
    <p:sldId xmlns:r="http://schemas.openxmlformats.org/officeDocument/2006/relationships" id="258" r:id="R2e827423b2224ca2"/>
    <p:sldId xmlns:r="http://schemas.openxmlformats.org/officeDocument/2006/relationships" id="259" r:id="R0659e3a5afb041e1"/>
    <p:sldId xmlns:r="http://schemas.openxmlformats.org/officeDocument/2006/relationships" id="260" r:id="Re2bbd39030eb46da"/>
    <p:sldId xmlns:r="http://schemas.openxmlformats.org/officeDocument/2006/relationships" id="261" r:id="R06cdcc64750f47f8"/>
    <p:sldId xmlns:r="http://schemas.openxmlformats.org/officeDocument/2006/relationships" id="262" r:id="R5f2456bf451d45d6"/>
    <p:sldId xmlns:r="http://schemas.openxmlformats.org/officeDocument/2006/relationships" id="263" r:id="R7b93a416823a4bd8"/>
    <p:sldId xmlns:r="http://schemas.openxmlformats.org/officeDocument/2006/relationships" id="264" r:id="R95170ba60da745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49ffd176e8455d" /><Relationship Type="http://schemas.openxmlformats.org/officeDocument/2006/relationships/slideMaster" Target="/ppt/slideMasters/slideMaster1.xml" Id="Reabc486e1f104bb5" /><Relationship Type="http://schemas.openxmlformats.org/officeDocument/2006/relationships/notesMaster" Target="/ppt/notesMasters/notesMaster1.xml" Id="R03522c63d7d34f99" /><Relationship Type="http://schemas.openxmlformats.org/officeDocument/2006/relationships/presProps" Target="/ppt/presProps.xml" Id="R9c75806057f24fbd" /><Relationship Type="http://schemas.openxmlformats.org/officeDocument/2006/relationships/viewProps" Target="/ppt/viewProps.xml" Id="R67069de8d9724710" /><Relationship Type="http://schemas.openxmlformats.org/officeDocument/2006/relationships/tableStyles" Target="/ppt/tableStyles.xml" Id="R6321266d979a4a2b" /><Relationship Type="http://schemas.openxmlformats.org/officeDocument/2006/relationships/slide" Target="/ppt/slides/slide1.xml" Id="R09bd6cf7c8bc47eb" /><Relationship Type="http://schemas.openxmlformats.org/officeDocument/2006/relationships/slide" Target="/ppt/slides/slide2.xml" Id="R2e92db14dc0c41da" /><Relationship Type="http://schemas.openxmlformats.org/officeDocument/2006/relationships/slide" Target="/ppt/slides/slide3.xml" Id="R2e827423b2224ca2" /><Relationship Type="http://schemas.openxmlformats.org/officeDocument/2006/relationships/slide" Target="/ppt/slides/slide4.xml" Id="R0659e3a5afb041e1" /><Relationship Type="http://schemas.openxmlformats.org/officeDocument/2006/relationships/slide" Target="/ppt/slides/slide5.xml" Id="Re2bbd39030eb46da" /><Relationship Type="http://schemas.openxmlformats.org/officeDocument/2006/relationships/slide" Target="/ppt/slides/slide6.xml" Id="R06cdcc64750f47f8" /><Relationship Type="http://schemas.openxmlformats.org/officeDocument/2006/relationships/slide" Target="/ppt/slides/slide7.xml" Id="R5f2456bf451d45d6" /><Relationship Type="http://schemas.openxmlformats.org/officeDocument/2006/relationships/slide" Target="/ppt/slides/slide8.xml" Id="R7b93a416823a4bd8" /><Relationship Type="http://schemas.openxmlformats.org/officeDocument/2006/relationships/slide" Target="/ppt/slides/slide9.xml" Id="R95170ba60da745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00a0e990f64b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3e0116ae974e55" /><Relationship Type="http://schemas.openxmlformats.org/officeDocument/2006/relationships/notesMaster" Target="/ppt/notesMasters/notesMaster1.xml" Id="R73f4925c295a48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40c6e95e544bf1" /><Relationship Type="http://schemas.openxmlformats.org/officeDocument/2006/relationships/notesMaster" Target="/ppt/notesMasters/notesMaster1.xml" Id="R6e2e075818d345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613f35f592462e" /><Relationship Type="http://schemas.openxmlformats.org/officeDocument/2006/relationships/notesMaster" Target="/ppt/notesMasters/notesMaster1.xml" Id="Rf54ce8bec7614b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13f7df554d40ca" /><Relationship Type="http://schemas.openxmlformats.org/officeDocument/2006/relationships/notesMaster" Target="/ppt/notesMasters/notesMaster1.xml" Id="R69a3f50aab624f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17510051fc45a5" /><Relationship Type="http://schemas.openxmlformats.org/officeDocument/2006/relationships/notesMaster" Target="/ppt/notesMasters/notesMaster1.xml" Id="R74df688a6b1949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316a6a89f242c1" /><Relationship Type="http://schemas.openxmlformats.org/officeDocument/2006/relationships/notesMaster" Target="/ppt/notesMasters/notesMaster1.xml" Id="Ra930dd5fc4dd42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66aca5a0094493" /><Relationship Type="http://schemas.openxmlformats.org/officeDocument/2006/relationships/notesMaster" Target="/ppt/notesMasters/notesMaster1.xml" Id="R7d7f0213ad1f48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1271a6cc92442d" /><Relationship Type="http://schemas.openxmlformats.org/officeDocument/2006/relationships/notesMaster" Target="/ppt/notesMasters/notesMaster1.xml" Id="Rbbc77fe5bfc94b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69698ed5e9457a" /><Relationship Type="http://schemas.openxmlformats.org/officeDocument/2006/relationships/notesMaster" Target="/ppt/notesMasters/notesMaster1.xml" Id="R0a5a1b3c669642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3de39b98b346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a45d378f2243c7" /><Relationship Type="http://schemas.openxmlformats.org/officeDocument/2006/relationships/slideLayout" Target="/ppt/slideLayouts/slideLayout1.xml" Id="Reb1d4989b38745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1d4989b38745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0ddd42bba4a83" /><Relationship Type="http://schemas.openxmlformats.org/officeDocument/2006/relationships/image" Target="/ppt/media/image.png" Id="Rd7e5aa5b3f74427f" /><Relationship Type="http://schemas.openxmlformats.org/officeDocument/2006/relationships/notesSlide" Target="/ppt/notesSlides/notesSlide1.xml" Id="R04e6569a793045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4bcee1d2942b9" /><Relationship Type="http://schemas.openxmlformats.org/officeDocument/2006/relationships/notesSlide" Target="/ppt/notesSlides/notesSlide2.xml" Id="Rbb4bd4f8d8bb40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aee69588247b1" /><Relationship Type="http://schemas.openxmlformats.org/officeDocument/2006/relationships/notesSlide" Target="/ppt/notesSlides/notesSlide3.xml" Id="Re39250ccfa0c46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60dfa4d434c4b" /><Relationship Type="http://schemas.openxmlformats.org/officeDocument/2006/relationships/notesSlide" Target="/ppt/notesSlides/notesSlide4.xml" Id="Rd7bcf6ffc13544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8602aafc94461" /><Relationship Type="http://schemas.openxmlformats.org/officeDocument/2006/relationships/notesSlide" Target="/ppt/notesSlides/notesSlide5.xml" Id="R3aa575e843214b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8be03ac62435b" /><Relationship Type="http://schemas.openxmlformats.org/officeDocument/2006/relationships/notesSlide" Target="/ppt/notesSlides/notesSlide6.xml" Id="R92062d99f11641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d4a9f3b294c4a" /><Relationship Type="http://schemas.openxmlformats.org/officeDocument/2006/relationships/notesSlide" Target="/ppt/notesSlides/notesSlide7.xml" Id="R521cfb7bb81d4b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764376d4a407d" /><Relationship Type="http://schemas.openxmlformats.org/officeDocument/2006/relationships/notesSlide" Target="/ppt/notesSlides/notesSlide8.xml" Id="R0287d2d642624f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a8d77cd3548df" /><Relationship Type="http://schemas.openxmlformats.org/officeDocument/2006/relationships/notesSlide" Target="/ppt/notesSlides/notesSlide9.xml" Id="Rbe580c4b35a84b8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3ECC6-CE23-4CBD-8AD3-840C46D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BA091-3444-4C55-9327-14088AFB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3F1E6-646B-4B9A-9AB9-496A5BA7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DE269-DD80-427D-BA4C-FE4D7A9B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5aa5b3f74427f"/>
          <a:stretch xmlns:a="http://schemas.openxmlformats.org/drawingml/2006/main"/>
        </p:blipFill>
        <p:spPr>
          <a:xfrm xmlns:a="http://schemas.openxmlformats.org/drawingml/2006/main">
            <a:off x="689967" y="514350"/>
            <a:ext cx="2325291" cy="72342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5E2A4-864E-4F31-A338-08D801F3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QUICK 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BE772-A98E-48F3-B0F7-D6E28F81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809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AdCritIQ forecasts creative impact before media spend.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03D37-E271-4E68-8093-5725373C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685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 concise pitch for investors, CMOs and strategic partners.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C264F-6BF9-46A2-B2DA-067067F5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D7B762">
                <a:alpha val="2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89072-7B9A-4237-B259-8102A642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4F927-5E64-4184-9CCD-FB20E4D6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The 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3430B-0C9A-4425-BFB0-9CAEB975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Media buys exposure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Creative decides memory, action or waste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AdCritIQ gives the signal before spend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2E02A-4E04-459B-B85C-966F6155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June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27F43-0410-40A8-B577-3315A57F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Quick Pitch Deck  ·  AdCritIQ™  ·  Just the signal before the spend.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4E72C-E23C-4B69-B633-FE8B971B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9897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B2B39-9921-474E-9167-36465422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2AB88-4DEF-40AC-B0C6-AC98C494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66033-EF8B-488F-A4D8-CB8328A9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85E05-3642-4E40-BE76-F47591E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C9E07-BAA2-4030-9985-B9A0B542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4393F-048C-41DE-80A5-0716C5E6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WHAT IT 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196C4-CE1B-4CE4-A109-DC447761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 creative-to-media outcome intelligence platform.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D87B4-F484-48F5-B3FF-EB6B8C8D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analyses creative assets and predicts whether exposure is likely to become awareness, consideration, purchase intent, response or media waste.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249AA-208D-4E36-9DB0-0C7372C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70A47-62AF-42DB-8318-1D484489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6E973-D319-4BEE-B4BF-DCF60515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668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3D6D4-D875-4CFF-9C50-49903FEC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192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Creative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A7B3A-6AD7-43D6-ADA6-DD55373D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668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brand, market, format, production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9C0DF-3FAE-4844-975E-B4A880A4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2A3EE-0364-4EE6-8877-4342B2FF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B7E21-9501-4747-A4C8-F1B6C5E0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431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E6898-4AD5-4777-9363-211F2B97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Signal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84785-7F26-4CAD-89B8-57E27B19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attention, memory, emotion, compliance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C8673-A2CE-4EEF-BEB7-458CD3F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A3159-90A3-4C47-BA9A-9D7E2F6A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F7F73-CF85-4E34-9D09-B9A5A551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194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77E38-222D-4BFB-A60E-3014D477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Outcome Forecast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F869C5-78F5-4C01-BF95-22D61E58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awareness, intent, response, waste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9D722-5C45-41CE-8A7A-5DFF8D41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EE0BF-579D-4B59-9320-6602583E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4DA19-4E41-474A-BC55-E05E32D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957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BA394-2891-44BC-9B1A-F6449956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6EF67-1CA8-4403-A4D9-CC1F0FEF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fix, scale, certify, or benchmark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1E38DF-DC4C-4D87-93D9-B42B27C5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Quick Pitch Deck  ·  AdCritIQ™  ·  Just the signal before the spend.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DDD4E-F2D2-4A5C-B647-D34561E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73607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FB24E7-C3B1-4894-9D9D-5D05E90A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1CB01-5A1F-42C3-B884-5F2BEDAC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EFE44-5C35-4881-AD89-A5908A09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28A59-727B-47FF-AFDD-BB2EC4BE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BB9D3-AEBC-4CAF-A67B-74421DE2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4E66A-4664-4F9F-9B58-AD0589A7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F029F-20A7-4D89-9A2D-E74F7F6E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Creative is judged before launch, but measured after money is spent.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9DF60-8046-4869-8F09-FF360CD6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Campaign teams have deep media dashboards, but creative readiness is often debated subjectively. When results disappoint, media gets blamed before creative risk is understood.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DE505-A4C9-4F16-AFD9-DE56DDEC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B96F6-87B8-440F-B09D-25FBAE26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D5245-C5D1-4D48-9045-1ECEC6AB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rPr>
              <a:t>Subjective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6673A-E0BF-4B00-8C0D-9B47ECDF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Creative reviews depend on opinion.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5A070-83C9-4C92-B680-17BC87F0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28559-B275-48C8-A3C8-8E87A24D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46F10-13A8-42CE-95FB-71A00167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A93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0A93A"/>
                </a:solidFill>
                <a:latin typeface="Aptos Mono"/>
                <a:ea typeface="Aptos Mono"/>
                <a:cs typeface="Aptos Mono"/>
              </a:rPr>
              <a:t>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D60D9-5523-43F4-9546-D6A70EE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Research often arrives after launch.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57665-305E-4D4F-9223-A466A21F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0E586-0AFE-4D49-AE92-ADCEE5DE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FD07B-4D39-4A84-BEB4-7671012D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Costly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40C34-1139-4CD7-BB7A-76C4B19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Weak assets waste production and media.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15F59-7112-4E38-994C-68EE838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Quick Pitch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C345E-7A0C-47C5-A4CE-6BECC57C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14714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9EBD7C-55E5-474D-A008-5DF1BB0E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24026-5D72-4FF6-B539-C9A77AC3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009C8-D357-42BE-9D41-336796BA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5D914-CAE1-4BE3-AE3A-E84D180B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39CE3-316B-4B82-A9D3-3A0C88D4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FBF97-A2AC-434E-9843-6A640844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WHY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13B11-E229-4516-848B-91040FF3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AI makes more creative possible; AdCritIQ decides what deserves spend.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0FB35-5F10-4B11-B24F-91E7DB52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As creative volume increases across formats and markets, enterprises need a predictive filter that works before production and before media scale.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0A113-4D78-4D83-834A-344D2B1C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0DDCF-1FCE-41FD-8791-9F5DE686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192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CREATIVE FORMATS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B0A05-5268-4EAF-9CF5-00AAD3AA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90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3C7D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3C7D9"/>
                </a:solidFill>
                <a:latin typeface="Aptos"/>
                <a:ea typeface="Aptos"/>
                <a:cs typeface="Aptos"/>
              </a:rPr>
              <a:t>5+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57262-FF13-4CDE-B7DF-2A4964F2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954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0D9DF-DB79-44E4-8AE4-230802CB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4192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PLATFORMS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B6EDF-1052-405C-BF77-CF5C6EC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590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3D39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3D394"/>
                </a:solidFill>
                <a:latin typeface="Aptos"/>
                <a:ea typeface="Aptos"/>
                <a:cs typeface="Aptos"/>
              </a:rPr>
              <a:t>9+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511E7-9F07-45CF-BAD0-8C76D105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BDCBA-BD82-475E-82D2-689F67DD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955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LIFECYCLE STAGES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CE087-CEDA-48CC-BCC4-903AF932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7B76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701E9-1CE2-4371-ADE2-ED3D913F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717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337CA-C037-4892-B52D-C56C8494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955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83CF8-041B-45E9-9CBB-769C4D62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669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CMO-ready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91C78-1054-4CBA-A707-E3B3E8D3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Quick Pitch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D13AF-A5D5-4067-8B59-8BD2C945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43037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DFF2C-6833-4DC1-B65D-4A045C27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3849D-CAE1-4A1F-A326-810B6DD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F8264-73E9-4234-BE63-81EC88A4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908FA-0B3F-44B6-A0F3-70250DF7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1B5F7-4D4D-4868-B83F-6C3BB4F5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3D90B-2075-4425-9846-1F7B15A1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B8981-C270-4338-8F95-BF892B33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Upload. Diagnose. Forecast. Decide.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F1C4E-597A-4A40-A2F0-68BCB64E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product covers intake, neural diagnostics, attention, emotion, platform scores, outcome forecast, strategic insights, CMO actions, repository, competitive intelligence, Brand DNA and certification.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586A9-8227-4720-BCA1-C6A52945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477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9412"/>
            </a:srgbClr>
          </a:solidFill>
          <a:ln xmlns:a="http://schemas.openxmlformats.org/drawingml/2006/main" w="9525">
            <a:solidFill>
              <a:srgbClr val="D7B762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0AA44-78C3-4287-AAD2-87B66187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2382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DE9E9-E1CD-43D9-B10C-5A6E7E25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10477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9412"/>
            </a:srgbClr>
          </a:solidFill>
          <a:ln xmlns:a="http://schemas.openxmlformats.org/drawingml/2006/main" w="9525">
            <a:solidFill>
              <a:srgbClr val="23C7D9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6965A-C384-4884-A6D6-3BB8BFD1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12382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Neural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81D6B-C16C-43FC-89F9-4CDBB418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10477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9412"/>
            </a:srgbClr>
          </a:solidFill>
          <a:ln xmlns:a="http://schemas.openxmlformats.org/drawingml/2006/main" w="9525">
            <a:solidFill>
              <a:srgbClr val="63D394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5C112-05A9-4031-9672-8A50CE03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12382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2FADA-48F3-4595-B4BC-BE5AEA75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9412"/>
            </a:srgbClr>
          </a:solidFill>
          <a:ln xmlns:a="http://schemas.openxmlformats.org/drawingml/2006/main" w="9525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36F74-6014-4BDB-A4A0-655BF892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383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Emotion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ACFC7-72ED-4A94-9007-BC9C03BD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18478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FA7">
              <a:alpha val="9412"/>
            </a:srgbClr>
          </a:solidFill>
          <a:ln xmlns:a="http://schemas.openxmlformats.org/drawingml/2006/main" w="9525">
            <a:solidFill>
              <a:srgbClr val="35BFA7">
                <a:alpha val="4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BE9BF-EBFE-46E0-8905-6B9DF15E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20383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Platform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FF608-BA9E-487B-86E2-CF076A2A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18478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93A">
              <a:alpha val="9412"/>
            </a:srgbClr>
          </a:solidFill>
          <a:ln xmlns:a="http://schemas.openxmlformats.org/drawingml/2006/main" w="9525">
            <a:solidFill>
              <a:srgbClr val="F0A93A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33F54-D070-47BF-B699-B2551A08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20383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Outcome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E1FA5-BE90-4912-B99D-2B8227AA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479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9412"/>
            </a:srgbClr>
          </a:solidFill>
          <a:ln xmlns:a="http://schemas.openxmlformats.org/drawingml/2006/main" w="9525">
            <a:solidFill>
              <a:srgbClr val="D7B762">
                <a:alpha val="4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67B88-9389-4BD5-82EC-F14F4D04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384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Playbook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F212B-9EE4-4B06-B795-6DAD6D0D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26479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1CE">
              <a:alpha val="9412"/>
            </a:srgbClr>
          </a:solidFill>
          <a:ln xmlns:a="http://schemas.openxmlformats.org/drawingml/2006/main" w="9525">
            <a:solidFill>
              <a:srgbClr val="B6B1CE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531CCA-2DF8-41AD-95BC-93EBDF3D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28384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1D007-8A94-4346-B082-9A862D4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26479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>
              <a:alpha val="9412"/>
            </a:srgbClr>
          </a:solidFill>
          <a:ln xmlns:a="http://schemas.openxmlformats.org/drawingml/2006/main" w="9525">
            <a:solidFill>
              <a:srgbClr val="F26D82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1CD11-DC66-47B8-BFED-C58079EA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28384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Competitive Intel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4189F-C2C3-4D10-82F3-4E886F3E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480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9412"/>
            </a:srgbClr>
          </a:solidFill>
          <a:ln xmlns:a="http://schemas.openxmlformats.org/drawingml/2006/main" w="9525">
            <a:solidFill>
              <a:srgbClr val="23C7D9">
                <a:alpha val="4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26507-5F5A-43B3-8B05-81EF368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6385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Brand DNA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50299-1686-4622-8634-87F5D127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34480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9412"/>
            </a:srgbClr>
          </a:solidFill>
          <a:ln xmlns:a="http://schemas.openxmlformats.org/drawingml/2006/main" w="9525">
            <a:solidFill>
              <a:srgbClr val="63D394">
                <a:alpha val="4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800AF4-8874-4E80-AF14-7BC85197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36385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Certification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A7BA0E-8B74-4558-A03C-924EFA6E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34480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9412"/>
            </a:srgbClr>
          </a:solidFill>
          <a:ln xmlns:a="http://schemas.openxmlformats.org/drawingml/2006/main" w="9525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F61E08-9FC5-4686-80CF-1BB71E0C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36385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NeurIQ 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B6A842-6FEB-46D7-8BB8-4B24AE82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Quick Pitch Deck  ·  AdCritIQ™  ·  Just the signal before the spend.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3C06A3-D7C2-4214-A9A5-38937B97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17020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76996-A27E-4DFB-9760-638D6C8A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D9184-DD23-4EF8-BC40-5233C75A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6324B-CDCA-4F1D-AC9D-B17B43CD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647C2-7673-4101-A22D-67448396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EB347-29A1-4431-9405-D9C4398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CB0B9-2DBA-405E-82EF-394D1E45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USE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B557B-EF2D-4402-A345-95A577F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High-value workflows for brands and agencies.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A5573-589C-457C-92E7-01D727A5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Use AdCritIQ for pre-campaign diagnostics, concept and storyboard testing, platform adaptation, competitive creative benchmarking, agency pitch support, performance learning and brand governance.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B3C67-1BF1-4506-B16C-735515E4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4B867-D662-4E02-BE39-7C108EB8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37F78-60B1-45FC-8D80-20FA7E3E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Decision improved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95911-F15B-4A30-BDA3-429120F6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9E0A2-EEB9-4810-81F7-F334FA85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Pre-testing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1D006-6B0A-4EEB-AC41-6A8E0865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Which creative should be fixed or scaled.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FA07D-8B2F-4036-9650-26F89967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F05F5-A8CD-481C-9266-923ABE8D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Competitive Intel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E42C0-356F-4A97-AB8D-43E7296D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How competitor creative pressure is moving.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B2F32-F625-403A-B062-6B52AFCE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EA6C4-7660-4C29-BF50-5F3DAF07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Brand DNA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D549B-E8D8-42A8-8A3A-A8F2831D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Whether new work reinforces brand identity.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CE2EB-FE26-4562-AA47-2C0E469A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8E69DE-38D2-4839-9A45-D93B51B3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CMO Playbook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0DD82-8257-4E2F-9682-253C7C68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What action should happen next.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4824A-5D25-44A2-979B-EB6FB370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Quick Pitch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498BC-6910-40F7-8068-9B6FF236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14033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5E3D0-55A5-4223-AF22-9FD3986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E2AEB-9C84-4133-958B-17438FA3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67625-6A0E-4545-80D9-55C77A47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F9869-D53F-478A-9BD9-9FFEBEB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B2BA1-904E-4598-8FCE-56E28C33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C3FB7-EAC1-4F7E-AB7C-B7160013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BUSINESS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8CC00-AFDB-478C-A9EC-69114EB8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Separate creative-led risk from media-dependent risk.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1FFE0-A4FA-4076-99DE-79A009C8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gives marketers a shared language for whether the problem is attention, memory, message clarity, platform fit, brand linkage, compliance, or media dependency.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309EE-3112-44ED-BF6B-1401C5FF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3CFDF-E903-47AA-BFC5-65D6D962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7573F-EAAB-4D4E-B4DC-D5F52B3E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Reduce waste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792A0-7B0A-4E28-9F7D-32A50B44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Avoid scaling weak creative.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61194-E235-4F91-835A-2F00A14D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56DBE-8E36-41C2-924E-67ED3740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AACFE-59F6-432B-A428-24500448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Improve alignment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8ABA0-815E-4379-A7E6-172C48DD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Move debate from taste to signal.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AD8E5-8460-41E8-A0B2-BD563BE8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4FB6F-A02F-4C9E-B49E-831587DC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E0EF4-B091-4DB5-80CE-99B2A7E2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Protect brands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A4F7F-ABB6-400F-8F02-B7487C4F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Track DNA and governance.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B3758-5AC9-4216-BDC4-310A206F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Quick Pitch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50AB4-F549-4703-874C-BC8F8672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61106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DA2E87-1687-4389-BE36-E0064DCB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91807-4368-4FEB-8A05-859D7616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EEE15-171C-412F-9F39-8447C5C5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C5CAB-AB10-4AC5-91E3-42E93B0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F2022-5002-4EDB-B9FE-84B793DF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CF688-634E-45D5-A969-61DADBA9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WHY ADCRITIQ WINS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9FC83-C3AA-4F4A-9DFA-0B78A886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Pre-spend, format-aware, platform-aware and outcome-linked.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6F7CD-8496-41A8-A667-4A09FCEA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Unlike generic AI scoring or post-campaign dashboards, AdCritIQ is designed to sit before budget commitment and create an accumulating creative intelligence repository.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988E2-26C6-4D59-9E33-71FC2FA6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97F4C-C4FA-4675-BF06-55408C0A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D91F2-778C-4F18-9F8C-C0C8845C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Before 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88DF7-2BC9-40CE-B307-05C55BC3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Decision signal before spend.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377F4-B46B-4A37-AAE0-5584F82D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5E369-6881-43D9-A924-5FFF97B3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8A9E8-89A9-4ED7-9E7A-0B614ABB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Across formats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E214F-2A5A-4111-944D-7727351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Video, static, motion, audio and 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2C7EB-955E-45B8-B0D8-4AD96FCA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72FB9-85D7-4250-919D-56A804D5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EF0E2-5C00-45DC-B1F0-8A0C5BAF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Over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2EB16-D623-49D0-AA48-4E9D7DC3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Repository, DNA and benchmarks.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47A95-2324-4A51-9FD3-20C37F73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Quick Pitch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619F0-0D5A-4619-A55E-225214E2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83155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FF3237-B101-4711-A16B-B4B67EAE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9CD8D-6B1F-432D-A649-ACE8B859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7BE65-9FE6-4590-880F-3CBAD1EA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176C2-7464-4A26-A188-95051FE1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46684-79B9-4297-BCF3-8AECD5A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78940-6FAC-4744-9812-C666CEE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PILOT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38DC7-13D4-480A-8F85-F67AAA24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Start with one brand and one campaign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D0214-5981-4B6E-92E2-38AB8105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Run a 4–6 week pilot across 20–50 assets and three competitors. Deliver an executive readout showing what to fix, scale, benchmark or reject before media money moves.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89FF7-FBB6-4C82-A392-EC897E28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215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D6630-3F84-4834-82DB-77BB50A0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00175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Select brand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0138B-3FB8-4621-879D-A046057D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6215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A387F-A9AC-4F9D-B23D-84CA5C13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05025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Analyse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7C573-9408-4D55-8CBF-CD560EA5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3105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DD49E-7CE5-46B9-B2AE-46ECB7A0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7E261-05E0-405F-9868-ECBAFF4F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718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0DCB4-6A1D-47DD-9352-1A2FB9D6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readout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E02C8-9EA0-4EDE-B86C-02EE6B0E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>
              <a:alpha val="9412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3C465-6C28-4A16-8F7A-1452A245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95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Enterprise rollout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A189F-3B95-4050-97A4-AB1B2EDF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Quick Pitch Deck  ·  AdCritIQ™  ·  Just the signal before the spend.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FBF3E-289F-49F1-97EA-D8014E8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8006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2026-06-13T13:32:23.3540000Z</dcterms:created>
  <dcterms:modified xsi:type="dcterms:W3CDTF">2026-06-13T13:32:23.3540000Z</dcterms:modified>
</coreProperties>
</file>