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a6a64feaa4873" /><Relationship Type="http://schemas.openxmlformats.org/officeDocument/2006/relationships/extended-properties" Target="/docProps/app.xml" Id="Re27cac674cbf4953" /><Relationship Type="http://schemas.openxmlformats.org/officeDocument/2006/relationships/officeDocument" Target="/ppt/presentation.xml" Id="R9abf153a1b2c49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b4acdaca0e4735"/>
  </p:sldMasterIdLst>
  <p:notesMasterIdLst>
    <p:notesMasterId xmlns:r="http://schemas.openxmlformats.org/officeDocument/2006/relationships" r:id="Rcb1e71e33b2f46d7"/>
  </p:notesMasterIdLst>
  <p:sldIdLst>
    <p:sldId xmlns:r="http://schemas.openxmlformats.org/officeDocument/2006/relationships" id="256" r:id="R272655149a14491d"/>
    <p:sldId xmlns:r="http://schemas.openxmlformats.org/officeDocument/2006/relationships" id="257" r:id="Rf707d50a51814be5"/>
    <p:sldId xmlns:r="http://schemas.openxmlformats.org/officeDocument/2006/relationships" id="258" r:id="R1c632462b5804d55"/>
    <p:sldId xmlns:r="http://schemas.openxmlformats.org/officeDocument/2006/relationships" id="259" r:id="Rdaecdf34ff524859"/>
    <p:sldId xmlns:r="http://schemas.openxmlformats.org/officeDocument/2006/relationships" id="260" r:id="R07514b7bd3a043e2"/>
    <p:sldId xmlns:r="http://schemas.openxmlformats.org/officeDocument/2006/relationships" id="261" r:id="Rb1e8c5d4927a4045"/>
    <p:sldId xmlns:r="http://schemas.openxmlformats.org/officeDocument/2006/relationships" id="262" r:id="R9962ef8c71ab4a71"/>
    <p:sldId xmlns:r="http://schemas.openxmlformats.org/officeDocument/2006/relationships" id="263" r:id="R5a53759049934131"/>
    <p:sldId xmlns:r="http://schemas.openxmlformats.org/officeDocument/2006/relationships" id="264" r:id="Radeee1a9c97242d1"/>
    <p:sldId xmlns:r="http://schemas.openxmlformats.org/officeDocument/2006/relationships" id="265" r:id="R2ec22d87e7cc4078"/>
    <p:sldId xmlns:r="http://schemas.openxmlformats.org/officeDocument/2006/relationships" id="266" r:id="Rfe8745f1bda24e48"/>
    <p:sldId xmlns:r="http://schemas.openxmlformats.org/officeDocument/2006/relationships" id="267" r:id="R36d7c28b5e82456d"/>
    <p:sldId xmlns:r="http://schemas.openxmlformats.org/officeDocument/2006/relationships" id="268" r:id="R3fa577db5f5744a5"/>
    <p:sldId xmlns:r="http://schemas.openxmlformats.org/officeDocument/2006/relationships" id="269" r:id="Rb801979284c64ad9"/>
    <p:sldId xmlns:r="http://schemas.openxmlformats.org/officeDocument/2006/relationships" id="270" r:id="Rf7f8be339d8548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07e9cdd07489c" /><Relationship Type="http://schemas.openxmlformats.org/officeDocument/2006/relationships/slideMaster" Target="/ppt/slideMasters/slideMaster1.xml" Id="R63b4acdaca0e4735" /><Relationship Type="http://schemas.openxmlformats.org/officeDocument/2006/relationships/notesMaster" Target="/ppt/notesMasters/notesMaster1.xml" Id="Rcb1e71e33b2f46d7" /><Relationship Type="http://schemas.openxmlformats.org/officeDocument/2006/relationships/presProps" Target="/ppt/presProps.xml" Id="R6e27e797ab7a4649" /><Relationship Type="http://schemas.openxmlformats.org/officeDocument/2006/relationships/viewProps" Target="/ppt/viewProps.xml" Id="R482fdc975a594cfe" /><Relationship Type="http://schemas.openxmlformats.org/officeDocument/2006/relationships/tableStyles" Target="/ppt/tableStyles.xml" Id="R2e811d7284b740a8" /><Relationship Type="http://schemas.openxmlformats.org/officeDocument/2006/relationships/slide" Target="/ppt/slides/slide1.xml" Id="R272655149a14491d" /><Relationship Type="http://schemas.openxmlformats.org/officeDocument/2006/relationships/slide" Target="/ppt/slides/slide2.xml" Id="Rf707d50a51814be5" /><Relationship Type="http://schemas.openxmlformats.org/officeDocument/2006/relationships/slide" Target="/ppt/slides/slide3.xml" Id="R1c632462b5804d55" /><Relationship Type="http://schemas.openxmlformats.org/officeDocument/2006/relationships/slide" Target="/ppt/slides/slide4.xml" Id="Rdaecdf34ff524859" /><Relationship Type="http://schemas.openxmlformats.org/officeDocument/2006/relationships/slide" Target="/ppt/slides/slide5.xml" Id="R07514b7bd3a043e2" /><Relationship Type="http://schemas.openxmlformats.org/officeDocument/2006/relationships/slide" Target="/ppt/slides/slide6.xml" Id="Rb1e8c5d4927a4045" /><Relationship Type="http://schemas.openxmlformats.org/officeDocument/2006/relationships/slide" Target="/ppt/slides/slide7.xml" Id="R9962ef8c71ab4a71" /><Relationship Type="http://schemas.openxmlformats.org/officeDocument/2006/relationships/slide" Target="/ppt/slides/slide8.xml" Id="R5a53759049934131" /><Relationship Type="http://schemas.openxmlformats.org/officeDocument/2006/relationships/slide" Target="/ppt/slides/slide9.xml" Id="Radeee1a9c97242d1" /><Relationship Type="http://schemas.openxmlformats.org/officeDocument/2006/relationships/slide" Target="/ppt/slides/slide10.xml" Id="R2ec22d87e7cc4078" /><Relationship Type="http://schemas.openxmlformats.org/officeDocument/2006/relationships/slide" Target="/ppt/slides/slide11.xml" Id="Rfe8745f1bda24e48" /><Relationship Type="http://schemas.openxmlformats.org/officeDocument/2006/relationships/slide" Target="/ppt/slides/slide12.xml" Id="R36d7c28b5e82456d" /><Relationship Type="http://schemas.openxmlformats.org/officeDocument/2006/relationships/slide" Target="/ppt/slides/slide13.xml" Id="R3fa577db5f5744a5" /><Relationship Type="http://schemas.openxmlformats.org/officeDocument/2006/relationships/slide" Target="/ppt/slides/slide14.xml" Id="Rb801979284c64ad9" /><Relationship Type="http://schemas.openxmlformats.org/officeDocument/2006/relationships/slide" Target="/ppt/slides/slide15.xml" Id="Rf7f8be339d85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8cda47ea9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2a8b300224f11" /><Relationship Type="http://schemas.openxmlformats.org/officeDocument/2006/relationships/notesMaster" Target="/ppt/notesMasters/notesMaster1.xml" Id="R6c2c1412a3524d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ea2da2fe17442a" /><Relationship Type="http://schemas.openxmlformats.org/officeDocument/2006/relationships/notesMaster" Target="/ppt/notesMasters/notesMaster1.xml" Id="R6cc2a6f33786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74ac7ff6d24240" /><Relationship Type="http://schemas.openxmlformats.org/officeDocument/2006/relationships/notesMaster" Target="/ppt/notesMasters/notesMaster1.xml" Id="R3cf254cb40b2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7ad27a41fd4dd7" /><Relationship Type="http://schemas.openxmlformats.org/officeDocument/2006/relationships/notesMaster" Target="/ppt/notesMasters/notesMaster1.xml" Id="Rdb0b7359db71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7488816dcf4c2a" /><Relationship Type="http://schemas.openxmlformats.org/officeDocument/2006/relationships/notesMaster" Target="/ppt/notesMasters/notesMaster1.xml" Id="R4749fb33dcb5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582ab7db6f4620" /><Relationship Type="http://schemas.openxmlformats.org/officeDocument/2006/relationships/notesMaster" Target="/ppt/notesMasters/notesMaster1.xml" Id="R1ba838c67c074e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e07f116a3547bd" /><Relationship Type="http://schemas.openxmlformats.org/officeDocument/2006/relationships/notesMaster" Target="/ppt/notesMasters/notesMaster1.xml" Id="R0191f72f5061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39fb2af04b482c" /><Relationship Type="http://schemas.openxmlformats.org/officeDocument/2006/relationships/notesMaster" Target="/ppt/notesMasters/notesMaster1.xml" Id="R491c8f99e5e342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a28574d96646c9" /><Relationship Type="http://schemas.openxmlformats.org/officeDocument/2006/relationships/notesMaster" Target="/ppt/notesMasters/notesMaster1.xml" Id="R49b137f684664e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e14340e224f38" /><Relationship Type="http://schemas.openxmlformats.org/officeDocument/2006/relationships/notesMaster" Target="/ppt/notesMasters/notesMaster1.xml" Id="Rc045dddf71864d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8475054edf4c6f" /><Relationship Type="http://schemas.openxmlformats.org/officeDocument/2006/relationships/notesMaster" Target="/ppt/notesMasters/notesMaster1.xml" Id="R4f8bcbb2d7e64f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335ffa515c4acf" /><Relationship Type="http://schemas.openxmlformats.org/officeDocument/2006/relationships/notesMaster" Target="/ppt/notesMasters/notesMaster1.xml" Id="Refccadc8d5f74f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06a394a02244ed" /><Relationship Type="http://schemas.openxmlformats.org/officeDocument/2006/relationships/notesMaster" Target="/ppt/notesMasters/notesMaster1.xml" Id="Rfe761d0c5e7a4f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b9817c5f4b42d3" /><Relationship Type="http://schemas.openxmlformats.org/officeDocument/2006/relationships/notesMaster" Target="/ppt/notesMasters/notesMaster1.xml" Id="R0b178e7ffe024b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cfafab81ba4d0f" /><Relationship Type="http://schemas.openxmlformats.org/officeDocument/2006/relationships/notesMaster" Target="/ppt/notesMasters/notesMaster1.xml" Id="Rfb28dd88d6cc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9775865cb4e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55d428ed54e44" /><Relationship Type="http://schemas.openxmlformats.org/officeDocument/2006/relationships/slideLayout" Target="/ppt/slideLayouts/slideLayout1.xml" Id="R880253f1047147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0253f1047147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5475ea3a4401e" /><Relationship Type="http://schemas.openxmlformats.org/officeDocument/2006/relationships/image" Target="/ppt/media/image.png" Id="R8739df8b2c1148c4" /><Relationship Type="http://schemas.openxmlformats.org/officeDocument/2006/relationships/notesSlide" Target="/ppt/notesSlides/notesSlide1.xml" Id="Rb60c13bbeeb64f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2da026744df6" /><Relationship Type="http://schemas.openxmlformats.org/officeDocument/2006/relationships/notesSlide" Target="/ppt/notesSlides/notesSlide2.xml" Id="R1203fc9336494b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0046ffa364971" /><Relationship Type="http://schemas.openxmlformats.org/officeDocument/2006/relationships/notesSlide" Target="/ppt/notesSlides/notesSlide3.xml" Id="Rd63884d5f19141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db261f2844adb" /><Relationship Type="http://schemas.openxmlformats.org/officeDocument/2006/relationships/notesSlide" Target="/ppt/notesSlides/notesSlide4.xml" Id="R47bb2ea3b7b64c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99a3d2b5a4c07" /><Relationship Type="http://schemas.openxmlformats.org/officeDocument/2006/relationships/notesSlide" Target="/ppt/notesSlides/notesSlide5.xml" Id="R68b7567fa0ad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bfc8c8b4439f" /><Relationship Type="http://schemas.openxmlformats.org/officeDocument/2006/relationships/notesSlide" Target="/ppt/notesSlides/notesSlide6.xml" Id="R77233660e10d4d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3b7e131824628" /><Relationship Type="http://schemas.openxmlformats.org/officeDocument/2006/relationships/notesSlide" Target="/ppt/notesSlides/notesSlide7.xml" Id="R2b9b032dbe9246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10dfe1e9142f3" /><Relationship Type="http://schemas.openxmlformats.org/officeDocument/2006/relationships/notesSlide" Target="/ppt/notesSlides/notesSlide8.xml" Id="Rbeaf4a0d061c43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e405ab8f64c9e" /><Relationship Type="http://schemas.openxmlformats.org/officeDocument/2006/relationships/notesSlide" Target="/ppt/notesSlides/notesSlide9.xml" Id="R6e7c5d6e4b834e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a71fb775a4695" /><Relationship Type="http://schemas.openxmlformats.org/officeDocument/2006/relationships/notesSlide" Target="/ppt/notesSlides/notesSlide10.xml" Id="R6fb02e623cb340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94c5522b44f06" /><Relationship Type="http://schemas.openxmlformats.org/officeDocument/2006/relationships/notesSlide" Target="/ppt/notesSlides/notesSlide11.xml" Id="R04611c26f9f04e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5cdcbcc0642f8" /><Relationship Type="http://schemas.openxmlformats.org/officeDocument/2006/relationships/notesSlide" Target="/ppt/notesSlides/notesSlide12.xml" Id="R9acb22619b9946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52b4de9f641b6" /><Relationship Type="http://schemas.openxmlformats.org/officeDocument/2006/relationships/notesSlide" Target="/ppt/notesSlides/notesSlide13.xml" Id="Rea1a75881cef42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31322d720435e" /><Relationship Type="http://schemas.openxmlformats.org/officeDocument/2006/relationships/notesSlide" Target="/ppt/notesSlides/notesSlide14.xml" Id="R17b95fcf740141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cdf333f2f4609" /><Relationship Type="http://schemas.openxmlformats.org/officeDocument/2006/relationships/notesSlide" Target="/ppt/notesSlides/notesSlide15.xml" Id="R8463921b416d42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FCF24-C9BF-40F5-8AA4-E38B31C7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8ECC6-3438-4E72-B935-58DDBA41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4EC28-F934-4E94-AB4C-55555578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843ED-A58D-40BC-A78E-2DACDE2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9df8b2c1148c4"/>
          <a:stretch xmlns:a="http://schemas.openxmlformats.org/drawingml/2006/main"/>
        </p:blipFill>
        <p:spPr>
          <a:xfrm xmlns:a="http://schemas.openxmlformats.org/drawingml/2006/main">
            <a:off x="689967" y="514350"/>
            <a:ext cx="2325291" cy="72342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918CE-D387-41F2-BC4F-4884CDA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INVESTOR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551B0-B117-4606-932A-95135A93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Creative accountability before media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13387-A03A-4EA6-8507-86BE504C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85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AdCritIQ™ is a creative-to-media outcome intelligence platform that helps enterprises forecast whether exposure is likely to become memory, consideration, action, or waste.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011E5-2226-41DB-9ECD-4531879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D7B762">
                <a:alpha val="2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2B9B5-644E-496D-860A-666BB7E7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EE9C4-1C58-40A0-88FE-C9E04FEE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Investor 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3BEC0-60C1-4122-8E0A-CF182773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AI makes creative volume explode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Media is measured; creative is under-instrumented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AdCritIQ becomes the pre-spend decision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30D3E-65D4-43B5-9230-EC0527A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June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75555-A935-4650-B886-67DE6994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5C1C1-AE6B-4E89-9978-6F6336B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1425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B8533-0C06-4949-871A-1FF4EBC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5ABF1-A36C-454C-A503-CFE7FB99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89CCF-17BB-4B60-8841-EE62F876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107A5-1E3E-4DB4-83E1-B60C9018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27A49-4C85-422B-96E8-C2A0E9B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0C432-71D3-442E-877E-0C988FD4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THE BIG MARKET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753E4-3B7F-4AB6-92B5-729B2BF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AI is moving advertising from production speed to decision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F380E-9C84-4620-AC73-5EE5E14A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Generative AI reduces the cost of making assets. That creates a new bottleneck: deciding which assets deserve production, adaptation, media investment, or rejection before spend is committed.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72489-B66F-4B54-BA1E-1C70C1E3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DF975-81FF-4FA2-BBBF-19CF6185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2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2C834-39E7-4A09-9492-58CCA280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Then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EF049-4975-4CDE-BF20-1ABBDC7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Creative review was subjective and 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FA942-B9C8-48B2-B919-3A2EABCA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F125F-369D-4F13-9D89-5271A6FE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F4A8D-88AC-4318-A9B8-64B99E38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8DD7E-781F-4FC0-8EAD-8CD248B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AI enables predictive scoring before launch.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64ABD-D8AD-41F8-AE79-6D00E352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3EB99-BCA3-4089-AB5F-9FA12C3D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7FF74-F4C0-4AFF-BBB0-2200BE36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48503-D36C-42FB-B9CA-1E1C42D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Outcome forecasting becomes a boardroom control layer.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6E28F-DEF3-4309-9B8C-7C480401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608C2-F138-4796-9B37-675FD44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95798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735F4-1FAE-4AA1-B4C6-67118567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1C169-8311-461F-B06D-0232DE55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BB62F-A85B-454D-9F3E-3CD52E2C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95D4B-B883-446F-9F11-1D8D990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F17EA-A4CA-4294-8569-0EF7600A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0DC8E-37CA-446B-B261-B5820D5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MARKET OPPORTUNITY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C30E8-C07C-469E-BEBF-07EB25BB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trillion-dollar advertising system still lacks a creative risk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06229-AC1B-4D66-AB9F-0B18BBD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Global ad revenue is around the trillion-dollar level, while the tools around media buying, attribution, and optimization are mature. The missing layer is predictive creative diagnosis before budget scale.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F8430-20FD-4CE5-AA91-8CC3DE84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561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*SAM/SOM are founder-model assumptions, not verified revenue claims.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Opportunity sits across creative analytics, pre-testing, AI marketing tools, and enterprise effectiveness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11DAF-535E-423B-B7A2-553EB959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4606F-3B6E-43B7-B089-62E5D7A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19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GLOBAL AD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3D4F3-5C3D-4A9E-8D9B-EB56AEB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7B762"/>
                </a:solidFill>
                <a:latin typeface="Aptos"/>
                <a:ea typeface="Aptos"/>
                <a:cs typeface="Aptos"/>
              </a:rPr>
              <a:t>~$1T+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32F9E-EFBD-4499-9914-689AF2C2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954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5860C-3502-41BD-80DC-0FFA9D0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19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DECK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A1AA0-6A43-4D06-A747-083D6E0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6B1CE"/>
                </a:solidFill>
                <a:latin typeface="Aptos"/>
                <a:ea typeface="Aptos"/>
                <a:cs typeface="Aptos"/>
              </a:rPr>
              <a:t>GroupM / Axios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E14E2-4724-4FDB-ADA6-052C530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C4A0F-7566-4B2A-9CAE-6A401F0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955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SAM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8002C-A306-49EA-9D68-BFB69948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C7D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3C7D9"/>
                </a:solidFill>
                <a:latin typeface="Aptos"/>
                <a:ea typeface="Aptos"/>
                <a:cs typeface="Aptos"/>
              </a:rPr>
              <a:t>$5–15B*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CB467-C232-4E7F-995D-A8D74FD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33D43-99CB-4998-B7BF-05ADB81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955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9119D-0990-4218-857B-592D1C72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669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39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3D394"/>
                </a:solidFill>
                <a:latin typeface="Aptos"/>
                <a:ea typeface="Aptos"/>
                <a:cs typeface="Aptos"/>
              </a:rPr>
              <a:t>$10–50M ARR*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8E867-CFE7-4076-8BF4-D4C61A5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FFA48-1744-42B6-98B8-27D0AEBC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4106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C37C8-5DE4-445F-8C6F-3FB8D723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7723A-A281-4A3B-8B67-BA98429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384D-0E10-45A8-9C0B-D467859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A9E9F-4E7B-4238-BEAF-AD5287B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A038-6361-4615-B7FB-AC58045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58C56-CF6F-4E3C-ADFA-88D0334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INDUSTRY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A4D7E-7CA3-414F-B679-AA42CE7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Campaign stacks explain what happened. They rarely predict whether the creative will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84D90-94F5-4C93-8FDA-4A73D1F5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lift, media dashboards, and attribution are valuable, but they usually arrive after spend. AdCritIQ moves creative diagnosis upstream: concept, storyboard, rough cut, and final creative.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BA0AC-1D85-4923-861F-4F9B0BA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561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Post-campaign measurement is too late to fix production decisions.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Media teams absorb blame for creative-led underperformance.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Agencies lack an objective language for creative readiness.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0B85D-DD5E-43B8-BC5A-04D1B87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96255-13AE-4CC9-B00A-0728C0C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exposure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B5B32-4220-4390-8F25-60DAF1A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16811-A4AE-48EE-91B1-41B99BBD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106E5-6E21-4E37-A88A-5A394FD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34957-1472-4F33-BA91-560CBE32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44C46-542C-4EE9-985A-A9D78C55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9AB25-EB7B-49F3-A188-4649F3C5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Preference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2422A-47C1-43C8-B66A-FAD07E5A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7E2DA-2845-4AAD-8AEB-A3CF2375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Action or waste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5A363-339B-4DB8-A514-1D29BF8F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B54F0-58E2-4895-99B7-FF266CCC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72930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2B170-44FD-4C50-B09F-F2ACFBEC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B1BAC-E9CF-4EBD-9BFE-D5E53ED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FD12D-813A-4818-BAC6-020D97B8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71ECD-BF9C-46CA-BF2B-2C5D9A90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F6C3E-040A-4557-B98A-62B9AD9A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1320F-3D66-4B05-9543-97988CED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PAIN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96A2F-CA7A-41FA-B899-FC2813C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Every weak creative creates three costs: production rework, media waste, and organizational blame.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72850-78FB-4BD2-A26F-07383680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Large advertisers need a disciplined way to know whether an asset should be fixed, localized, scaled, benchmarked, or killed. Today that decision is often made through taste, hierarchy, and delayed research.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A991D-3CF0-42EF-A1CD-10688773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3529-70FB-41CD-9B45-18019B80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776C3-8AE6-4EC5-A89D-C887A58B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7DEB4-DA07-46AD-9D4F-03AB274E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Needs confidence before money moves.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087CA-F236-4DAB-912D-8AEDAB1E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4FC1D-A61A-4F0A-8F91-841B7A31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2DAB7-7780-4F7D-BBD9-A19BDF5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90C8F-B514-46EE-AFE9-1E02F91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Needs evidence for route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945DF-4C77-4736-B567-68E9E19E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8CA5C-5717-440F-9A72-9F6546C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C2D64-6895-4B3D-9D6C-683C0B4A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Media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86046-DC92-4B88-A184-3DD7791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Needs to separate creative risk from planning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887E8-9584-4A2C-B224-1770B531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E387E-0008-4BBF-A4D9-C829335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543DC-F676-4D2C-8A21-A56C23A9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Insights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461AF-604A-4E0D-A987-13212DB6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Needs a faster pre-campaign learning loop.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D4C90-DA9F-4DC0-8BA6-AD415BDF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5C044-F2C1-4133-9C99-4096678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07488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ED7B3-A5C9-4427-8275-33DDD89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76BEF-7F8D-4C9D-8568-50B2D10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59A10-B2BA-4D6A-A1C6-13A64CAE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F3596-31A1-41FA-B3EA-A6086BE4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F8F1-9EBA-45C0-8412-B1A40786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D7BFE-AB08-4D9F-B258-F8EC0EC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FE46D-BF48-45FE-9B43-ED54FB0D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AdCritIQ forecasts creative response probability before media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E9FA5-92DE-46BA-9793-90291C18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platform analyses an asset and translates its creative signals into business-facing probabilities: awareness readiness, consideration, purchase intent, response potential, media wastage risk, and creative accountability.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AA6E5-56A5-41EC-850A-DAE41C60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BC9E0-2CAA-45C1-9C5E-E50BC2F6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ACF1D-487C-4639-9B0D-8B4E801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668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2465E-EED6-4EBB-8944-FCDF237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80913-2B51-41D5-98AD-C8AFE77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brand, market, format, production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57EC8-0DDA-4C5D-8345-C721D0F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3DC55-8532-4361-8402-DC8526D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ED4A0-B0F7-4D79-A4BC-2CA75D4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02FB8-B3F1-4C64-8271-9D961E72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Signal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DA5FB-332A-4116-ADF5-4704128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attention, memory, emotion, compliance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FEA48-BD80-4FF1-8DD9-4B4272F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8642C-7F21-428D-9C8B-3F9BCA7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FCC00-B182-4740-8CAE-46094D4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CF0A6-1E5B-4F42-97CA-80EE4D24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0BCDB-EA07-4EB6-ABA8-7715BFE6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awareness, intent, response, waste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68598-4536-4128-94E5-0A12C0F5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E41E4-D90C-4D9B-8763-92AEB502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55739-994F-470C-90A6-E07C773A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957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AB5DC-B22B-45A2-8925-8D7875E2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6FC7D-9ED1-4D71-B086-2E88CCBD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fix, scale, certify, or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85F93-205C-4CB1-BE14-F2C00B75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622B4-A4FB-4275-82DD-8A34FE67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50199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C6DC6-6828-4626-8552-C1BF504C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B2A56-0529-4066-A8D3-1352D86D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D1BA5-7D9B-43AB-94E7-B974FB0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57716-F14D-4BB6-AE95-EC846C3A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7EB09-0C67-41BD-8695-0F82AF3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02E02-CA35-4194-B60F-BA3E808F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PRODUCT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0529F-8053-41CD-BCEA-6C2CC08B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complete operating system for creative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3AB44-8100-4573-B45D-80E1EA5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has evolved beyond a diagnostic scorecard into a workflow: intake, format-aware analysis, outcome forecast, strategic recommendations, repository learning, competitive intelligence, Brand DNA, and certification.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B555-6E3C-403C-A7B5-9ADF2BB1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9412"/>
            </a:srgbClr>
          </a:solidFill>
          <a:ln xmlns:a="http://schemas.openxmlformats.org/drawingml/2006/main" w="9525">
            <a:solidFill>
              <a:srgbClr val="D7B762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D5301-24B9-4BB0-BADF-CDB5FBE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E5F6A-69DD-4B05-A48E-77C3665A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9412"/>
            </a:srgbClr>
          </a:solidFill>
          <a:ln xmlns:a="http://schemas.openxmlformats.org/drawingml/2006/main" w="9525">
            <a:solidFill>
              <a:srgbClr val="23C7D9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2B37C-DB02-4D6E-9FF0-1B457AA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Neural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223F5-75D9-45D7-AEDF-4AC7CE14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9412"/>
            </a:srgbClr>
          </a:solidFill>
          <a:ln xmlns:a="http://schemas.openxmlformats.org/drawingml/2006/main" w="9525">
            <a:solidFill>
              <a:srgbClr val="63D394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FEC8D-6C0B-4029-9064-A8FEFF0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B2393-81ED-46A8-A7E1-36EAB535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9412"/>
            </a:srgbClr>
          </a:solidFill>
          <a:ln xmlns:a="http://schemas.openxmlformats.org/drawingml/2006/main"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D8ED8-BD4B-4D27-B646-F12A6E42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Emotion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57999-C5A5-4126-83E1-F3A0869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FA7">
              <a:alpha val="9412"/>
            </a:srgbClr>
          </a:solidFill>
          <a:ln xmlns:a="http://schemas.openxmlformats.org/drawingml/2006/main" w="9525">
            <a:solidFill>
              <a:srgbClr val="35BFA7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2917E-EB6F-455E-BF01-F2A1D26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Platform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E7C25-0CA2-4978-923B-B08B4ED6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93A">
              <a:alpha val="9412"/>
            </a:srgbClr>
          </a:solidFill>
          <a:ln xmlns:a="http://schemas.openxmlformats.org/drawingml/2006/main" w="9525">
            <a:solidFill>
              <a:srgbClr val="F0A93A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E978A-40D4-47FD-BD95-F35C3EF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62103-07A4-48CE-807C-39D24ADE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9412"/>
            </a:srgbClr>
          </a:solidFill>
          <a:ln xmlns:a="http://schemas.openxmlformats.org/drawingml/2006/main" w="9525">
            <a:solidFill>
              <a:srgbClr val="D7B762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6909B-706B-4F32-85E3-6C577C6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391B3-C9F9-40E4-989C-8262310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CE">
              <a:alpha val="9412"/>
            </a:srgbClr>
          </a:solidFill>
          <a:ln xmlns:a="http://schemas.openxmlformats.org/drawingml/2006/main" w="9525">
            <a:solidFill>
              <a:srgbClr val="B6B1CE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327AD-C038-4ABA-AD7F-8E76F585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ED63F-F336-4C55-80E5-654A24F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26D82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4FFEB-DF5C-490A-85FF-3D6FAB71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Competitive Intel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2D6DD-66EF-48B7-8C3B-9075CE07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9412"/>
            </a:srgbClr>
          </a:solidFill>
          <a:ln xmlns:a="http://schemas.openxmlformats.org/drawingml/2006/main" w="9525">
            <a:solidFill>
              <a:srgbClr val="23C7D9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A5189-7B79-4107-BB41-4D5E769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Brand DNA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57548-2220-4B7B-91AB-6D85C7CB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9412"/>
            </a:srgbClr>
          </a:solidFill>
          <a:ln xmlns:a="http://schemas.openxmlformats.org/drawingml/2006/main" w="9525">
            <a:solidFill>
              <a:srgbClr val="63D394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50C2C0-4029-481A-BEB4-AD137DA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7B1B0-9A48-4DD4-918E-3C51EC22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9412"/>
            </a:srgbClr>
          </a:solidFill>
          <a:ln xmlns:a="http://schemas.openxmlformats.org/drawingml/2006/main"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900371-13D8-40BC-993E-855A202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NeurIQ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E7ED6-0A18-4069-8DBC-D49BB505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2B401A-5A4E-4E44-8B1B-3BEA0D1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00740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3070A-360F-4D2A-B82C-C46876C1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34D63-59B5-44B0-A133-58C8A58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5AA0A-4235-4B9C-B226-CFF5F4D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383C2-ADB2-46B2-9121-A3A3C23C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44919-08BC-4130-A828-F79E3A2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A388A-757B-45C5-AA11-8297F7D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INTELLIGENCE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3C7EB-E266-4EA8-8A63-8E3DD44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methodology links creative signals to likely brand and performance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E73E8-90E6-4A53-845D-26A58E54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uses format-aware creative diagnostics, platform scores, published neuroscience and effectiveness frameworks, and a conservative outcome-forecasting layer. It is predictive, not biometric, and does not guarantee sales lift.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CCF75-5B46-45D3-93C5-8BB9ECA4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098D5-12C7-4DE7-AA4B-8C3038EB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62D7A-C989-4747-9A4C-63F04ECE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77133-8B25-4CDF-87C8-3375E0CD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209B-8F19-49C0-B432-57D45C0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Creative response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B26FC-52AC-419A-803B-F76A79D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Attention, emotion, memory, clarity, brand linkage and action readiness.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CA851-62B3-4834-A02F-FEED26A7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D72B1-8420-4E3B-B8D0-6C3E04B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Platform / format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3807-57B4-4BC6-AC37-294BA784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Whether the same asset is suited to YouTube, Meta, TV, CTV, DOOH, display or LinkedIn.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0BBA0-B2C4-4FA7-B52E-CC7225C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3998B-0AE8-4B2B-9494-F36FC7B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Outcome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AE9DB-34A4-4F7F-A069-C365C5E1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Directional probability that exposure becomes memory, preference, action or waste.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6CD91-7DD4-41F2-BB19-8D1E1567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FB9A4-A9EB-48DD-AA25-2F317A07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Human oversight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60AB6-48AF-474D-97DD-40D2F9F2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CMO and agency teams interpret the recommendation in campaign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B2AAC-B92D-4B45-8083-0D6E5EDB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DE27D-41AE-4048-863F-4230C7E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53074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91F1B-C0B4-4355-BF9B-F5431698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549B5-0B80-4A9E-8CE6-A691E92A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4A08-31F6-45E0-9437-047135CD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BA5F3-F7C7-4EB0-B1F9-B11AC55C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44BFB-0197-4B45-80AE-689F3EDB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D316B-186A-41B7-B0BB-F690DCA0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USE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E3024-57E9-4A2C-8C76-FABC9CDF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product applies across the creative lifecycle, not only final film testing.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D7409-530C-45E0-935D-098D96C9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can be used before production, before finishing, before media scale, and after campaign learning has accumulated.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F16C1-8AC9-40A4-B5C1-31CDA69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CB379-131D-432D-BA71-65DA446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D59D1-9AE8-4B4D-992B-20D652C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Pre-production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1E10-1AD4-4D12-B70B-2522D3AE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Concept and storyboard diagnostics before costly work begins.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08276-7692-4B25-B9FE-A013D67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E0DCA-879A-4A6F-BE8B-9646EEE6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70BF6-F8C2-4D21-9C86-66A317DA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Pre-flight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88285-8DD4-4EE3-AD82-229F7CA0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Final creative readiness before media budgets go live.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7687E-2861-41E3-887A-4F82B5E9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DD53C-993D-4BBE-8275-5D8D1EB7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8920-E34B-4EF3-A549-722BDD25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Competitive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C5D3B-C4A8-42A2-9D8F-C16AC9B5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Track category competitors over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9C196-3AAA-41AC-BB9C-1440FEB7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BC3CF-9478-4817-AA9B-07EBE7D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980CF-28FA-4565-ABF2-42744ACE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Learning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B31A9-0A12-476C-B7F8-00F86B1E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Build a brand repository and DNA fingerprint.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AED19-FF0B-43E2-A665-A4A3358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01C75-9E3E-48F9-9F02-8AC03E9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7966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07E54-9E09-4CC9-8B9B-3A38A8BA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4195D-6157-4EE8-9A01-F3C7D765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8A7CC-C193-4054-A1B9-CCD8643D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9A810-47A0-4477-B9A1-2CFBD3AD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CE16C-5313-4677-BFBE-1350DF1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1A029-4E0E-4A9D-AAF1-09D3F3B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TARGET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59E95-E287-42AA-A9AF-884F5D3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Enterprise advertisers are the beachhead; agencies become the multiplier.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8AF6A-2EA7-42C2-BDBA-586CA75A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highest-value buyers are FMCG and enterprise brands with high creative volume, large media budgets, global-local adaptation needs, and strong pressure to improve creative accountability.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5C3E7-30B1-476F-8F7B-BF404D6B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D31AA-72F1-46E6-813B-5A68A43B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C5BF6-3C95-4240-80F3-FA417A7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Why they buy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8B69A-9346-4489-B396-7C6569F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8B955-6309-4BE7-85E1-A9617562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FMCG CMO / brand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6C0D5-E50B-4E57-B08F-1415FC4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High media spend, high creative volume, high cost of weak brand memory.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7EBEA-4101-4F1A-9BAA-565567E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BB14A-F9D2-4C34-B5A9-19FBEB81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Creative agencies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3FF31-2D53-42A7-B5AB-E020AFEE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Evidence layer for pitch, route selection and optimization.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E66BB-82C0-403A-B67B-BB0574C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6F131-7B24-4F46-BA28-1B21B738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Media agencies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EFD23-A7C5-40EE-8E22-DD034307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Separates creative-led risk from media-led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743EE-7DC5-4823-9CE1-98D20A9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0FCF9-1B62-4FF2-9449-ABEAB7E2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Insights teams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0BF21-8243-4222-82B2-99FCA33C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Adds a predictive pre-campaign layer before research and lift studies.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9A9EF-823D-4687-9624-F9DBC7C9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4B862-1CDA-41EB-A1D0-7678111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5213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79A76-88D6-42FF-A016-BAB3C84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07C5F-08B4-4CC2-A839-AF947AFA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61FEC-4491-44B9-8B64-38C57E3E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3A114-CE95-49C2-A918-DCCBA6B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BA33B-8129-405C-B238-5E94116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474A3-A189-4A0E-8F0E-AB63FA4F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BUSINESS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01D46-EFA7-4A28-85B2-F9C6E40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Multiple routes to enterprise ARR.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8E8B9-C686-4AB4-893F-02FF2F7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current product includes credit-based analysis behavior. Enterprise packaging can expand into brand, market, agency and global licenses with add-ons for Competitive Intel, Brand DNA and Certified Creative.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CD8CF-1394-4938-A887-F9C9CCF1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E446A-1589-433F-9384-987004A3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3FCCC-ACD6-4707-9E4B-0F6F85D1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63BED-FF46-4C96-9BFD-05F536E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Paid diagnostic sprint: 20–50 creatives, one brand and competitor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BC018-DAF0-4DFD-8888-C4A219F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AF5B8-0D57-48BA-9F3D-4D69E7C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C82F6-CA1E-47B9-BA45-0E338BA9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Subscription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2D428-8A97-43FE-8CD4-70044E45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Market or brand-team SaaS access with repository and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AFB62-5CE1-4F52-BA08-54E849D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5533E-0DDB-4C5C-83A8-09C7E0C8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B9C0A-8D53-4EFB-BA61-1195F672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Agency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F1B74-1E1B-4D1E-A446-E820BE9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Multi-client creative strategy workflow.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AC1C6-3C83-455B-963F-D88478F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12728-8E52-4568-82FE-1097F9C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FA160-7D40-4646-8857-AD563681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Add-ons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E6ACD-78D8-4F7E-8BC7-1CA41D8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DNA, Competitive Intel, Certification and API integrations.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36FDD-83BB-484A-B813-2378F08E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8DCBE-87B9-4622-B050-B2D8221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1544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F908F-8A69-4C17-B0A9-F0E1AABF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E5655-F31B-4811-836D-97B8D741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EBF0-4D25-4485-AC2A-5AD4413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236D7-A7D4-4FE2-AEDB-F50712F4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4683-F7F6-4BC7-B296-42C6251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43311-36DE-45CA-B3B7-BB8FE6B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COMPETITIVE LANDSCAPE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5AEE8-4477-4B4C-84BB-09DB0D2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AdCritIQ sits between copy testing, media measurement, and AI creative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D0D54-2568-4C5A-89C0-23EC659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differentiation is not that AdCritIQ replaces existing research. It creates a faster decision layer before production and media scale, then builds a longitudinal repository of creative learning.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3A7DB-C0E5-4741-BC79-E5A98BD6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EE287-2336-40C0-A38B-E2B41884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Alternative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449C6-84DA-4504-837B-313369DE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Gap AdCritIQ addresses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4EADB-40D5-4643-9A26-DF69959F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A965C-0435-487A-A06A-EAAAE8F9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Manual creative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9E541-5760-4FEE-AB1A-437E063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Subjective, inconsistent and hard to scale globally.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0D462-10EC-4DB0-AAE4-B88F63D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74DB8-B533-4D29-ABA7-65CACB2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Traditional copy testing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90975-22AB-4307-AF25-4118F4D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Powerful but slower and often project-based.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5EDCD-5FE7-47FB-B3EE-66527B93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88699-AE11-4DF3-97ED-BEEBE308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Brand lift / attribution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84700-F41F-4693-9696-9A0BB1D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Post-campaign, too late for many creative fixes.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22A73-339A-4495-BD99-CBE752C7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FE979-B638-4A4C-8E90-093DA530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AI creative 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64868-8BB4-4A90-BD72-527B475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Creates more assets but does not decide which deserve spend.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1A3FB-7790-40FC-806F-CE0C99AB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BDB28-8DC7-49D1-9920-39343DA6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06081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9B032A-0FA7-4BE9-BD70-3CD550FF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AF1AB-B9C6-4810-89F2-3199D56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47F7B-EBAF-4BBA-8182-00024C0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6DB8C-0334-484A-AB31-412F7A6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5D117-EE1C-412F-93C2-9E4693AA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A2B92-19A5-4C85-8126-04AA1D6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GTM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F33B6-0485-49CE-97C4-E60FBAA8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Win with pilots that expose creative-led risk before media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B9F45-86E0-484E-BE56-C3B58385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first commercial motion should be focused: one priority brand, one campaign pipeline, a competitor set, and a CMO workshop that converts diagnostics into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B71BB-0F6F-40B8-AB2E-55C249C1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9195B-2B47-444E-A1E1-1EA74E8B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Target FMCG 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8AB30-4962-4F6D-B511-BF1B820E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7B5C-EEB4-4020-85EA-CC76C273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Run 20–50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FEF94-0CFF-4E2C-A0C9-70B0E6EB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FAA80-4DD3-4505-A9AB-C7462455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Build outcome 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A87BE-1B8D-4A46-A586-775B41E0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6065D-783D-4034-A1B2-45790C69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workshop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E7F08-A46D-463A-B28A-F8D22F33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C468F-61A0-48D2-9A6E-958741B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Enterprise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F62AB-6DAC-4720-8E71-B23DDE8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64553-3BC8-46B4-ACA5-822289EC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4510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301CF-0C87-4A19-A6F6-7F0157C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76D6-DBD9-458A-AF7E-AE7AB986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77EBD-AD7D-4A8F-8AC6-9558501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9220B-9FA5-44AE-8A37-61F7D6A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F16B7-45EC-4D1D-BDA7-D45A16AC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B33B9-54E2-4898-BD9B-350205E9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WHY WE 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4950-1EC2-4F6E-B22D-98A3932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defensibility grows with workflow adoption and brand-specific learning.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6E574-5045-40D7-A75A-6802D52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one-off score can be copied. A repository of brand-specific creative fingerprints, competitive intelligence, platform outcomes and certified assets becomes harder to replace.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D4576-676C-4D41-8694-97FD16D2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4BC88-F8B1-4E98-964A-3650955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EA7DB-3606-4F85-9FF3-2985C5B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Workflow moat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61D53-D320-4C7F-AFDE-5386209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Used from concept to post-campaign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BB38E-94BA-4E78-9007-9208832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22E91-447D-4644-B728-B24C4FB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9623A-61A3-47F6-B294-E1E75C1A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Data moat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A7CC7-E0EB-49FD-9BD6-0072C5A3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DNA and category benchmarks improve over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165E8-93EA-4438-A373-6AF958C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EFC37-8397-4050-A96E-E0EC79B8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95381-6B32-4B33-BE6F-E786F160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Language moat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6F019-2D61-4F19-BC27-182118E0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CMO-ready bridge from creative to outcome.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3115A-E95A-4FEF-AB8D-12647C4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EB5FE-85A3-416F-8B2D-E02F5E87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0F074-C2D5-4274-AE98-6B839BE2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Partner moat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E829F-8640-4A71-BC27-845C5333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Agencies and media teams can embed it into reviews.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A4C72-A4F7-44EC-952C-9AFC2273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B0345-E08A-45E4-9459-4A43694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45249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31A31-1A87-4AC4-B424-03012626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CA2B9-64DC-4E54-91F4-C8ACDAFA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32A6D-1526-4B07-A234-FC4D1F1E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E7CC7-3BBE-44A9-92BF-77DFB73B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CBE1-45C4-4B1D-B10F-5D3C9993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7D6CF-C209-489E-A634-438D034B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THE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DE854-FB00-42A2-8D48-60F4925B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Fund validation, enterprise pilots, and the benchmark data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AC04F-25C3-4CB0-A3CA-5AE5D45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Funding ask, current traction and exact use of proceeds require founder input. The suggested 12–18 month milestone path is enterprise pilot conversion, category benchmarks, agency partnerships and security/compliance hardening.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8884B-52CB-46E1-B33B-8903294D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36E3D-17E1-4EBF-BAC8-0965714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1FCED-6960-4083-A6AC-A77B83BC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Use of funds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25EC3-50E4-4F49-A801-FEC24513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Product hardening, validation studies, enterprise pilots, sales and partnerships.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FEFED-BB93-4BC3-8959-DB57369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54AF6-459B-4F9E-AA19-021C0309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74FD3-7CC3-4780-B8BC-36A902D9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Milestones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0329A-AA67-413C-A039-5E5493B8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10 pilots, 3 paid enterprise contracts, first category benchmark datasets.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5688F-61B9-49C9-B647-D3BE5760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AA2FE-3A01-4C43-B53D-189B387C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49E45-09F6-4852-87E2-2F87A637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Investor 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279CA-3D2C-45CB-972E-6BEC0FFC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Back the creative accountability layer for the AI advertising era.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F436D-D55F-4330-9F67-55236E9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Investor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FE6BC-504C-4BD3-A6CA-952CDB4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5032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2026-06-13T13:32:19.6550000Z</dcterms:created>
  <dcterms:modified xsi:type="dcterms:W3CDTF">2026-06-13T13:32:19.6550000Z</dcterms:modified>
</coreProperties>
</file>